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with confidence — this is a production product, not a concept
- Let the simplicity of the cover speak — name, tagline, version
- ReconPro = Reconnaissance +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Set the stakes — these are real, current numbers from industry reports
- Pause on "$4.45M" — let the cost sink in
- Transition: "The problem is clear. Here's 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Emphasize continuous vs point-in-time — this is the key differentiator
- 15 scanners is a lot — stress breadth of coverage
- Compliance automation saves teams weeks of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Highlight that this is production-ready, not a prototype
- 21 Prisma models = serious data layer, not a toy
- Multi-deployment ready shows operational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 dependencies are actively maintained and industry-standard
 • Next.js 16 App Router for optimal performance and caching
 • Security infrastructure is production-grade, not bolted on
 • Prisma 6 with strict TypeScript for type-safe database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real scanners making real network calls, not simulated
 • 15 modules cover infrastructure, application, and data layers
 • Each module can run independently or as part of a coordinated scan
 • Compliance Scan mode maps findings to specific framework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not theoretical — all protections are active and tested
 • Defense-in-depth means no single point of failure
 • HSTS with preload ensures browsers always use HTTPS
 • SSRF protection is critical for a scanning tool that makes outbound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Focus on the enterprise SaaS model with clear upgrade paths
 • 27% CAGR shows this market is accelerating, not plateauing
 • Multi-cloud adoption (94%) creates the exact complexity ReconPro solves
 • Tiered pricing lowers barrier to entry while preserving enterprise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Focus on the enterprise SaaS model with clear upgrade paths
- Emphasize the massive market opportunity ($18.3B by 2028)
- Highlight multi-cloud adoption driving demand
- Tiered pricing enables land-and-expand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ReconPro delivers more at a fraction of the cost
- Continuous scanning is a game-changer vs point-in-time
- 15 modules vs 3-5 is a 3-5x capability advantage
- Self-hosted option gives enterprises full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have a clear, achievable product roadmap
- v0.2.0 is production-ready and shipping now
- Q4 2026 brings MFA and enhanced scanning capabilities
- AI-powered triage in Q1 2027 is the next major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Emphasize how easy it is to get started — literally one command
- No external dependencies needed for SQLite configuration
- 11 deployment target options for maximum flexibility
- Self-hosting gives enterprises full data sovereignty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ReconPro — the CLI. Thirty-three commands give you complete control over every module, every integration, and every workflow. The design philosophy is simple: if you can type it, ReconPro can do it. Core commands handle scanning and reporting. Module commands let you invoke GORGON, OBLIVION, or PEGASUS directly. Team commands manage your crew. Integration commands plug into Slack, Jira, Splunk, and more. And utility commands like doctor and export keep your environment healthy. Every single command supports --help, so you're never lost. And every module can run independently or chained together in a single scan. This isn't a GUI with a CLI bolted on — the CLI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Cross-platform is a promise most security tools make and very few keep. ReconPro actually delivers. The entire codebase is pure Python — no C extensions, no compiled binaries, nothing that breaks when you switch operating systems. We ship a py3-none-any wheel, which is the most universal package format possible. Early on we hit a nasty bug where os.uname() crashed on Windows — we ripped it out and replaced it with a cross-platform abstraction. Same code, same commands, same output on Windows 10 and 11, Ubuntu, Debian, and macOS. Whether you're a red teamer on Kali or a defender on a corporate Windows laptop, the experience is identical. One codebase. Every platform. No hacks.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getting started — because it really does take thirty seconds. Open your terminal, type pip install reconpro, and you're done. That single command pulls down everything: GORGON, OBLIVION, PEGASUS, all 14 modules, all 33 commands. No API keys to configure, no database to set up, no daemon to run. Once installed, you can immediately run a full scan with reconpro scan --target and your domain, or jump straight into GORGON ULTRA with reconpro gorgon. Three things make this possible. First, ReconPro is free forever — MIT licensed, no SaaS tier, no premium upsell. Second, it's fully open source — every line of code is auditable on GitHub. Third, it has zero compiled dependencies — pure Python means it installs cleanly on any system. Go install it and start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ReconPro. One command to install, one command to scan, and you've got the most powerful open-source reconnaissance platform on the planet. Fourteen integrated modules, six enterprise integrations, seven compliance frameworks, and thirty-three CLI commands, all wrapped in a pure Python package that runs on Windows, Linux, and macOS. Head over to GitHub, star the repo, read the code, and start contributing. Whether you're a red teamer, a blue teamer, a bug bounty hunter, or a security engineer at a startup, ReconPro was built for you. It's free, it's open source, and it's not going anywhere. Stay dangerous, stay secure. Go install it right now — pip install reconpro — and join the hunt.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714500" y="-285750"/>
            <a:ext cx="5715000" cy="5715000"/>
          </a:xfrm>
          <a:prstGeom prst="rect">
            <a:avLst/>
          </a:prstGeom>
        </p:spPr>
      </p:pic>
      <p:sp>
        <p:nvSpPr>
          <p:cNvPr id="3" name="Text 0"/>
          <p:cNvSpPr/>
          <p:nvPr/>
        </p:nvSpPr>
        <p:spPr>
          <a:xfrm>
            <a:off x="1714500" y="-285750"/>
            <a:ext cx="5715000" cy="5715000"/>
          </a:xfrm>
          <a:prstGeom prst="rect">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3464942" y="1773436"/>
            <a:ext cx="2214116" cy="175022"/>
          </a:xfrm>
          <a:prstGeom prst="roundRect">
            <a:avLst>
              <a:gd name="adj" fmla="val 5436731"/>
            </a:avLst>
          </a:prstGeom>
          <a:solidFill>
            <a:srgbClr val="C9A96E">
              <a:alpha val="20000"/>
            </a:srgbClr>
          </a:solidFill>
          <a:ln/>
        </p:spPr>
        <p:txBody>
          <a:bodyPr wrap="square" rtlCol="0" anchor="ctr"/>
          <a:lstStyle/>
          <a:p>
            <a:pPr indent="0" marL="0">
              <a:buNone/>
            </a:pPr>
            <a:endParaRPr lang="en-US" dirty="0"/>
          </a:p>
        </p:txBody>
      </p:sp>
      <p:sp>
        <p:nvSpPr>
          <p:cNvPr id="5" name="Text 2"/>
          <p:cNvSpPr/>
          <p:nvPr/>
        </p:nvSpPr>
        <p:spPr>
          <a:xfrm>
            <a:off x="3464942" y="1773436"/>
            <a:ext cx="2214116" cy="244394"/>
          </a:xfrm>
          <a:prstGeom prst="rect">
            <a:avLst/>
          </a:prstGeom>
          <a:noFill/>
          <a:ln/>
        </p:spPr>
        <p:txBody>
          <a:bodyPr wrap="square" lIns="85725" tIns="28575" rIns="85725" bIns="28575" rtlCol="0" anchor="t"/>
          <a:lstStyle/>
          <a:p>
            <a:pPr algn="l" indent="0" marL="0">
              <a:lnSpc>
                <a:spcPts val="928"/>
              </a:lnSpc>
              <a:buNone/>
            </a:pPr>
            <a:r>
              <a:rPr lang="en-US" sz="619" spc="74" kern="0" dirty="0">
                <a:solidFill>
                  <a:srgbClr val="C9A96E"/>
                </a:solidFill>
                <a:latin typeface="Courier New" pitchFamily="34" charset="0"/>
                <a:ea typeface="Courier New" pitchFamily="34" charset="-122"/>
                <a:cs typeface="Courier New" pitchFamily="34" charset="-120"/>
              </a:rPr>
              <a:t>ENTERPRISE ATTACK SURFACE MANAGEMENT</a:t>
            </a:r>
            <a:endParaRPr lang="en-US" sz="619" dirty="0"/>
          </a:p>
        </p:txBody>
      </p:sp>
      <p:sp>
        <p:nvSpPr>
          <p:cNvPr id="6" name="Text 3"/>
          <p:cNvSpPr/>
          <p:nvPr/>
        </p:nvSpPr>
        <p:spPr>
          <a:xfrm>
            <a:off x="3418954" y="2234208"/>
            <a:ext cx="2951655" cy="555498"/>
          </a:xfrm>
          <a:prstGeom prst="rect">
            <a:avLst/>
          </a:prstGeom>
          <a:noFill/>
          <a:ln/>
        </p:spPr>
        <p:txBody>
          <a:bodyPr wrap="none" lIns="0" tIns="0" rIns="0" bIns="0" rtlCol="0" anchor="t"/>
          <a:lstStyle/>
          <a:p>
            <a:pPr algn="l" indent="0" marL="0">
              <a:lnSpc>
                <a:spcPts val="4050"/>
              </a:lnSpc>
              <a:buNone/>
            </a:pPr>
            <a:r>
              <a:rPr lang="en-US" sz="4050" b="1" spc="-122" kern="0" dirty="0">
                <a:solidFill>
                  <a:srgbClr val="FFFFFF"/>
                </a:solidFill>
                <a:latin typeface="Carlito" pitchFamily="34" charset="0"/>
                <a:ea typeface="Carlito" pitchFamily="34" charset="-122"/>
                <a:cs typeface="Carlito" pitchFamily="34" charset="-120"/>
              </a:rPr>
              <a:t>ReconPro</a:t>
            </a:r>
            <a:endParaRPr lang="en-US" sz="4050" dirty="0"/>
          </a:p>
        </p:txBody>
      </p:sp>
      <p:sp>
        <p:nvSpPr>
          <p:cNvPr id="7" name="Text 4"/>
          <p:cNvSpPr/>
          <p:nvPr/>
        </p:nvSpPr>
        <p:spPr>
          <a:xfrm>
            <a:off x="4400550" y="2948583"/>
            <a:ext cx="342900" cy="21431"/>
          </a:xfrm>
          <a:prstGeom prst="roundRect">
            <a:avLst>
              <a:gd name="adj" fmla="val 88890"/>
            </a:avLst>
          </a:prstGeom>
          <a:solidFill>
            <a:srgbClr val="C9A96E"/>
          </a:solidFill>
          <a:ln/>
        </p:spPr>
        <p:txBody>
          <a:bodyPr wrap="square" rtlCol="0" anchor="ctr"/>
          <a:lstStyle/>
          <a:p>
            <a:pPr indent="0" marL="0">
              <a:buNone/>
            </a:pPr>
            <a:endParaRPr lang="en-US" dirty="0"/>
          </a:p>
        </p:txBody>
      </p:sp>
      <p:sp>
        <p:nvSpPr>
          <p:cNvPr id="8" name="Text 5"/>
          <p:cNvSpPr/>
          <p:nvPr/>
        </p:nvSpPr>
        <p:spPr>
          <a:xfrm>
            <a:off x="3435139" y="3170039"/>
            <a:ext cx="2455619" cy="231458"/>
          </a:xfrm>
          <a:prstGeom prst="rect">
            <a:avLst/>
          </a:prstGeom>
          <a:noFill/>
          <a:ln/>
        </p:spPr>
        <p:txBody>
          <a:bodyPr wrap="square" lIns="0" tIns="0" rIns="0" bIns="0" rtlCol="0" anchor="t"/>
          <a:lstStyle/>
          <a:p>
            <a:pPr algn="l" indent="0" marL="0">
              <a:lnSpc>
                <a:spcPts val="1688"/>
              </a:lnSpc>
              <a:buNone/>
            </a:pPr>
            <a:r>
              <a:rPr lang="en-US" sz="1125" spc="11" kern="0" dirty="0">
                <a:solidFill>
                  <a:srgbClr val="999999"/>
                </a:solidFill>
                <a:latin typeface="Carlito" pitchFamily="34" charset="0"/>
                <a:ea typeface="Carlito" pitchFamily="34" charset="-122"/>
                <a:cs typeface="Carlito" pitchFamily="34" charset="-120"/>
              </a:rPr>
              <a:t>See everything. Protect everything.</a:t>
            </a:r>
            <a:endParaRPr lang="en-US" sz="1125" dirty="0"/>
          </a:p>
        </p:txBody>
      </p:sp>
      <p:sp>
        <p:nvSpPr>
          <p:cNvPr id="9" name="Text 6"/>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10" name="Text 7"/>
          <p:cNvSpPr/>
          <p:nvPr/>
        </p:nvSpPr>
        <p:spPr>
          <a:xfrm>
            <a:off x="7883128" y="4843463"/>
            <a:ext cx="1209823"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v0.2.0 — August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1677553"/>
            <a:ext cx="6026048"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C9A96E"/>
                </a:solidFill>
                <a:latin typeface="Courier New" pitchFamily="34" charset="0"/>
                <a:ea typeface="Courier New" pitchFamily="34" charset="-122"/>
                <a:cs typeface="Courier New" pitchFamily="34" charset="-120"/>
              </a:rPr>
              <a:t>THE PROBLEM</a:t>
            </a:r>
            <a:endParaRPr lang="en-US" sz="800" dirty="0"/>
          </a:p>
        </p:txBody>
      </p:sp>
      <p:sp>
        <p:nvSpPr>
          <p:cNvPr id="3" name="Text 1"/>
          <p:cNvSpPr/>
          <p:nvPr/>
        </p:nvSpPr>
        <p:spPr>
          <a:xfrm>
            <a:off x="457200" y="1938300"/>
            <a:ext cx="5305708" cy="319339"/>
          </a:xfrm>
          <a:prstGeom prst="rect">
            <a:avLst/>
          </a:prstGeom>
          <a:noFill/>
          <a:ln/>
        </p:spPr>
        <p:txBody>
          <a:bodyPr wrap="square" lIns="0" tIns="0" rIns="0" bIns="0" rtlCol="0" anchor="t"/>
          <a:lstStyle/>
          <a:p>
            <a:pPr algn="l" indent="0" marL="0">
              <a:lnSpc>
                <a:spcPts val="2329"/>
              </a:lnSpc>
              <a:buNone/>
            </a:pPr>
            <a:r>
              <a:rPr lang="en-US" sz="2025" b="1" dirty="0">
                <a:solidFill>
                  <a:srgbClr val="FFFFFF"/>
                </a:solidFill>
                <a:latin typeface="Carlito" pitchFamily="34" charset="0"/>
                <a:ea typeface="Carlito" pitchFamily="34" charset="-122"/>
                <a:cs typeface="Carlito" pitchFamily="34" charset="-120"/>
              </a:rPr>
              <a:t>Attack surfaces are exploding</a:t>
            </a:r>
            <a:endParaRPr lang="en-US" sz="2025" dirty="0"/>
          </a:p>
        </p:txBody>
      </p:sp>
      <p:sp>
        <p:nvSpPr>
          <p:cNvPr id="4" name="Text 2"/>
          <p:cNvSpPr/>
          <p:nvPr/>
        </p:nvSpPr>
        <p:spPr>
          <a:xfrm>
            <a:off x="457200" y="2405435"/>
            <a:ext cx="4000500" cy="1145232"/>
          </a:xfrm>
          <a:prstGeom prst="rect">
            <a:avLst/>
          </a:prstGeom>
          <a:noFill/>
          <a:ln/>
        </p:spPr>
        <p:txBody>
          <a:bodyPr wrap="square" lIns="0" tIns="0" rIns="0" bIns="0" rtlCol="0" anchor="t"/>
          <a:lstStyle/>
          <a:p>
            <a:pPr algn="l" indent="0" marL="0">
              <a:lnSpc>
                <a:spcPts val="1671"/>
              </a:lnSpc>
              <a:buNone/>
            </a:pPr>
            <a:r>
              <a:rPr lang="en-US" sz="1013" dirty="0">
                <a:solidFill>
                  <a:srgbClr val="999999"/>
                </a:solidFill>
                <a:latin typeface="Carlito" pitchFamily="34" charset="0"/>
                <a:ea typeface="Carlito" pitchFamily="34" charset="-122"/>
                <a:cs typeface="Carlito" pitchFamily="34" charset="-120"/>
              </a:rPr>
              <a:t>Organizations deploy hundreds of services, APIs, and cloud resources. Each one expands the attack surface. Security teams lack real-time visibility into what they own, what is exposed, and what is vulnerable. Traditional tools scan once and forget. By the time a report is generated, the landscape has already changed.</a:t>
            </a:r>
            <a:endParaRPr lang="en-US" sz="1013" dirty="0"/>
          </a:p>
        </p:txBody>
      </p:sp>
      <p:sp>
        <p:nvSpPr>
          <p:cNvPr id="5" name="Text 3"/>
          <p:cNvSpPr/>
          <p:nvPr/>
        </p:nvSpPr>
        <p:spPr>
          <a:xfrm>
            <a:off x="5741343" y="1073348"/>
            <a:ext cx="3284674" cy="917972"/>
          </a:xfrm>
          <a:prstGeom prst="roundRect">
            <a:avLst>
              <a:gd name="adj" fmla="val 124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6" name="Text 4"/>
          <p:cNvSpPr/>
          <p:nvPr/>
        </p:nvSpPr>
        <p:spPr>
          <a:xfrm>
            <a:off x="5916364" y="1276945"/>
            <a:ext cx="2934630" cy="339471"/>
          </a:xfrm>
          <a:prstGeom prst="rect">
            <a:avLst/>
          </a:prstGeom>
          <a:noFill/>
          <a:ln/>
        </p:spPr>
        <p:txBody>
          <a:bodyPr wrap="none" lIns="0" tIns="0" rIns="0" bIns="0" rtlCol="0" anchor="t"/>
          <a:lstStyle/>
          <a:p>
            <a:pPr algn="ctr" indent="0" marL="0">
              <a:lnSpc>
                <a:spcPts val="2475"/>
              </a:lnSpc>
              <a:buNone/>
            </a:pPr>
            <a:r>
              <a:rPr lang="en-US" sz="2475" b="1" dirty="0">
                <a:solidFill>
                  <a:srgbClr val="FF4444"/>
                </a:solidFill>
                <a:latin typeface="Liberation Sans Narrow" pitchFamily="34" charset="0"/>
                <a:ea typeface="Liberation Sans Narrow" pitchFamily="34" charset="-122"/>
                <a:cs typeface="Liberation Sans Narrow" pitchFamily="34" charset="-120"/>
              </a:rPr>
              <a:t>6,000+</a:t>
            </a:r>
            <a:endParaRPr lang="en-US" sz="2475" dirty="0"/>
          </a:p>
        </p:txBody>
      </p:sp>
      <p:sp>
        <p:nvSpPr>
          <p:cNvPr id="7" name="Text 5"/>
          <p:cNvSpPr/>
          <p:nvPr/>
        </p:nvSpPr>
        <p:spPr>
          <a:xfrm>
            <a:off x="5916364" y="1648420"/>
            <a:ext cx="2934630" cy="139303"/>
          </a:xfrm>
          <a:prstGeom prst="rect">
            <a:avLst/>
          </a:prstGeom>
          <a:noFill/>
          <a:ln/>
        </p:spPr>
        <p:txBody>
          <a:bodyPr wrap="none" lIns="0" tIns="0" rIns="0" bIns="0" rtlCol="0" anchor="t"/>
          <a:lstStyle/>
          <a:p>
            <a:pPr algn="ctr" indent="0" marL="0">
              <a:lnSpc>
                <a:spcPts val="1097"/>
              </a:lnSpc>
              <a:buNone/>
            </a:pPr>
            <a:r>
              <a:rPr lang="en-US" sz="844" dirty="0">
                <a:solidFill>
                  <a:srgbClr val="999999"/>
                </a:solidFill>
                <a:latin typeface="Carlito" pitchFamily="34" charset="0"/>
                <a:ea typeface="Carlito" pitchFamily="34" charset="-122"/>
                <a:cs typeface="Carlito" pitchFamily="34" charset="-120"/>
              </a:rPr>
              <a:t>New CVEs per year</a:t>
            </a:r>
            <a:endParaRPr lang="en-US" sz="844" dirty="0"/>
          </a:p>
        </p:txBody>
      </p:sp>
      <p:sp>
        <p:nvSpPr>
          <p:cNvPr id="8" name="Text 6"/>
          <p:cNvSpPr/>
          <p:nvPr/>
        </p:nvSpPr>
        <p:spPr>
          <a:xfrm>
            <a:off x="5741343" y="2112764"/>
            <a:ext cx="3284674" cy="917972"/>
          </a:xfrm>
          <a:prstGeom prst="roundRect">
            <a:avLst>
              <a:gd name="adj" fmla="val 124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9" name="Text 7"/>
          <p:cNvSpPr/>
          <p:nvPr/>
        </p:nvSpPr>
        <p:spPr>
          <a:xfrm>
            <a:off x="5916364" y="2316361"/>
            <a:ext cx="2934630" cy="339471"/>
          </a:xfrm>
          <a:prstGeom prst="rect">
            <a:avLst/>
          </a:prstGeom>
          <a:noFill/>
          <a:ln/>
        </p:spPr>
        <p:txBody>
          <a:bodyPr wrap="none" lIns="0" tIns="0" rIns="0" bIns="0" rtlCol="0" anchor="t"/>
          <a:lstStyle/>
          <a:p>
            <a:pPr algn="ctr" indent="0" marL="0">
              <a:lnSpc>
                <a:spcPts val="2475"/>
              </a:lnSpc>
              <a:buNone/>
            </a:pPr>
            <a:r>
              <a:rPr lang="en-US" sz="2475" b="1" dirty="0">
                <a:solidFill>
                  <a:srgbClr val="C9A96E"/>
                </a:solidFill>
                <a:latin typeface="Liberation Sans Narrow" pitchFamily="34" charset="0"/>
                <a:ea typeface="Liberation Sans Narrow" pitchFamily="34" charset="-122"/>
                <a:cs typeface="Liberation Sans Narrow" pitchFamily="34" charset="-120"/>
              </a:rPr>
              <a:t>68%</a:t>
            </a:r>
            <a:endParaRPr lang="en-US" sz="2475" dirty="0"/>
          </a:p>
        </p:txBody>
      </p:sp>
      <p:sp>
        <p:nvSpPr>
          <p:cNvPr id="10" name="Text 8"/>
          <p:cNvSpPr/>
          <p:nvPr/>
        </p:nvSpPr>
        <p:spPr>
          <a:xfrm>
            <a:off x="5916364" y="2687836"/>
            <a:ext cx="3044358" cy="139303"/>
          </a:xfrm>
          <a:prstGeom prst="rect">
            <a:avLst/>
          </a:prstGeom>
          <a:noFill/>
          <a:ln/>
        </p:spPr>
        <p:txBody>
          <a:bodyPr wrap="square" lIns="0" tIns="0" rIns="0" bIns="0" rtlCol="0" anchor="t"/>
          <a:lstStyle/>
          <a:p>
            <a:pPr algn="ctr" indent="0" marL="0">
              <a:lnSpc>
                <a:spcPts val="1097"/>
              </a:lnSpc>
              <a:buNone/>
            </a:pPr>
            <a:r>
              <a:rPr lang="en-US" sz="844" dirty="0">
                <a:solidFill>
                  <a:srgbClr val="999999"/>
                </a:solidFill>
                <a:latin typeface="Carlito" pitchFamily="34" charset="0"/>
                <a:ea typeface="Carlito" pitchFamily="34" charset="-122"/>
                <a:cs typeface="Carlito" pitchFamily="34" charset="-120"/>
              </a:rPr>
              <a:t>Of breaches involve unpatched vulns</a:t>
            </a:r>
            <a:endParaRPr lang="en-US" sz="844" dirty="0"/>
          </a:p>
        </p:txBody>
      </p:sp>
      <p:sp>
        <p:nvSpPr>
          <p:cNvPr id="11" name="Text 9"/>
          <p:cNvSpPr/>
          <p:nvPr/>
        </p:nvSpPr>
        <p:spPr>
          <a:xfrm>
            <a:off x="5741343" y="3152180"/>
            <a:ext cx="3284674" cy="917972"/>
          </a:xfrm>
          <a:prstGeom prst="roundRect">
            <a:avLst>
              <a:gd name="adj" fmla="val 124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12" name="Text 10"/>
          <p:cNvSpPr/>
          <p:nvPr/>
        </p:nvSpPr>
        <p:spPr>
          <a:xfrm>
            <a:off x="5916364" y="3355777"/>
            <a:ext cx="2934630" cy="339471"/>
          </a:xfrm>
          <a:prstGeom prst="rect">
            <a:avLst/>
          </a:prstGeom>
          <a:noFill/>
          <a:ln/>
        </p:spPr>
        <p:txBody>
          <a:bodyPr wrap="none" lIns="0" tIns="0" rIns="0" bIns="0" rtlCol="0" anchor="t"/>
          <a:lstStyle/>
          <a:p>
            <a:pPr algn="ctr" indent="0" marL="0">
              <a:lnSpc>
                <a:spcPts val="2475"/>
              </a:lnSpc>
              <a:buNone/>
            </a:pPr>
            <a:r>
              <a:rPr lang="en-US" sz="2475" b="1" dirty="0">
                <a:solidFill>
                  <a:srgbClr val="FF4444"/>
                </a:solidFill>
                <a:latin typeface="Liberation Sans Narrow" pitchFamily="34" charset="0"/>
                <a:ea typeface="Liberation Sans Narrow" pitchFamily="34" charset="-122"/>
                <a:cs typeface="Liberation Sans Narrow" pitchFamily="34" charset="-120"/>
              </a:rPr>
              <a:t>$4.45M</a:t>
            </a:r>
            <a:endParaRPr lang="en-US" sz="2475" dirty="0"/>
          </a:p>
        </p:txBody>
      </p:sp>
      <p:sp>
        <p:nvSpPr>
          <p:cNvPr id="13" name="Text 11"/>
          <p:cNvSpPr/>
          <p:nvPr/>
        </p:nvSpPr>
        <p:spPr>
          <a:xfrm>
            <a:off x="5916364" y="3727252"/>
            <a:ext cx="2934630" cy="139303"/>
          </a:xfrm>
          <a:prstGeom prst="rect">
            <a:avLst/>
          </a:prstGeom>
          <a:noFill/>
          <a:ln/>
        </p:spPr>
        <p:txBody>
          <a:bodyPr wrap="none" lIns="0" tIns="0" rIns="0" bIns="0" rtlCol="0" anchor="t"/>
          <a:lstStyle/>
          <a:p>
            <a:pPr algn="ctr" indent="0" marL="0">
              <a:lnSpc>
                <a:spcPts val="1097"/>
              </a:lnSpc>
              <a:buNone/>
            </a:pPr>
            <a:r>
              <a:rPr lang="en-US" sz="844" dirty="0">
                <a:solidFill>
                  <a:srgbClr val="999999"/>
                </a:solidFill>
                <a:latin typeface="Liberation Sans Narrow" pitchFamily="34" charset="0"/>
                <a:ea typeface="Liberation Sans Narrow" pitchFamily="34" charset="-122"/>
                <a:cs typeface="Liberation Sans Narrow" pitchFamily="34" charset="-120"/>
              </a:rPr>
              <a:t>Average breach cost 2023</a:t>
            </a:r>
            <a:endParaRPr lang="en-US" sz="844" dirty="0"/>
          </a:p>
        </p:txBody>
      </p:sp>
      <p:sp>
        <p:nvSpPr>
          <p:cNvPr id="14" name="Text 12"/>
          <p:cNvSpPr/>
          <p:nvPr/>
        </p:nvSpPr>
        <p:spPr>
          <a:xfrm>
            <a:off x="8802640" y="4843463"/>
            <a:ext cx="184221" cy="164592"/>
          </a:xfrm>
          <a:prstGeom prst="rect">
            <a:avLst/>
          </a:prstGeom>
          <a:noFill/>
          <a:ln/>
        </p:spPr>
        <p:txBody>
          <a:bodyPr wrap="squar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C9A96E"/>
                </a:solidFill>
                <a:latin typeface="Courier New" pitchFamily="34" charset="0"/>
                <a:ea typeface="Courier New" pitchFamily="34" charset="-122"/>
                <a:cs typeface="Courier New" pitchFamily="34" charset="-120"/>
              </a:rPr>
              <a:t>THE SOLUTION</a:t>
            </a:r>
            <a:endParaRPr lang="en-US" sz="800" dirty="0"/>
          </a:p>
        </p:txBody>
      </p:sp>
      <p:sp>
        <p:nvSpPr>
          <p:cNvPr id="3" name="Text 1"/>
          <p:cNvSpPr/>
          <p:nvPr/>
        </p:nvSpPr>
        <p:spPr>
          <a:xfrm>
            <a:off x="457200" y="660797"/>
            <a:ext cx="8636000" cy="319339"/>
          </a:xfrm>
          <a:prstGeom prst="rect">
            <a:avLst/>
          </a:prstGeom>
          <a:noFill/>
          <a:ln/>
        </p:spPr>
        <p:txBody>
          <a:bodyPr wrap="square" lIns="0" tIns="0" rIns="0" bIns="0" rtlCol="0" anchor="t"/>
          <a:lstStyle/>
          <a:p>
            <a:pPr algn="l" indent="0" marL="0">
              <a:lnSpc>
                <a:spcPts val="2329"/>
              </a:lnSpc>
              <a:buNone/>
            </a:pPr>
            <a:r>
              <a:rPr lang="en-US" sz="2025" b="1" dirty="0">
                <a:solidFill>
                  <a:srgbClr val="FFFFFF"/>
                </a:solidFill>
                <a:latin typeface="Carlito" pitchFamily="34" charset="0"/>
                <a:ea typeface="Carlito" pitchFamily="34" charset="-122"/>
                <a:cs typeface="Carlito" pitchFamily="34" charset="-120"/>
              </a:rPr>
              <a:t>Continuous attack surface intelligence</a:t>
            </a:r>
            <a:endParaRPr lang="en-US" sz="2025" dirty="0"/>
          </a:p>
        </p:txBody>
      </p:sp>
      <p:sp>
        <p:nvSpPr>
          <p:cNvPr id="4" name="Text 2"/>
          <p:cNvSpPr/>
          <p:nvPr/>
        </p:nvSpPr>
        <p:spPr>
          <a:xfrm>
            <a:off x="457200" y="1013631"/>
            <a:ext cx="5143500" cy="208312"/>
          </a:xfrm>
          <a:prstGeom prst="rect">
            <a:avLst/>
          </a:prstGeom>
          <a:noFill/>
          <a:ln/>
        </p:spPr>
        <p:txBody>
          <a:bodyPr wrap="square" lIns="0" tIns="0" rIns="0" bIns="0" rtlCol="0" anchor="t"/>
          <a:lstStyle/>
          <a:p>
            <a:pPr algn="l" indent="0" marL="0">
              <a:lnSpc>
                <a:spcPts val="1519"/>
              </a:lnSpc>
              <a:buNone/>
            </a:pPr>
            <a:r>
              <a:rPr lang="en-US" sz="1013" dirty="0">
                <a:solidFill>
                  <a:srgbClr val="999999"/>
                </a:solidFill>
                <a:latin typeface="Carlito" pitchFamily="34" charset="0"/>
                <a:ea typeface="Carlito" pitchFamily="34" charset="-122"/>
                <a:cs typeface="Carlito" pitchFamily="34" charset="-120"/>
              </a:rPr>
              <a:t>ReconPro monitors, scans, and protects your entire digital footprint in real-time.</a:t>
            </a:r>
            <a:endParaRPr lang="en-US" sz="1013" dirty="0"/>
          </a:p>
        </p:txBody>
      </p:sp>
      <p:sp>
        <p:nvSpPr>
          <p:cNvPr id="5" name="Text 3"/>
          <p:cNvSpPr/>
          <p:nvPr/>
        </p:nvSpPr>
        <p:spPr>
          <a:xfrm>
            <a:off x="457200" y="1463687"/>
            <a:ext cx="2628900" cy="3222613"/>
          </a:xfrm>
          <a:prstGeom prst="roundRect">
            <a:avLst>
              <a:gd name="adj" fmla="val 4348"/>
            </a:avLst>
          </a:prstGeom>
          <a:solidFill>
            <a:srgbClr val="111111"/>
          </a:solidFill>
          <a:ln/>
        </p:spPr>
        <p:txBody>
          <a:bodyPr wrap="square" rtlCol="0" anchor="ctr"/>
          <a:lstStyle/>
          <a:p>
            <a:pPr indent="0" marL="0">
              <a:buNone/>
            </a:pPr>
            <a:endParaRPr lang="en-US" dirty="0"/>
          </a:p>
        </p:txBody>
      </p:sp>
      <p:sp>
        <p:nvSpPr>
          <p:cNvPr id="6" name="Shape 4"/>
          <p:cNvSpPr/>
          <p:nvPr/>
        </p:nvSpPr>
        <p:spPr>
          <a:xfrm>
            <a:off x="457200" y="1474403"/>
            <a:ext cx="2628900" cy="0"/>
          </a:xfrm>
          <a:prstGeom prst="line">
            <a:avLst/>
          </a:prstGeom>
          <a:noFill/>
          <a:ln w="21431">
            <a:solidFill>
              <a:srgbClr val="C9A96E"/>
            </a:solidFill>
            <a:prstDash val="solid"/>
          </a:ln>
        </p:spPr>
      </p:sp>
      <p:sp>
        <p:nvSpPr>
          <p:cNvPr id="7" name="Shape 5"/>
          <p:cNvSpPr/>
          <p:nvPr/>
        </p:nvSpPr>
        <p:spPr>
          <a:xfrm>
            <a:off x="3082528" y="1463687"/>
            <a:ext cx="0" cy="3222613"/>
          </a:xfrm>
          <a:prstGeom prst="line">
            <a:avLst/>
          </a:prstGeom>
          <a:noFill/>
          <a:ln w="7144">
            <a:solidFill>
              <a:srgbClr val="222222"/>
            </a:solidFill>
            <a:prstDash val="solid"/>
          </a:ln>
        </p:spPr>
      </p:sp>
      <p:sp>
        <p:nvSpPr>
          <p:cNvPr id="8" name="Shape 6"/>
          <p:cNvSpPr/>
          <p:nvPr/>
        </p:nvSpPr>
        <p:spPr>
          <a:xfrm>
            <a:off x="457200" y="4682728"/>
            <a:ext cx="2628900" cy="0"/>
          </a:xfrm>
          <a:prstGeom prst="line">
            <a:avLst/>
          </a:prstGeom>
          <a:noFill/>
          <a:ln w="7144">
            <a:solidFill>
              <a:srgbClr val="222222"/>
            </a:solidFill>
            <a:prstDash val="solid"/>
          </a:ln>
        </p:spPr>
      </p:sp>
      <p:sp>
        <p:nvSpPr>
          <p:cNvPr id="9" name="Shape 7"/>
          <p:cNvSpPr/>
          <p:nvPr/>
        </p:nvSpPr>
        <p:spPr>
          <a:xfrm>
            <a:off x="460772" y="1463687"/>
            <a:ext cx="0" cy="3222613"/>
          </a:xfrm>
          <a:prstGeom prst="line">
            <a:avLst/>
          </a:prstGeom>
          <a:noFill/>
          <a:ln w="7144">
            <a:solidFill>
              <a:srgbClr val="222222"/>
            </a:solidFill>
            <a:prstDash val="solid"/>
          </a:ln>
        </p:spPr>
      </p:sp>
      <p:sp>
        <p:nvSpPr>
          <p:cNvPr id="10" name="Text 8"/>
          <p:cNvSpPr/>
          <p:nvPr/>
        </p:nvSpPr>
        <p:spPr>
          <a:xfrm>
            <a:off x="635794" y="1685144"/>
            <a:ext cx="228600" cy="228600"/>
          </a:xfrm>
          <a:prstGeom prst="rect">
            <a:avLst/>
          </a:prstGeom>
          <a:noFill/>
          <a:ln/>
        </p:spPr>
        <p:txBody>
          <a:bodyPr wrap="none" lIns="0" tIns="0" rIns="0" bIns="0" rtlCol="0" anchor="ctr"/>
          <a:lstStyle/>
          <a:p>
            <a:pPr algn="ctr" indent="0" marL="0">
              <a:buNone/>
            </a:pPr>
            <a:r>
              <a:rPr lang="en-US" sz="2250" dirty="0">
                <a:solidFill>
                  <a:srgbClr val="C9A96E"/>
                </a:solidFill>
                <a:latin typeface="Segoe UI Symbol" pitchFamily="34" charset="0"/>
                <a:ea typeface="Segoe UI Symbol" pitchFamily="34" charset="-122"/>
                <a:cs typeface="Segoe UI Symbol" pitchFamily="34" charset="-120"/>
              </a:rPr>
              <a:t>✦</a:t>
            </a:r>
            <a:endParaRPr lang="en-US" sz="2250" dirty="0"/>
          </a:p>
        </p:txBody>
      </p:sp>
      <p:sp>
        <p:nvSpPr>
          <p:cNvPr id="11" name="Text 9"/>
          <p:cNvSpPr/>
          <p:nvPr/>
        </p:nvSpPr>
        <p:spPr>
          <a:xfrm>
            <a:off x="635794" y="1999469"/>
            <a:ext cx="2271713" cy="200597"/>
          </a:xfrm>
          <a:prstGeom prst="rect">
            <a:avLst/>
          </a:prstGeom>
          <a:noFill/>
          <a:ln/>
        </p:spPr>
        <p:txBody>
          <a:bodyPr wrap="none" lIns="0" tIns="0" rIns="0" bIns="0" rtlCol="0" anchor="t"/>
          <a:lstStyle/>
          <a:p>
            <a:pPr algn="l" indent="0" marL="0">
              <a:lnSpc>
                <a:spcPts val="1463"/>
              </a:lnSpc>
              <a:buNone/>
            </a:pPr>
            <a:r>
              <a:rPr lang="en-US" sz="1125" dirty="0">
                <a:solidFill>
                  <a:srgbClr val="FFFFFF"/>
                </a:solidFill>
                <a:latin typeface="Carlito" pitchFamily="34" charset="0"/>
                <a:ea typeface="Carlito" pitchFamily="34" charset="-122"/>
                <a:cs typeface="Carlito" pitchFamily="34" charset="-120"/>
              </a:rPr>
              <a:t>Real-Time Scanning</a:t>
            </a:r>
            <a:endParaRPr lang="en-US" sz="1125" dirty="0"/>
          </a:p>
        </p:txBody>
      </p:sp>
      <p:sp>
        <p:nvSpPr>
          <p:cNvPr id="12" name="Text 10"/>
          <p:cNvSpPr/>
          <p:nvPr/>
        </p:nvSpPr>
        <p:spPr>
          <a:xfrm>
            <a:off x="635794" y="2270931"/>
            <a:ext cx="2271713" cy="358759"/>
          </a:xfrm>
          <a:prstGeom prst="rect">
            <a:avLst/>
          </a:prstGeom>
          <a:noFill/>
          <a:ln/>
        </p:spPr>
        <p:txBody>
          <a:bodyPr wrap="square" lIns="0" tIns="0" rIns="0" bIns="0" rtlCol="0" anchor="t"/>
          <a:lstStyle/>
          <a:p>
            <a:pPr algn="l" indent="0" marL="0">
              <a:lnSpc>
                <a:spcPts val="1308"/>
              </a:lnSpc>
              <a:buNone/>
            </a:pPr>
            <a:r>
              <a:rPr lang="en-US" sz="844" dirty="0">
                <a:solidFill>
                  <a:srgbClr val="999999"/>
                </a:solidFill>
                <a:latin typeface="Carlito" pitchFamily="34" charset="0"/>
                <a:ea typeface="Carlito" pitchFamily="34" charset="-122"/>
                <a:cs typeface="Carlito" pitchFamily="34" charset="-120"/>
              </a:rPr>
              <a:t>15 scanner modules continuously monitor DNS, ports, SSL, headers, and more.</a:t>
            </a:r>
            <a:endParaRPr lang="en-US" sz="844" dirty="0"/>
          </a:p>
        </p:txBody>
      </p:sp>
      <p:sp>
        <p:nvSpPr>
          <p:cNvPr id="13" name="Text 11"/>
          <p:cNvSpPr/>
          <p:nvPr/>
        </p:nvSpPr>
        <p:spPr>
          <a:xfrm>
            <a:off x="3257550" y="1463687"/>
            <a:ext cx="2628900" cy="3222613"/>
          </a:xfrm>
          <a:prstGeom prst="roundRect">
            <a:avLst>
              <a:gd name="adj" fmla="val 4348"/>
            </a:avLst>
          </a:prstGeom>
          <a:solidFill>
            <a:srgbClr val="111111"/>
          </a:solidFill>
          <a:ln/>
        </p:spPr>
        <p:txBody>
          <a:bodyPr wrap="square" rtlCol="0" anchor="ctr"/>
          <a:lstStyle/>
          <a:p>
            <a:pPr indent="0" marL="0">
              <a:buNone/>
            </a:pPr>
            <a:endParaRPr lang="en-US" dirty="0"/>
          </a:p>
        </p:txBody>
      </p:sp>
      <p:sp>
        <p:nvSpPr>
          <p:cNvPr id="14" name="Shape 12"/>
          <p:cNvSpPr/>
          <p:nvPr/>
        </p:nvSpPr>
        <p:spPr>
          <a:xfrm>
            <a:off x="3257550" y="1474403"/>
            <a:ext cx="2628900" cy="0"/>
          </a:xfrm>
          <a:prstGeom prst="line">
            <a:avLst/>
          </a:prstGeom>
          <a:noFill/>
          <a:ln w="21431">
            <a:solidFill>
              <a:srgbClr val="C9A96E"/>
            </a:solidFill>
            <a:prstDash val="solid"/>
          </a:ln>
        </p:spPr>
      </p:sp>
      <p:sp>
        <p:nvSpPr>
          <p:cNvPr id="15" name="Shape 13"/>
          <p:cNvSpPr/>
          <p:nvPr/>
        </p:nvSpPr>
        <p:spPr>
          <a:xfrm>
            <a:off x="5882878" y="1463687"/>
            <a:ext cx="0" cy="3222613"/>
          </a:xfrm>
          <a:prstGeom prst="line">
            <a:avLst/>
          </a:prstGeom>
          <a:noFill/>
          <a:ln w="7144">
            <a:solidFill>
              <a:srgbClr val="222222"/>
            </a:solidFill>
            <a:prstDash val="solid"/>
          </a:ln>
        </p:spPr>
      </p:sp>
      <p:sp>
        <p:nvSpPr>
          <p:cNvPr id="16" name="Shape 14"/>
          <p:cNvSpPr/>
          <p:nvPr/>
        </p:nvSpPr>
        <p:spPr>
          <a:xfrm>
            <a:off x="3257550" y="4682728"/>
            <a:ext cx="2628900" cy="0"/>
          </a:xfrm>
          <a:prstGeom prst="line">
            <a:avLst/>
          </a:prstGeom>
          <a:noFill/>
          <a:ln w="7144">
            <a:solidFill>
              <a:srgbClr val="222222"/>
            </a:solidFill>
            <a:prstDash val="solid"/>
          </a:ln>
        </p:spPr>
      </p:sp>
      <p:sp>
        <p:nvSpPr>
          <p:cNvPr id="17" name="Shape 15"/>
          <p:cNvSpPr/>
          <p:nvPr/>
        </p:nvSpPr>
        <p:spPr>
          <a:xfrm>
            <a:off x="3261122" y="1463687"/>
            <a:ext cx="0" cy="3222613"/>
          </a:xfrm>
          <a:prstGeom prst="line">
            <a:avLst/>
          </a:prstGeom>
          <a:noFill/>
          <a:ln w="7144">
            <a:solidFill>
              <a:srgbClr val="222222"/>
            </a:solidFill>
            <a:prstDash val="solid"/>
          </a:ln>
        </p:spPr>
      </p:sp>
      <p:sp>
        <p:nvSpPr>
          <p:cNvPr id="18" name="Text 16"/>
          <p:cNvSpPr/>
          <p:nvPr/>
        </p:nvSpPr>
        <p:spPr>
          <a:xfrm>
            <a:off x="3436144" y="1685144"/>
            <a:ext cx="228600" cy="228600"/>
          </a:xfrm>
          <a:prstGeom prst="rect">
            <a:avLst/>
          </a:prstGeom>
          <a:noFill/>
          <a:ln/>
        </p:spPr>
        <p:txBody>
          <a:bodyPr wrap="none" lIns="0" tIns="0" rIns="0" bIns="0" rtlCol="0" anchor="ctr"/>
          <a:lstStyle/>
          <a:p>
            <a:pPr algn="ctr" indent="0" marL="0">
              <a:buNone/>
            </a:pPr>
            <a:r>
              <a:rPr lang="en-US" sz="2250" dirty="0">
                <a:solidFill>
                  <a:srgbClr val="C9A96E"/>
                </a:solidFill>
                <a:latin typeface="Segoe UI Symbol" pitchFamily="34" charset="0"/>
                <a:ea typeface="Segoe UI Symbol" pitchFamily="34" charset="-122"/>
                <a:cs typeface="Segoe UI Symbol" pitchFamily="34" charset="-120"/>
              </a:rPr>
              <a:t>⛨</a:t>
            </a:r>
            <a:endParaRPr lang="en-US" sz="2250" dirty="0"/>
          </a:p>
        </p:txBody>
      </p:sp>
      <p:sp>
        <p:nvSpPr>
          <p:cNvPr id="19" name="Text 17"/>
          <p:cNvSpPr/>
          <p:nvPr/>
        </p:nvSpPr>
        <p:spPr>
          <a:xfrm>
            <a:off x="3436144" y="1999469"/>
            <a:ext cx="2271713" cy="200597"/>
          </a:xfrm>
          <a:prstGeom prst="rect">
            <a:avLst/>
          </a:prstGeom>
          <a:noFill/>
          <a:ln/>
        </p:spPr>
        <p:txBody>
          <a:bodyPr wrap="none" lIns="0" tIns="0" rIns="0" bIns="0" rtlCol="0" anchor="t"/>
          <a:lstStyle/>
          <a:p>
            <a:pPr algn="l" indent="0" marL="0">
              <a:lnSpc>
                <a:spcPts val="1463"/>
              </a:lnSpc>
              <a:buNone/>
            </a:pPr>
            <a:r>
              <a:rPr lang="en-US" sz="1125" dirty="0">
                <a:solidFill>
                  <a:srgbClr val="FFFFFF"/>
                </a:solidFill>
                <a:latin typeface="Carlito" pitchFamily="34" charset="0"/>
                <a:ea typeface="Carlito" pitchFamily="34" charset="-122"/>
                <a:cs typeface="Carlito" pitchFamily="34" charset="-120"/>
              </a:rPr>
              <a:t>Threat Detection</a:t>
            </a:r>
            <a:endParaRPr lang="en-US" sz="1125" dirty="0"/>
          </a:p>
        </p:txBody>
      </p:sp>
      <p:sp>
        <p:nvSpPr>
          <p:cNvPr id="20" name="Text 18"/>
          <p:cNvSpPr/>
          <p:nvPr/>
        </p:nvSpPr>
        <p:spPr>
          <a:xfrm>
            <a:off x="3436144" y="2270931"/>
            <a:ext cx="2271713" cy="358759"/>
          </a:xfrm>
          <a:prstGeom prst="rect">
            <a:avLst/>
          </a:prstGeom>
          <a:noFill/>
          <a:ln/>
        </p:spPr>
        <p:txBody>
          <a:bodyPr wrap="square" lIns="0" tIns="0" rIns="0" bIns="0" rtlCol="0" anchor="t"/>
          <a:lstStyle/>
          <a:p>
            <a:pPr algn="l" indent="0" marL="0">
              <a:lnSpc>
                <a:spcPts val="1308"/>
              </a:lnSpc>
              <a:buNone/>
            </a:pPr>
            <a:r>
              <a:rPr lang="en-US" sz="844" dirty="0">
                <a:solidFill>
                  <a:srgbClr val="999999"/>
                </a:solidFill>
                <a:latin typeface="Carlito" pitchFamily="34" charset="0"/>
                <a:ea typeface="Carlito" pitchFamily="34" charset="-122"/>
                <a:cs typeface="Carlito" pitchFamily="34" charset="-120"/>
              </a:rPr>
              <a:t>Automated vulnerability identification with risk scoring and remediation guidance.</a:t>
            </a:r>
            <a:endParaRPr lang="en-US" sz="844" dirty="0"/>
          </a:p>
        </p:txBody>
      </p:sp>
      <p:sp>
        <p:nvSpPr>
          <p:cNvPr id="21" name="Text 19"/>
          <p:cNvSpPr/>
          <p:nvPr/>
        </p:nvSpPr>
        <p:spPr>
          <a:xfrm>
            <a:off x="6057900" y="1463687"/>
            <a:ext cx="2628900" cy="3222613"/>
          </a:xfrm>
          <a:prstGeom prst="roundRect">
            <a:avLst>
              <a:gd name="adj" fmla="val 4348"/>
            </a:avLst>
          </a:prstGeom>
          <a:solidFill>
            <a:srgbClr val="111111"/>
          </a:solidFill>
          <a:ln/>
        </p:spPr>
        <p:txBody>
          <a:bodyPr wrap="square" rtlCol="0" anchor="ctr"/>
          <a:lstStyle/>
          <a:p>
            <a:pPr indent="0" marL="0">
              <a:buNone/>
            </a:pPr>
            <a:endParaRPr lang="en-US" dirty="0"/>
          </a:p>
        </p:txBody>
      </p:sp>
      <p:sp>
        <p:nvSpPr>
          <p:cNvPr id="22" name="Shape 20"/>
          <p:cNvSpPr/>
          <p:nvPr/>
        </p:nvSpPr>
        <p:spPr>
          <a:xfrm>
            <a:off x="6057900" y="1474403"/>
            <a:ext cx="2628900" cy="0"/>
          </a:xfrm>
          <a:prstGeom prst="line">
            <a:avLst/>
          </a:prstGeom>
          <a:noFill/>
          <a:ln w="21431">
            <a:solidFill>
              <a:srgbClr val="C9A96E"/>
            </a:solidFill>
            <a:prstDash val="solid"/>
          </a:ln>
        </p:spPr>
      </p:sp>
      <p:sp>
        <p:nvSpPr>
          <p:cNvPr id="23" name="Shape 21"/>
          <p:cNvSpPr/>
          <p:nvPr/>
        </p:nvSpPr>
        <p:spPr>
          <a:xfrm>
            <a:off x="8683228" y="1463687"/>
            <a:ext cx="0" cy="3222613"/>
          </a:xfrm>
          <a:prstGeom prst="line">
            <a:avLst/>
          </a:prstGeom>
          <a:noFill/>
          <a:ln w="7144">
            <a:solidFill>
              <a:srgbClr val="222222"/>
            </a:solidFill>
            <a:prstDash val="solid"/>
          </a:ln>
        </p:spPr>
      </p:sp>
      <p:sp>
        <p:nvSpPr>
          <p:cNvPr id="24" name="Shape 22"/>
          <p:cNvSpPr/>
          <p:nvPr/>
        </p:nvSpPr>
        <p:spPr>
          <a:xfrm>
            <a:off x="6057900" y="4682728"/>
            <a:ext cx="2628900" cy="0"/>
          </a:xfrm>
          <a:prstGeom prst="line">
            <a:avLst/>
          </a:prstGeom>
          <a:noFill/>
          <a:ln w="7144">
            <a:solidFill>
              <a:srgbClr val="222222"/>
            </a:solidFill>
            <a:prstDash val="solid"/>
          </a:ln>
        </p:spPr>
      </p:sp>
      <p:sp>
        <p:nvSpPr>
          <p:cNvPr id="25" name="Shape 23"/>
          <p:cNvSpPr/>
          <p:nvPr/>
        </p:nvSpPr>
        <p:spPr>
          <a:xfrm>
            <a:off x="6061472" y="1463687"/>
            <a:ext cx="0" cy="3222613"/>
          </a:xfrm>
          <a:prstGeom prst="line">
            <a:avLst/>
          </a:prstGeom>
          <a:noFill/>
          <a:ln w="7144">
            <a:solidFill>
              <a:srgbClr val="222222"/>
            </a:solidFill>
            <a:prstDash val="solid"/>
          </a:ln>
        </p:spPr>
      </p:sp>
      <p:sp>
        <p:nvSpPr>
          <p:cNvPr id="26" name="Text 24"/>
          <p:cNvSpPr/>
          <p:nvPr/>
        </p:nvSpPr>
        <p:spPr>
          <a:xfrm>
            <a:off x="6236494" y="1685144"/>
            <a:ext cx="228600" cy="228600"/>
          </a:xfrm>
          <a:prstGeom prst="rect">
            <a:avLst/>
          </a:prstGeom>
          <a:noFill/>
          <a:ln/>
        </p:spPr>
        <p:txBody>
          <a:bodyPr wrap="none" lIns="0" tIns="0" rIns="0" bIns="0" rtlCol="0" anchor="ctr"/>
          <a:lstStyle/>
          <a:p>
            <a:pPr algn="ctr" indent="0" marL="0">
              <a:buNone/>
            </a:pPr>
            <a:r>
              <a:rPr lang="en-US" sz="2250" dirty="0">
                <a:solidFill>
                  <a:srgbClr val="C9A96E"/>
                </a:solidFill>
                <a:latin typeface="Segoe UI Symbol" pitchFamily="34" charset="0"/>
                <a:ea typeface="Segoe UI Symbol" pitchFamily="34" charset="-122"/>
                <a:cs typeface="Segoe UI Symbol" pitchFamily="34" charset="-120"/>
              </a:rPr>
              <a:t>▦</a:t>
            </a:r>
            <a:endParaRPr lang="en-US" sz="2250" dirty="0"/>
          </a:p>
        </p:txBody>
      </p:sp>
      <p:sp>
        <p:nvSpPr>
          <p:cNvPr id="27" name="Text 25"/>
          <p:cNvSpPr/>
          <p:nvPr/>
        </p:nvSpPr>
        <p:spPr>
          <a:xfrm>
            <a:off x="6236494" y="1999469"/>
            <a:ext cx="2271712" cy="200597"/>
          </a:xfrm>
          <a:prstGeom prst="rect">
            <a:avLst/>
          </a:prstGeom>
          <a:noFill/>
          <a:ln/>
        </p:spPr>
        <p:txBody>
          <a:bodyPr wrap="none" lIns="0" tIns="0" rIns="0" bIns="0" rtlCol="0" anchor="t"/>
          <a:lstStyle/>
          <a:p>
            <a:pPr algn="l" indent="0" marL="0">
              <a:lnSpc>
                <a:spcPts val="1463"/>
              </a:lnSpc>
              <a:buNone/>
            </a:pPr>
            <a:r>
              <a:rPr lang="en-US" sz="1125" dirty="0">
                <a:solidFill>
                  <a:srgbClr val="FFFFFF"/>
                </a:solidFill>
                <a:latin typeface="Carlito" pitchFamily="34" charset="0"/>
                <a:ea typeface="Carlito" pitchFamily="34" charset="-122"/>
                <a:cs typeface="Carlito" pitchFamily="34" charset="-120"/>
              </a:rPr>
              <a:t>Compliance Engine</a:t>
            </a:r>
            <a:endParaRPr lang="en-US" sz="1125" dirty="0"/>
          </a:p>
        </p:txBody>
      </p:sp>
      <p:sp>
        <p:nvSpPr>
          <p:cNvPr id="28" name="Text 26"/>
          <p:cNvSpPr/>
          <p:nvPr/>
        </p:nvSpPr>
        <p:spPr>
          <a:xfrm>
            <a:off x="6236494" y="2270931"/>
            <a:ext cx="2271713" cy="358759"/>
          </a:xfrm>
          <a:prstGeom prst="rect">
            <a:avLst/>
          </a:prstGeom>
          <a:noFill/>
          <a:ln/>
        </p:spPr>
        <p:txBody>
          <a:bodyPr wrap="square" lIns="0" tIns="0" rIns="0" bIns="0" rtlCol="0" anchor="t"/>
          <a:lstStyle/>
          <a:p>
            <a:pPr algn="l" indent="0" marL="0">
              <a:lnSpc>
                <a:spcPts val="1308"/>
              </a:lnSpc>
              <a:buNone/>
            </a:pPr>
            <a:r>
              <a:rPr lang="en-US" sz="844" dirty="0">
                <a:solidFill>
                  <a:srgbClr val="999999"/>
                </a:solidFill>
                <a:latin typeface="Carlito" pitchFamily="34" charset="0"/>
                <a:ea typeface="Carlito" pitchFamily="34" charset="-122"/>
                <a:cs typeface="Carlito" pitchFamily="34" charset="-120"/>
              </a:rPr>
              <a:t>SOC2, HIPAA, PCI-DSS, ISO 27001, GDPR compliance reports generated automatically.</a:t>
            </a:r>
            <a:endParaRPr lang="en-US" sz="844" dirty="0"/>
          </a:p>
        </p:txBody>
      </p:sp>
      <p:sp>
        <p:nvSpPr>
          <p:cNvPr id="29" name="Text 27"/>
          <p:cNvSpPr/>
          <p:nvPr/>
        </p:nvSpPr>
        <p:spPr>
          <a:xfrm>
            <a:off x="8802640" y="4843463"/>
            <a:ext cx="184221" cy="164592"/>
          </a:xfrm>
          <a:prstGeom prst="rect">
            <a:avLst/>
          </a:prstGeom>
          <a:noFill/>
          <a:ln/>
        </p:spPr>
        <p:txBody>
          <a:bodyPr wrap="squar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47590"/>
          </a:xfrm>
          <a:prstGeom prst="rect">
            <a:avLst/>
          </a:prstGeom>
          <a:noFill/>
          <a:ln/>
        </p:spPr>
        <p:txBody>
          <a:bodyPr wrap="none" lIns="0" tIns="0" rIns="0" bIns="0" rtlCol="0" anchor="t">
            <a:normAutofit/>
          </a:bodyPr>
          <a:lstStyle/>
          <a:p>
            <a:pPr algn="l" indent="0" marL="0">
              <a:lnSpc>
                <a:spcPts val="928"/>
              </a:lnSpc>
              <a:buNone/>
            </a:pPr>
            <a:r>
              <a:rPr lang="en-US" sz="800" spc="62" kern="0" dirty="0">
                <a:solidFill>
                  <a:srgbClr val="C9A96E"/>
                </a:solidFill>
                <a:latin typeface="Courier New" pitchFamily="34" charset="0"/>
                <a:ea typeface="Courier New" pitchFamily="34" charset="-122"/>
                <a:cs typeface="Courier New" pitchFamily="34" charset="-120"/>
              </a:rPr>
              <a:t>ARCHITECTURE</a:t>
            </a:r>
            <a:endParaRPr lang="en-US" sz="800" dirty="0"/>
          </a:p>
        </p:txBody>
      </p:sp>
      <p:sp>
        <p:nvSpPr>
          <p:cNvPr id="3" name="Text 1"/>
          <p:cNvSpPr/>
          <p:nvPr/>
        </p:nvSpPr>
        <p:spPr>
          <a:xfrm>
            <a:off x="457200" y="632222"/>
            <a:ext cx="8636000" cy="283897"/>
          </a:xfrm>
          <a:prstGeom prst="rect">
            <a:avLst/>
          </a:prstGeom>
          <a:noFill/>
          <a:ln/>
        </p:spPr>
        <p:txBody>
          <a:bodyPr wrap="square" lIns="0" tIns="0" rIns="0" bIns="0" rtlCol="0" anchor="t"/>
          <a:lstStyle/>
          <a:p>
            <a:pPr algn="l" indent="0" marL="0">
              <a:lnSpc>
                <a:spcPts val="2070"/>
              </a:lnSpc>
              <a:buNone/>
            </a:pPr>
            <a:r>
              <a:rPr lang="en-US" sz="1800" b="1" dirty="0">
                <a:solidFill>
                  <a:srgbClr val="FFFFFF"/>
                </a:solidFill>
                <a:latin typeface="Carlito" pitchFamily="34" charset="0"/>
                <a:ea typeface="Carlito" pitchFamily="34" charset="-122"/>
                <a:cs typeface="Carlito" pitchFamily="34" charset="-120"/>
              </a:rPr>
              <a:t>Built for scale, designed for security</a:t>
            </a:r>
            <a:endParaRPr lang="en-US" sz="1800" dirty="0"/>
          </a:p>
        </p:txBody>
      </p:sp>
      <p:sp>
        <p:nvSpPr>
          <p:cNvPr id="4" name="Text 2"/>
          <p:cNvSpPr/>
          <p:nvPr/>
        </p:nvSpPr>
        <p:spPr>
          <a:xfrm>
            <a:off x="457200" y="1095115"/>
            <a:ext cx="2666963" cy="1738387"/>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5" name="Shape 3"/>
          <p:cNvSpPr/>
          <p:nvPr/>
        </p:nvSpPr>
        <p:spPr>
          <a:xfrm>
            <a:off x="457200" y="1105830"/>
            <a:ext cx="2666963" cy="0"/>
          </a:xfrm>
          <a:prstGeom prst="line">
            <a:avLst/>
          </a:prstGeom>
          <a:noFill/>
          <a:ln w="21431">
            <a:solidFill>
              <a:srgbClr val="C9A96E"/>
            </a:solidFill>
            <a:prstDash val="solid"/>
          </a:ln>
        </p:spPr>
      </p:sp>
      <p:sp>
        <p:nvSpPr>
          <p:cNvPr id="6" name="Shape 4"/>
          <p:cNvSpPr/>
          <p:nvPr/>
        </p:nvSpPr>
        <p:spPr>
          <a:xfrm>
            <a:off x="3120591" y="1095115"/>
            <a:ext cx="0" cy="1738387"/>
          </a:xfrm>
          <a:prstGeom prst="line">
            <a:avLst/>
          </a:prstGeom>
          <a:noFill/>
          <a:ln w="7144">
            <a:solidFill>
              <a:srgbClr val="222222"/>
            </a:solidFill>
            <a:prstDash val="solid"/>
          </a:ln>
        </p:spPr>
      </p:sp>
      <p:sp>
        <p:nvSpPr>
          <p:cNvPr id="7" name="Shape 5"/>
          <p:cNvSpPr/>
          <p:nvPr/>
        </p:nvSpPr>
        <p:spPr>
          <a:xfrm>
            <a:off x="457200" y="2829930"/>
            <a:ext cx="2666963" cy="0"/>
          </a:xfrm>
          <a:prstGeom prst="line">
            <a:avLst/>
          </a:prstGeom>
          <a:noFill/>
          <a:ln w="7144">
            <a:solidFill>
              <a:srgbClr val="222222"/>
            </a:solidFill>
            <a:prstDash val="solid"/>
          </a:ln>
        </p:spPr>
      </p:sp>
      <p:sp>
        <p:nvSpPr>
          <p:cNvPr id="8" name="Shape 6"/>
          <p:cNvSpPr/>
          <p:nvPr/>
        </p:nvSpPr>
        <p:spPr>
          <a:xfrm>
            <a:off x="460772" y="1095115"/>
            <a:ext cx="0" cy="1738387"/>
          </a:xfrm>
          <a:prstGeom prst="line">
            <a:avLst/>
          </a:prstGeom>
          <a:noFill/>
          <a:ln w="7144">
            <a:solidFill>
              <a:srgbClr val="222222"/>
            </a:solidFill>
            <a:prstDash val="solid"/>
          </a:ln>
        </p:spPr>
      </p:sp>
      <p:sp>
        <p:nvSpPr>
          <p:cNvPr id="9" name="Text 7"/>
          <p:cNvSpPr/>
          <p:nvPr/>
        </p:nvSpPr>
        <p:spPr>
          <a:xfrm>
            <a:off x="621506" y="1259421"/>
            <a:ext cx="2338350"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Scanner Engine</a:t>
            </a:r>
            <a:endParaRPr lang="en-US" sz="956" dirty="0"/>
          </a:p>
        </p:txBody>
      </p:sp>
      <p:sp>
        <p:nvSpPr>
          <p:cNvPr id="10" name="Text 8"/>
          <p:cNvSpPr/>
          <p:nvPr/>
        </p:nvSpPr>
        <p:spPr>
          <a:xfrm>
            <a:off x="621506" y="1498736"/>
            <a:ext cx="2338350" cy="493776"/>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15 modules: DNS, subdomain, HTTP, port, SSL, cert, CT logs, WHOIS, email, geo, directory, network, log, process, file</a:t>
            </a:r>
            <a:endParaRPr lang="en-US" sz="800" dirty="0"/>
          </a:p>
        </p:txBody>
      </p:sp>
      <p:sp>
        <p:nvSpPr>
          <p:cNvPr id="11" name="Text 9"/>
          <p:cNvSpPr/>
          <p:nvPr/>
        </p:nvSpPr>
        <p:spPr>
          <a:xfrm>
            <a:off x="3238463" y="1095115"/>
            <a:ext cx="2666963" cy="1738387"/>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12" name="Shape 10"/>
          <p:cNvSpPr/>
          <p:nvPr/>
        </p:nvSpPr>
        <p:spPr>
          <a:xfrm>
            <a:off x="3238463" y="1105830"/>
            <a:ext cx="2666963" cy="0"/>
          </a:xfrm>
          <a:prstGeom prst="line">
            <a:avLst/>
          </a:prstGeom>
          <a:noFill/>
          <a:ln w="21431">
            <a:solidFill>
              <a:srgbClr val="C9A96E"/>
            </a:solidFill>
            <a:prstDash val="solid"/>
          </a:ln>
        </p:spPr>
      </p:sp>
      <p:sp>
        <p:nvSpPr>
          <p:cNvPr id="13" name="Shape 11"/>
          <p:cNvSpPr/>
          <p:nvPr/>
        </p:nvSpPr>
        <p:spPr>
          <a:xfrm>
            <a:off x="5901854" y="1095115"/>
            <a:ext cx="0" cy="1738387"/>
          </a:xfrm>
          <a:prstGeom prst="line">
            <a:avLst/>
          </a:prstGeom>
          <a:noFill/>
          <a:ln w="7144">
            <a:solidFill>
              <a:srgbClr val="222222"/>
            </a:solidFill>
            <a:prstDash val="solid"/>
          </a:ln>
        </p:spPr>
      </p:sp>
      <p:sp>
        <p:nvSpPr>
          <p:cNvPr id="14" name="Shape 12"/>
          <p:cNvSpPr/>
          <p:nvPr/>
        </p:nvSpPr>
        <p:spPr>
          <a:xfrm>
            <a:off x="3238463" y="2829930"/>
            <a:ext cx="2666963" cy="0"/>
          </a:xfrm>
          <a:prstGeom prst="line">
            <a:avLst/>
          </a:prstGeom>
          <a:noFill/>
          <a:ln w="7144">
            <a:solidFill>
              <a:srgbClr val="222222"/>
            </a:solidFill>
            <a:prstDash val="solid"/>
          </a:ln>
        </p:spPr>
      </p:sp>
      <p:sp>
        <p:nvSpPr>
          <p:cNvPr id="15" name="Shape 13"/>
          <p:cNvSpPr/>
          <p:nvPr/>
        </p:nvSpPr>
        <p:spPr>
          <a:xfrm>
            <a:off x="3242035" y="1095115"/>
            <a:ext cx="0" cy="1738387"/>
          </a:xfrm>
          <a:prstGeom prst="line">
            <a:avLst/>
          </a:prstGeom>
          <a:noFill/>
          <a:ln w="7144">
            <a:solidFill>
              <a:srgbClr val="222222"/>
            </a:solidFill>
            <a:prstDash val="solid"/>
          </a:ln>
        </p:spPr>
      </p:sp>
      <p:sp>
        <p:nvSpPr>
          <p:cNvPr id="16" name="Text 14"/>
          <p:cNvSpPr/>
          <p:nvPr/>
        </p:nvSpPr>
        <p:spPr>
          <a:xfrm>
            <a:off x="3402769" y="1259421"/>
            <a:ext cx="2338350"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API Layer</a:t>
            </a:r>
            <a:endParaRPr lang="en-US" sz="956" dirty="0"/>
          </a:p>
        </p:txBody>
      </p:sp>
      <p:sp>
        <p:nvSpPr>
          <p:cNvPr id="17" name="Text 15"/>
          <p:cNvSpPr/>
          <p:nvPr/>
        </p:nvSpPr>
        <p:spPr>
          <a:xfrm>
            <a:off x="3402769" y="1498736"/>
            <a:ext cx="2338350" cy="329184"/>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54 RESTful endpoints with API key auth, rate limiting, and SSRF protection</a:t>
            </a:r>
            <a:endParaRPr lang="en-US" sz="800" dirty="0"/>
          </a:p>
        </p:txBody>
      </p:sp>
      <p:sp>
        <p:nvSpPr>
          <p:cNvPr id="18" name="Text 16"/>
          <p:cNvSpPr/>
          <p:nvPr/>
        </p:nvSpPr>
        <p:spPr>
          <a:xfrm>
            <a:off x="6019726" y="1095115"/>
            <a:ext cx="2667074" cy="1738387"/>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19" name="Shape 17"/>
          <p:cNvSpPr/>
          <p:nvPr/>
        </p:nvSpPr>
        <p:spPr>
          <a:xfrm>
            <a:off x="6019726" y="1105830"/>
            <a:ext cx="2667074" cy="0"/>
          </a:xfrm>
          <a:prstGeom prst="line">
            <a:avLst/>
          </a:prstGeom>
          <a:noFill/>
          <a:ln w="21431">
            <a:solidFill>
              <a:srgbClr val="C9A96E"/>
            </a:solidFill>
            <a:prstDash val="solid"/>
          </a:ln>
        </p:spPr>
      </p:sp>
      <p:sp>
        <p:nvSpPr>
          <p:cNvPr id="20" name="Shape 18"/>
          <p:cNvSpPr/>
          <p:nvPr/>
        </p:nvSpPr>
        <p:spPr>
          <a:xfrm>
            <a:off x="8683228" y="1095115"/>
            <a:ext cx="0" cy="1738387"/>
          </a:xfrm>
          <a:prstGeom prst="line">
            <a:avLst/>
          </a:prstGeom>
          <a:noFill/>
          <a:ln w="7144">
            <a:solidFill>
              <a:srgbClr val="222222"/>
            </a:solidFill>
            <a:prstDash val="solid"/>
          </a:ln>
        </p:spPr>
      </p:sp>
      <p:sp>
        <p:nvSpPr>
          <p:cNvPr id="21" name="Shape 19"/>
          <p:cNvSpPr/>
          <p:nvPr/>
        </p:nvSpPr>
        <p:spPr>
          <a:xfrm>
            <a:off x="6019726" y="2829930"/>
            <a:ext cx="2667074" cy="0"/>
          </a:xfrm>
          <a:prstGeom prst="line">
            <a:avLst/>
          </a:prstGeom>
          <a:noFill/>
          <a:ln w="7144">
            <a:solidFill>
              <a:srgbClr val="222222"/>
            </a:solidFill>
            <a:prstDash val="solid"/>
          </a:ln>
        </p:spPr>
      </p:sp>
      <p:sp>
        <p:nvSpPr>
          <p:cNvPr id="22" name="Shape 20"/>
          <p:cNvSpPr/>
          <p:nvPr/>
        </p:nvSpPr>
        <p:spPr>
          <a:xfrm>
            <a:off x="6023297" y="1095115"/>
            <a:ext cx="0" cy="1738387"/>
          </a:xfrm>
          <a:prstGeom prst="line">
            <a:avLst/>
          </a:prstGeom>
          <a:noFill/>
          <a:ln w="7144">
            <a:solidFill>
              <a:srgbClr val="222222"/>
            </a:solidFill>
            <a:prstDash val="solid"/>
          </a:ln>
        </p:spPr>
      </p:sp>
      <p:sp>
        <p:nvSpPr>
          <p:cNvPr id="23" name="Text 21"/>
          <p:cNvSpPr/>
          <p:nvPr/>
        </p:nvSpPr>
        <p:spPr>
          <a:xfrm>
            <a:off x="6184032" y="1259421"/>
            <a:ext cx="2338462"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Database</a:t>
            </a:r>
            <a:endParaRPr lang="en-US" sz="956" dirty="0"/>
          </a:p>
        </p:txBody>
      </p:sp>
      <p:sp>
        <p:nvSpPr>
          <p:cNvPr id="24" name="Text 22"/>
          <p:cNvSpPr/>
          <p:nvPr/>
        </p:nvSpPr>
        <p:spPr>
          <a:xfrm>
            <a:off x="6184032" y="1498736"/>
            <a:ext cx="2338462" cy="329184"/>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21 Prisma models with SQLite/PostgreSQL, full referential integrity, 15+ indexes</a:t>
            </a:r>
            <a:endParaRPr lang="en-US" sz="800" dirty="0"/>
          </a:p>
        </p:txBody>
      </p:sp>
      <p:sp>
        <p:nvSpPr>
          <p:cNvPr id="25" name="Text 23"/>
          <p:cNvSpPr/>
          <p:nvPr/>
        </p:nvSpPr>
        <p:spPr>
          <a:xfrm>
            <a:off x="457200" y="2947801"/>
            <a:ext cx="2666963" cy="1738499"/>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26" name="Shape 24"/>
          <p:cNvSpPr/>
          <p:nvPr/>
        </p:nvSpPr>
        <p:spPr>
          <a:xfrm>
            <a:off x="457200" y="2958517"/>
            <a:ext cx="2666963" cy="0"/>
          </a:xfrm>
          <a:prstGeom prst="line">
            <a:avLst/>
          </a:prstGeom>
          <a:noFill/>
          <a:ln w="21431">
            <a:solidFill>
              <a:srgbClr val="C9A96E"/>
            </a:solidFill>
            <a:prstDash val="solid"/>
          </a:ln>
        </p:spPr>
      </p:sp>
      <p:sp>
        <p:nvSpPr>
          <p:cNvPr id="27" name="Shape 25"/>
          <p:cNvSpPr/>
          <p:nvPr/>
        </p:nvSpPr>
        <p:spPr>
          <a:xfrm>
            <a:off x="3120591" y="2947801"/>
            <a:ext cx="0" cy="1738499"/>
          </a:xfrm>
          <a:prstGeom prst="line">
            <a:avLst/>
          </a:prstGeom>
          <a:noFill/>
          <a:ln w="7144">
            <a:solidFill>
              <a:srgbClr val="222222"/>
            </a:solidFill>
            <a:prstDash val="solid"/>
          </a:ln>
        </p:spPr>
      </p:sp>
      <p:sp>
        <p:nvSpPr>
          <p:cNvPr id="28" name="Shape 26"/>
          <p:cNvSpPr/>
          <p:nvPr/>
        </p:nvSpPr>
        <p:spPr>
          <a:xfrm>
            <a:off x="457200" y="4682728"/>
            <a:ext cx="2666963" cy="0"/>
          </a:xfrm>
          <a:prstGeom prst="line">
            <a:avLst/>
          </a:prstGeom>
          <a:noFill/>
          <a:ln w="7144">
            <a:solidFill>
              <a:srgbClr val="222222"/>
            </a:solidFill>
            <a:prstDash val="solid"/>
          </a:ln>
        </p:spPr>
      </p:sp>
      <p:sp>
        <p:nvSpPr>
          <p:cNvPr id="29" name="Shape 27"/>
          <p:cNvSpPr/>
          <p:nvPr/>
        </p:nvSpPr>
        <p:spPr>
          <a:xfrm>
            <a:off x="460772" y="2947801"/>
            <a:ext cx="0" cy="1738499"/>
          </a:xfrm>
          <a:prstGeom prst="line">
            <a:avLst/>
          </a:prstGeom>
          <a:noFill/>
          <a:ln w="7144">
            <a:solidFill>
              <a:srgbClr val="222222"/>
            </a:solidFill>
            <a:prstDash val="solid"/>
          </a:ln>
        </p:spPr>
      </p:sp>
      <p:sp>
        <p:nvSpPr>
          <p:cNvPr id="30" name="Text 28"/>
          <p:cNvSpPr/>
          <p:nvPr/>
        </p:nvSpPr>
        <p:spPr>
          <a:xfrm>
            <a:off x="621506" y="3112108"/>
            <a:ext cx="2338350"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Frontend</a:t>
            </a:r>
            <a:endParaRPr lang="en-US" sz="956" dirty="0"/>
          </a:p>
        </p:txBody>
      </p:sp>
      <p:sp>
        <p:nvSpPr>
          <p:cNvPr id="31" name="Text 29"/>
          <p:cNvSpPr/>
          <p:nvPr/>
        </p:nvSpPr>
        <p:spPr>
          <a:xfrm>
            <a:off x="621506" y="3351423"/>
            <a:ext cx="2338350" cy="329184"/>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Next.js 16, React 19, TypeScript strict, Tailwind CSS 4, 26 active components</a:t>
            </a:r>
            <a:endParaRPr lang="en-US" sz="800" dirty="0"/>
          </a:p>
        </p:txBody>
      </p:sp>
      <p:sp>
        <p:nvSpPr>
          <p:cNvPr id="32" name="Text 30"/>
          <p:cNvSpPr/>
          <p:nvPr/>
        </p:nvSpPr>
        <p:spPr>
          <a:xfrm>
            <a:off x="3238463" y="2947801"/>
            <a:ext cx="2666963" cy="1738499"/>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33" name="Shape 31"/>
          <p:cNvSpPr/>
          <p:nvPr/>
        </p:nvSpPr>
        <p:spPr>
          <a:xfrm>
            <a:off x="3238463" y="2958517"/>
            <a:ext cx="2666963" cy="0"/>
          </a:xfrm>
          <a:prstGeom prst="line">
            <a:avLst/>
          </a:prstGeom>
          <a:noFill/>
          <a:ln w="21431">
            <a:solidFill>
              <a:srgbClr val="C9A96E"/>
            </a:solidFill>
            <a:prstDash val="solid"/>
          </a:ln>
        </p:spPr>
      </p:sp>
      <p:sp>
        <p:nvSpPr>
          <p:cNvPr id="34" name="Shape 32"/>
          <p:cNvSpPr/>
          <p:nvPr/>
        </p:nvSpPr>
        <p:spPr>
          <a:xfrm>
            <a:off x="5901854" y="2947801"/>
            <a:ext cx="0" cy="1738499"/>
          </a:xfrm>
          <a:prstGeom prst="line">
            <a:avLst/>
          </a:prstGeom>
          <a:noFill/>
          <a:ln w="7144">
            <a:solidFill>
              <a:srgbClr val="222222"/>
            </a:solidFill>
            <a:prstDash val="solid"/>
          </a:ln>
        </p:spPr>
      </p:sp>
      <p:sp>
        <p:nvSpPr>
          <p:cNvPr id="35" name="Shape 33"/>
          <p:cNvSpPr/>
          <p:nvPr/>
        </p:nvSpPr>
        <p:spPr>
          <a:xfrm>
            <a:off x="3238463" y="4682728"/>
            <a:ext cx="2666963" cy="0"/>
          </a:xfrm>
          <a:prstGeom prst="line">
            <a:avLst/>
          </a:prstGeom>
          <a:noFill/>
          <a:ln w="7144">
            <a:solidFill>
              <a:srgbClr val="222222"/>
            </a:solidFill>
            <a:prstDash val="solid"/>
          </a:ln>
        </p:spPr>
      </p:sp>
      <p:sp>
        <p:nvSpPr>
          <p:cNvPr id="36" name="Shape 34"/>
          <p:cNvSpPr/>
          <p:nvPr/>
        </p:nvSpPr>
        <p:spPr>
          <a:xfrm>
            <a:off x="3242035" y="2947801"/>
            <a:ext cx="0" cy="1738499"/>
          </a:xfrm>
          <a:prstGeom prst="line">
            <a:avLst/>
          </a:prstGeom>
          <a:noFill/>
          <a:ln w="7144">
            <a:solidFill>
              <a:srgbClr val="222222"/>
            </a:solidFill>
            <a:prstDash val="solid"/>
          </a:ln>
        </p:spPr>
      </p:sp>
      <p:sp>
        <p:nvSpPr>
          <p:cNvPr id="37" name="Text 35"/>
          <p:cNvSpPr/>
          <p:nvPr/>
        </p:nvSpPr>
        <p:spPr>
          <a:xfrm>
            <a:off x="3402769" y="3112108"/>
            <a:ext cx="2338350"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Security</a:t>
            </a:r>
            <a:endParaRPr lang="en-US" sz="956" dirty="0"/>
          </a:p>
        </p:txBody>
      </p:sp>
      <p:sp>
        <p:nvSpPr>
          <p:cNvPr id="38" name="Text 36"/>
          <p:cNvSpPr/>
          <p:nvPr/>
        </p:nvSpPr>
        <p:spPr>
          <a:xfrm>
            <a:off x="3402769" y="3351423"/>
            <a:ext cx="2338350" cy="329184"/>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bcrypt hashing, HttpOnly sessions, CSP nonces, HSTS 1yr, COOP/CORP/COEP</a:t>
            </a:r>
            <a:endParaRPr lang="en-US" sz="800" dirty="0"/>
          </a:p>
        </p:txBody>
      </p:sp>
      <p:sp>
        <p:nvSpPr>
          <p:cNvPr id="39" name="Text 37"/>
          <p:cNvSpPr/>
          <p:nvPr/>
        </p:nvSpPr>
        <p:spPr>
          <a:xfrm>
            <a:off x="6019726" y="2947801"/>
            <a:ext cx="2667074" cy="1738499"/>
          </a:xfrm>
          <a:prstGeom prst="roundRect">
            <a:avLst>
              <a:gd name="adj" fmla="val 6575"/>
            </a:avLst>
          </a:prstGeom>
          <a:solidFill>
            <a:srgbClr val="111111"/>
          </a:solidFill>
          <a:ln/>
        </p:spPr>
        <p:txBody>
          <a:bodyPr wrap="square" rtlCol="0" anchor="ctr"/>
          <a:lstStyle/>
          <a:p>
            <a:pPr indent="0" marL="0">
              <a:buNone/>
            </a:pPr>
            <a:endParaRPr lang="en-US" dirty="0"/>
          </a:p>
        </p:txBody>
      </p:sp>
      <p:sp>
        <p:nvSpPr>
          <p:cNvPr id="40" name="Shape 38"/>
          <p:cNvSpPr/>
          <p:nvPr/>
        </p:nvSpPr>
        <p:spPr>
          <a:xfrm>
            <a:off x="6019726" y="2958517"/>
            <a:ext cx="2667074" cy="0"/>
          </a:xfrm>
          <a:prstGeom prst="line">
            <a:avLst/>
          </a:prstGeom>
          <a:noFill/>
          <a:ln w="21431">
            <a:solidFill>
              <a:srgbClr val="C9A96E"/>
            </a:solidFill>
            <a:prstDash val="solid"/>
          </a:ln>
        </p:spPr>
      </p:sp>
      <p:sp>
        <p:nvSpPr>
          <p:cNvPr id="41" name="Shape 39"/>
          <p:cNvSpPr/>
          <p:nvPr/>
        </p:nvSpPr>
        <p:spPr>
          <a:xfrm>
            <a:off x="8683228" y="2947801"/>
            <a:ext cx="0" cy="1738499"/>
          </a:xfrm>
          <a:prstGeom prst="line">
            <a:avLst/>
          </a:prstGeom>
          <a:noFill/>
          <a:ln w="7144">
            <a:solidFill>
              <a:srgbClr val="222222"/>
            </a:solidFill>
            <a:prstDash val="solid"/>
          </a:ln>
        </p:spPr>
      </p:sp>
      <p:sp>
        <p:nvSpPr>
          <p:cNvPr id="42" name="Shape 40"/>
          <p:cNvSpPr/>
          <p:nvPr/>
        </p:nvSpPr>
        <p:spPr>
          <a:xfrm>
            <a:off x="6019726" y="4682728"/>
            <a:ext cx="2667074" cy="0"/>
          </a:xfrm>
          <a:prstGeom prst="line">
            <a:avLst/>
          </a:prstGeom>
          <a:noFill/>
          <a:ln w="7144">
            <a:solidFill>
              <a:srgbClr val="222222"/>
            </a:solidFill>
            <a:prstDash val="solid"/>
          </a:ln>
        </p:spPr>
      </p:sp>
      <p:sp>
        <p:nvSpPr>
          <p:cNvPr id="43" name="Shape 41"/>
          <p:cNvSpPr/>
          <p:nvPr/>
        </p:nvSpPr>
        <p:spPr>
          <a:xfrm>
            <a:off x="6023297" y="2947801"/>
            <a:ext cx="0" cy="1738499"/>
          </a:xfrm>
          <a:prstGeom prst="line">
            <a:avLst/>
          </a:prstGeom>
          <a:noFill/>
          <a:ln w="7144">
            <a:solidFill>
              <a:srgbClr val="222222"/>
            </a:solidFill>
            <a:prstDash val="solid"/>
          </a:ln>
        </p:spPr>
      </p:sp>
      <p:sp>
        <p:nvSpPr>
          <p:cNvPr id="44" name="Text 42"/>
          <p:cNvSpPr/>
          <p:nvPr/>
        </p:nvSpPr>
        <p:spPr>
          <a:xfrm>
            <a:off x="6184032" y="3112108"/>
            <a:ext cx="2338462" cy="196739"/>
          </a:xfrm>
          <a:prstGeom prst="rect">
            <a:avLst/>
          </a:prstGeom>
          <a:noFill/>
          <a:ln/>
        </p:spPr>
        <p:txBody>
          <a:bodyPr wrap="none" lIns="0" tIns="0" rIns="0" bIns="0" rtlCol="0" anchor="t"/>
          <a:lstStyle/>
          <a:p>
            <a:pPr algn="l" indent="0" marL="0">
              <a:lnSpc>
                <a:spcPts val="1434"/>
              </a:lnSpc>
              <a:buNone/>
            </a:pPr>
            <a:r>
              <a:rPr lang="en-US" sz="956" dirty="0">
                <a:solidFill>
                  <a:srgbClr val="FFFFFF"/>
                </a:solidFill>
                <a:latin typeface="Carlito" pitchFamily="34" charset="0"/>
                <a:ea typeface="Carlito" pitchFamily="34" charset="-122"/>
                <a:cs typeface="Carlito" pitchFamily="34" charset="-120"/>
              </a:rPr>
              <a:t>Infrastructure</a:t>
            </a:r>
            <a:endParaRPr lang="en-US" sz="956" dirty="0"/>
          </a:p>
        </p:txBody>
      </p:sp>
      <p:sp>
        <p:nvSpPr>
          <p:cNvPr id="45" name="Text 43"/>
          <p:cNvSpPr/>
          <p:nvPr/>
        </p:nvSpPr>
        <p:spPr>
          <a:xfrm>
            <a:off x="6184032" y="3351423"/>
            <a:ext cx="2338462" cy="329184"/>
          </a:xfrm>
          <a:prstGeom prst="rect">
            <a:avLst/>
          </a:prstGeom>
          <a:noFill/>
          <a:ln/>
        </p:spPr>
        <p:txBody>
          <a:bodyPr wrap="square" lIns="0" tIns="0" rIns="0" bIns="0" rtlCol="0" anchor="t"/>
          <a:lstStyle/>
          <a:p>
            <a:pPr algn="l" indent="0" marL="0">
              <a:lnSpc>
                <a:spcPts val="1097"/>
              </a:lnSpc>
              <a:buNone/>
            </a:pPr>
            <a:r>
              <a:rPr lang="en-US" sz="800" dirty="0">
                <a:solidFill>
                  <a:srgbClr val="999999"/>
                </a:solidFill>
                <a:latin typeface="Carlito" pitchFamily="34" charset="0"/>
                <a:ea typeface="Carlito" pitchFamily="34" charset="-122"/>
                <a:cs typeface="Carlito" pitchFamily="34" charset="-120"/>
              </a:rPr>
              <a:t>Docker, K8s, systemd, Nginx TLS, Railway, Render, Fly.io ready</a:t>
            </a:r>
            <a:endParaRPr lang="en-US" sz="800" dirty="0"/>
          </a:p>
        </p:txBody>
      </p:sp>
      <p:sp>
        <p:nvSpPr>
          <p:cNvPr id="46" name="Text 44"/>
          <p:cNvSpPr/>
          <p:nvPr/>
        </p:nvSpPr>
        <p:spPr>
          <a:xfrm>
            <a:off x="8802640" y="4843463"/>
            <a:ext cx="184221" cy="164592"/>
          </a:xfrm>
          <a:prstGeom prst="rect">
            <a:avLst/>
          </a:prstGeom>
          <a:noFill/>
          <a:ln/>
        </p:spPr>
        <p:txBody>
          <a:bodyPr wrap="squar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79" kern="0" dirty="0">
                <a:solidFill>
                  <a:srgbClr val="C9A96E"/>
                </a:solidFill>
                <a:latin typeface="Courier New" pitchFamily="34" charset="0"/>
                <a:ea typeface="Courier New" pitchFamily="34" charset="-122"/>
                <a:cs typeface="Courier New" pitchFamily="34" charset="-120"/>
              </a:rPr>
              <a:t>TECHNOLOGY</a:t>
            </a:r>
            <a:endParaRPr lang="en-US" sz="800" dirty="0"/>
          </a:p>
        </p:txBody>
      </p:sp>
      <p:sp>
        <p:nvSpPr>
          <p:cNvPr id="3" name="Text 1"/>
          <p:cNvSpPr/>
          <p:nvPr/>
        </p:nvSpPr>
        <p:spPr>
          <a:xfrm>
            <a:off x="457200" y="692944"/>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Modern stack, enterprise grade</a:t>
            </a:r>
            <a:endParaRPr lang="en-US" sz="2025" dirty="0"/>
          </a:p>
        </p:txBody>
      </p:sp>
      <p:sp>
        <p:nvSpPr>
          <p:cNvPr id="4" name="Text 2"/>
          <p:cNvSpPr/>
          <p:nvPr/>
        </p:nvSpPr>
        <p:spPr>
          <a:xfrm>
            <a:off x="460772" y="1368028"/>
            <a:ext cx="3993356" cy="3861197"/>
          </a:xfrm>
          <a:prstGeom prst="roundRect">
            <a:avLst>
              <a:gd name="adj" fmla="val 2960"/>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5" name="Shape 3"/>
          <p:cNvSpPr/>
          <p:nvPr/>
        </p:nvSpPr>
        <p:spPr>
          <a:xfrm>
            <a:off x="692944" y="1800225"/>
            <a:ext cx="3529013" cy="0"/>
          </a:xfrm>
          <a:prstGeom prst="line">
            <a:avLst/>
          </a:prstGeom>
          <a:noFill/>
          <a:ln w="7144">
            <a:solidFill>
              <a:srgbClr val="C9A96E"/>
            </a:solidFill>
            <a:prstDash val="solid"/>
          </a:ln>
        </p:spPr>
      </p:sp>
      <p:sp>
        <p:nvSpPr>
          <p:cNvPr id="6" name="Text 4"/>
          <p:cNvSpPr/>
          <p:nvPr/>
        </p:nvSpPr>
        <p:spPr>
          <a:xfrm>
            <a:off x="692944" y="1571625"/>
            <a:ext cx="3529013" cy="274320"/>
          </a:xfrm>
          <a:prstGeom prst="rect">
            <a:avLst/>
          </a:prstGeom>
          <a:noFill/>
          <a:ln/>
        </p:spPr>
        <p:txBody>
          <a:bodyPr wrap="none" lIns="0" tIns="0" rIns="0" bIns="85725" rtlCol="0" anchor="t"/>
          <a:lstStyle/>
          <a:p>
            <a:pPr algn="l" indent="0" marL="0">
              <a:lnSpc>
                <a:spcPts val="1097"/>
              </a:lnSpc>
              <a:buNone/>
            </a:pPr>
            <a:r>
              <a:rPr lang="en-US" sz="800" spc="59" kern="0" dirty="0">
                <a:solidFill>
                  <a:srgbClr val="C9A96E"/>
                </a:solidFill>
                <a:latin typeface="Segoe UI Symbol" pitchFamily="34" charset="0"/>
                <a:ea typeface="Segoe UI Symbol" pitchFamily="34" charset="-122"/>
                <a:cs typeface="Segoe UI Symbol" pitchFamily="34" charset="-120"/>
              </a:rPr>
              <a:t>✦</a:t>
            </a:r>
            <a:pPr algn="l" indent="0" marL="0">
              <a:lnSpc>
                <a:spcPts val="1097"/>
              </a:lnSpc>
              <a:buNone/>
            </a:pPr>
            <a:r>
              <a:rPr lang="en-US" sz="800" spc="59" kern="0" dirty="0">
                <a:solidFill>
                  <a:srgbClr val="C9A96E"/>
                </a:solidFill>
                <a:latin typeface="Courier New" pitchFamily="34" charset="0"/>
                <a:ea typeface="Courier New" pitchFamily="34" charset="-122"/>
                <a:cs typeface="Courier New" pitchFamily="34" charset="-120"/>
              </a:rPr>
              <a:t>FRONTEND &amp; API</a:t>
            </a:r>
            <a:endParaRPr lang="en-US" sz="800" dirty="0"/>
          </a:p>
        </p:txBody>
      </p:sp>
      <p:sp>
        <p:nvSpPr>
          <p:cNvPr id="7" name="Shape 5"/>
          <p:cNvSpPr/>
          <p:nvPr/>
        </p:nvSpPr>
        <p:spPr>
          <a:xfrm>
            <a:off x="692944" y="2286000"/>
            <a:ext cx="3529013" cy="0"/>
          </a:xfrm>
          <a:prstGeom prst="line">
            <a:avLst/>
          </a:prstGeom>
          <a:noFill/>
          <a:ln w="7144">
            <a:solidFill>
              <a:srgbClr val="222222"/>
            </a:solidFill>
            <a:prstDash val="solid"/>
          </a:ln>
        </p:spPr>
      </p:sp>
      <p:sp>
        <p:nvSpPr>
          <p:cNvPr id="8" name="Text 6"/>
          <p:cNvSpPr/>
          <p:nvPr/>
        </p:nvSpPr>
        <p:spPr>
          <a:xfrm>
            <a:off x="692944" y="2096691"/>
            <a:ext cx="57150" cy="57150"/>
          </a:xfrm>
          <a:prstGeom prst="ellipse">
            <a:avLst/>
          </a:prstGeom>
          <a:solidFill>
            <a:srgbClr val="00FF88"/>
          </a:solidFill>
          <a:ln/>
        </p:spPr>
        <p:txBody>
          <a:bodyPr wrap="square" rtlCol="0" anchor="ctr"/>
          <a:lstStyle/>
          <a:p>
            <a:pPr indent="0" marL="0">
              <a:buNone/>
            </a:pPr>
            <a:endParaRPr lang="en-US" dirty="0"/>
          </a:p>
        </p:txBody>
      </p:sp>
      <p:sp>
        <p:nvSpPr>
          <p:cNvPr id="9" name="Text 7"/>
          <p:cNvSpPr/>
          <p:nvPr/>
        </p:nvSpPr>
        <p:spPr>
          <a:xfrm>
            <a:off x="835819" y="20181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Next.js </a:t>
            </a:r>
            <a:pPr algn="l" indent="0" marL="0">
              <a:lnSpc>
                <a:spcPts val="1519"/>
              </a:lnSpc>
              <a:buNone/>
            </a:pPr>
            <a:r>
              <a:rPr lang="en-US" sz="800" dirty="0">
                <a:solidFill>
                  <a:srgbClr val="999999"/>
                </a:solidFill>
                <a:latin typeface="Liberation Sans Narrow" pitchFamily="34" charset="0"/>
                <a:ea typeface="Liberation Sans Narrow" pitchFamily="34" charset="-122"/>
                <a:cs typeface="Liberation Sans Narrow" pitchFamily="34" charset="-120"/>
              </a:rPr>
              <a:t>16.1</a:t>
            </a:r>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 (App Router)</a:t>
            </a:r>
            <a:endParaRPr lang="en-US" sz="1013" dirty="0"/>
          </a:p>
        </p:txBody>
      </p:sp>
      <p:sp>
        <p:nvSpPr>
          <p:cNvPr id="10" name="Shape 8"/>
          <p:cNvSpPr/>
          <p:nvPr/>
        </p:nvSpPr>
        <p:spPr>
          <a:xfrm>
            <a:off x="692944" y="2743200"/>
            <a:ext cx="3529013" cy="0"/>
          </a:xfrm>
          <a:prstGeom prst="line">
            <a:avLst/>
          </a:prstGeom>
          <a:noFill/>
          <a:ln w="7144">
            <a:solidFill>
              <a:srgbClr val="222222"/>
            </a:solidFill>
            <a:prstDash val="solid"/>
          </a:ln>
        </p:spPr>
      </p:sp>
      <p:sp>
        <p:nvSpPr>
          <p:cNvPr id="11" name="Text 9"/>
          <p:cNvSpPr/>
          <p:nvPr/>
        </p:nvSpPr>
        <p:spPr>
          <a:xfrm>
            <a:off x="692944" y="2553891"/>
            <a:ext cx="57150" cy="57150"/>
          </a:xfrm>
          <a:prstGeom prst="ellipse">
            <a:avLst/>
          </a:prstGeom>
          <a:solidFill>
            <a:srgbClr val="00FF88"/>
          </a:solidFill>
          <a:ln/>
        </p:spPr>
        <p:txBody>
          <a:bodyPr wrap="square" rtlCol="0" anchor="ctr"/>
          <a:lstStyle/>
          <a:p>
            <a:pPr indent="0" marL="0">
              <a:buNone/>
            </a:pPr>
            <a:endParaRPr lang="en-US" dirty="0"/>
          </a:p>
        </p:txBody>
      </p:sp>
      <p:sp>
        <p:nvSpPr>
          <p:cNvPr id="12" name="Text 10"/>
          <p:cNvSpPr/>
          <p:nvPr/>
        </p:nvSpPr>
        <p:spPr>
          <a:xfrm>
            <a:off x="835819" y="24753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React </a:t>
            </a:r>
            <a:pPr algn="l" indent="0" marL="0">
              <a:lnSpc>
                <a:spcPts val="1519"/>
              </a:lnSpc>
              <a:buNone/>
            </a:pPr>
            <a:r>
              <a:rPr lang="en-US" sz="800" dirty="0">
                <a:solidFill>
                  <a:srgbClr val="999999"/>
                </a:solidFill>
                <a:latin typeface="Liberation Sans Narrow" pitchFamily="34" charset="0"/>
                <a:ea typeface="Liberation Sans Narrow" pitchFamily="34" charset="-122"/>
                <a:cs typeface="Liberation Sans Narrow" pitchFamily="34" charset="-120"/>
              </a:rPr>
              <a:t>19</a:t>
            </a:r>
            <a:endParaRPr lang="en-US" sz="1013" dirty="0"/>
          </a:p>
        </p:txBody>
      </p:sp>
      <p:sp>
        <p:nvSpPr>
          <p:cNvPr id="13" name="Shape 11"/>
          <p:cNvSpPr/>
          <p:nvPr/>
        </p:nvSpPr>
        <p:spPr>
          <a:xfrm>
            <a:off x="692944" y="3200400"/>
            <a:ext cx="3529013" cy="0"/>
          </a:xfrm>
          <a:prstGeom prst="line">
            <a:avLst/>
          </a:prstGeom>
          <a:noFill/>
          <a:ln w="7144">
            <a:solidFill>
              <a:srgbClr val="222222"/>
            </a:solidFill>
            <a:prstDash val="solid"/>
          </a:ln>
        </p:spPr>
      </p:sp>
      <p:sp>
        <p:nvSpPr>
          <p:cNvPr id="14" name="Text 12"/>
          <p:cNvSpPr/>
          <p:nvPr/>
        </p:nvSpPr>
        <p:spPr>
          <a:xfrm>
            <a:off x="692944" y="3011091"/>
            <a:ext cx="57150" cy="57150"/>
          </a:xfrm>
          <a:prstGeom prst="ellipse">
            <a:avLst/>
          </a:prstGeom>
          <a:solidFill>
            <a:srgbClr val="00FF88"/>
          </a:solidFill>
          <a:ln/>
        </p:spPr>
        <p:txBody>
          <a:bodyPr wrap="square" rtlCol="0" anchor="ctr"/>
          <a:lstStyle/>
          <a:p>
            <a:pPr indent="0" marL="0">
              <a:buNone/>
            </a:pPr>
            <a:endParaRPr lang="en-US" dirty="0"/>
          </a:p>
        </p:txBody>
      </p:sp>
      <p:sp>
        <p:nvSpPr>
          <p:cNvPr id="15" name="Text 13"/>
          <p:cNvSpPr/>
          <p:nvPr/>
        </p:nvSpPr>
        <p:spPr>
          <a:xfrm>
            <a:off x="835819" y="29325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TypeScript </a:t>
            </a:r>
            <a:pPr algn="l" indent="0" marL="0">
              <a:lnSpc>
                <a:spcPts val="1519"/>
              </a:lnSpc>
              <a:buNone/>
            </a:pPr>
            <a:r>
              <a:rPr lang="en-US" sz="800" dirty="0">
                <a:solidFill>
                  <a:srgbClr val="999999"/>
                </a:solidFill>
                <a:latin typeface="Courier New" pitchFamily="34" charset="0"/>
                <a:ea typeface="Courier New" pitchFamily="34" charset="-122"/>
                <a:cs typeface="Courier New" pitchFamily="34" charset="-120"/>
              </a:rPr>
              <a:t>(strict mode)</a:t>
            </a:r>
            <a:endParaRPr lang="en-US" sz="1013" dirty="0"/>
          </a:p>
        </p:txBody>
      </p:sp>
      <p:sp>
        <p:nvSpPr>
          <p:cNvPr id="16" name="Shape 14"/>
          <p:cNvSpPr/>
          <p:nvPr/>
        </p:nvSpPr>
        <p:spPr>
          <a:xfrm>
            <a:off x="692944" y="3657600"/>
            <a:ext cx="3529013" cy="0"/>
          </a:xfrm>
          <a:prstGeom prst="line">
            <a:avLst/>
          </a:prstGeom>
          <a:noFill/>
          <a:ln w="7144">
            <a:solidFill>
              <a:srgbClr val="222222"/>
            </a:solidFill>
            <a:prstDash val="solid"/>
          </a:ln>
        </p:spPr>
      </p:sp>
      <p:sp>
        <p:nvSpPr>
          <p:cNvPr id="17" name="Text 15"/>
          <p:cNvSpPr/>
          <p:nvPr/>
        </p:nvSpPr>
        <p:spPr>
          <a:xfrm>
            <a:off x="692944" y="3468291"/>
            <a:ext cx="57150" cy="57150"/>
          </a:xfrm>
          <a:prstGeom prst="ellipse">
            <a:avLst/>
          </a:prstGeom>
          <a:solidFill>
            <a:srgbClr val="00FF88"/>
          </a:solidFill>
          <a:ln/>
        </p:spPr>
        <p:txBody>
          <a:bodyPr wrap="square" rtlCol="0" anchor="ctr"/>
          <a:lstStyle/>
          <a:p>
            <a:pPr indent="0" marL="0">
              <a:buNone/>
            </a:pPr>
            <a:endParaRPr lang="en-US" dirty="0"/>
          </a:p>
        </p:txBody>
      </p:sp>
      <p:sp>
        <p:nvSpPr>
          <p:cNvPr id="18" name="Text 16"/>
          <p:cNvSpPr/>
          <p:nvPr/>
        </p:nvSpPr>
        <p:spPr>
          <a:xfrm>
            <a:off x="835819" y="33897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Tailwind CSS </a:t>
            </a:r>
            <a:pPr algn="l" indent="0" marL="0">
              <a:lnSpc>
                <a:spcPts val="1519"/>
              </a:lnSpc>
              <a:buNone/>
            </a:pPr>
            <a:r>
              <a:rPr lang="en-US" sz="800" dirty="0">
                <a:solidFill>
                  <a:srgbClr val="999999"/>
                </a:solidFill>
                <a:latin typeface="Liberation Sans Narrow" pitchFamily="34" charset="0"/>
                <a:ea typeface="Liberation Sans Narrow" pitchFamily="34" charset="-122"/>
                <a:cs typeface="Liberation Sans Narrow" pitchFamily="34" charset="-120"/>
              </a:rPr>
              <a:t>4</a:t>
            </a:r>
            <a:endParaRPr lang="en-US" sz="1013" dirty="0"/>
          </a:p>
        </p:txBody>
      </p:sp>
      <p:sp>
        <p:nvSpPr>
          <p:cNvPr id="19" name="Shape 17"/>
          <p:cNvSpPr/>
          <p:nvPr/>
        </p:nvSpPr>
        <p:spPr>
          <a:xfrm>
            <a:off x="692944" y="4114800"/>
            <a:ext cx="3529013" cy="0"/>
          </a:xfrm>
          <a:prstGeom prst="line">
            <a:avLst/>
          </a:prstGeom>
          <a:noFill/>
          <a:ln w="7144">
            <a:solidFill>
              <a:srgbClr val="222222"/>
            </a:solidFill>
            <a:prstDash val="solid"/>
          </a:ln>
        </p:spPr>
      </p:sp>
      <p:sp>
        <p:nvSpPr>
          <p:cNvPr id="20" name="Text 18"/>
          <p:cNvSpPr/>
          <p:nvPr/>
        </p:nvSpPr>
        <p:spPr>
          <a:xfrm>
            <a:off x="692944" y="3925491"/>
            <a:ext cx="57150" cy="57150"/>
          </a:xfrm>
          <a:prstGeom prst="ellipse">
            <a:avLst/>
          </a:prstGeom>
          <a:solidFill>
            <a:srgbClr val="00FF88"/>
          </a:solidFill>
          <a:ln/>
        </p:spPr>
        <p:txBody>
          <a:bodyPr wrap="square" rtlCol="0" anchor="ctr"/>
          <a:lstStyle/>
          <a:p>
            <a:pPr indent="0" marL="0">
              <a:buNone/>
            </a:pPr>
            <a:endParaRPr lang="en-US" dirty="0"/>
          </a:p>
        </p:txBody>
      </p:sp>
      <p:sp>
        <p:nvSpPr>
          <p:cNvPr id="21" name="Text 19"/>
          <p:cNvSpPr/>
          <p:nvPr/>
        </p:nvSpPr>
        <p:spPr>
          <a:xfrm>
            <a:off x="835819" y="38469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Prisma </a:t>
            </a:r>
            <a:pPr algn="l" indent="0" marL="0">
              <a:lnSpc>
                <a:spcPts val="1519"/>
              </a:lnSpc>
              <a:buNone/>
            </a:pPr>
            <a:r>
              <a:rPr lang="en-US" sz="800" dirty="0">
                <a:solidFill>
                  <a:srgbClr val="999999"/>
                </a:solidFill>
                <a:latin typeface="Liberation Sans Narrow" pitchFamily="34" charset="0"/>
                <a:ea typeface="Liberation Sans Narrow" pitchFamily="34" charset="-122"/>
                <a:cs typeface="Liberation Sans Narrow" pitchFamily="34" charset="-120"/>
              </a:rPr>
              <a:t>6.11</a:t>
            </a:r>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 ORM</a:t>
            </a:r>
            <a:endParaRPr lang="en-US" sz="1013" dirty="0"/>
          </a:p>
        </p:txBody>
      </p:sp>
      <p:sp>
        <p:nvSpPr>
          <p:cNvPr id="22" name="Shape 20"/>
          <p:cNvSpPr/>
          <p:nvPr/>
        </p:nvSpPr>
        <p:spPr>
          <a:xfrm>
            <a:off x="692944" y="4572000"/>
            <a:ext cx="3529013" cy="0"/>
          </a:xfrm>
          <a:prstGeom prst="line">
            <a:avLst/>
          </a:prstGeom>
          <a:noFill/>
          <a:ln w="7144">
            <a:solidFill>
              <a:srgbClr val="222222"/>
            </a:solidFill>
            <a:prstDash val="solid"/>
          </a:ln>
        </p:spPr>
      </p:sp>
      <p:sp>
        <p:nvSpPr>
          <p:cNvPr id="23" name="Text 21"/>
          <p:cNvSpPr/>
          <p:nvPr/>
        </p:nvSpPr>
        <p:spPr>
          <a:xfrm>
            <a:off x="692944" y="4382691"/>
            <a:ext cx="57150" cy="57150"/>
          </a:xfrm>
          <a:prstGeom prst="ellipse">
            <a:avLst/>
          </a:prstGeom>
          <a:solidFill>
            <a:srgbClr val="00FF88"/>
          </a:solidFill>
          <a:ln/>
        </p:spPr>
        <p:txBody>
          <a:bodyPr wrap="square" rtlCol="0" anchor="ctr"/>
          <a:lstStyle/>
          <a:p>
            <a:pPr indent="0" marL="0">
              <a:buNone/>
            </a:pPr>
            <a:endParaRPr lang="en-US" dirty="0"/>
          </a:p>
        </p:txBody>
      </p:sp>
      <p:sp>
        <p:nvSpPr>
          <p:cNvPr id="24" name="Text 22"/>
          <p:cNvSpPr/>
          <p:nvPr/>
        </p:nvSpPr>
        <p:spPr>
          <a:xfrm>
            <a:off x="835819" y="43041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Framer Motion animations</a:t>
            </a:r>
            <a:endParaRPr lang="en-US" sz="1013" dirty="0"/>
          </a:p>
        </p:txBody>
      </p:sp>
      <p:sp>
        <p:nvSpPr>
          <p:cNvPr id="25" name="Text 23"/>
          <p:cNvSpPr/>
          <p:nvPr/>
        </p:nvSpPr>
        <p:spPr>
          <a:xfrm>
            <a:off x="692944" y="4839891"/>
            <a:ext cx="57150" cy="57150"/>
          </a:xfrm>
          <a:prstGeom prst="ellipse">
            <a:avLst/>
          </a:prstGeom>
          <a:solidFill>
            <a:srgbClr val="00FF88"/>
          </a:solidFill>
          <a:ln/>
        </p:spPr>
        <p:txBody>
          <a:bodyPr wrap="square" rtlCol="0" anchor="ctr"/>
          <a:lstStyle/>
          <a:p>
            <a:pPr indent="0" marL="0">
              <a:buNone/>
            </a:pPr>
            <a:endParaRPr lang="en-US" dirty="0"/>
          </a:p>
        </p:txBody>
      </p:sp>
      <p:sp>
        <p:nvSpPr>
          <p:cNvPr id="26" name="Text 24"/>
          <p:cNvSpPr/>
          <p:nvPr/>
        </p:nvSpPr>
        <p:spPr>
          <a:xfrm>
            <a:off x="835819" y="4761309"/>
            <a:ext cx="3386138" cy="208312"/>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Radix UI components</a:t>
            </a:r>
            <a:endParaRPr lang="en-US" sz="1013" dirty="0"/>
          </a:p>
        </p:txBody>
      </p:sp>
      <p:sp>
        <p:nvSpPr>
          <p:cNvPr id="27" name="Text 25"/>
          <p:cNvSpPr/>
          <p:nvPr/>
        </p:nvSpPr>
        <p:spPr>
          <a:xfrm>
            <a:off x="4689872" y="1368028"/>
            <a:ext cx="3993356" cy="3861197"/>
          </a:xfrm>
          <a:prstGeom prst="roundRect">
            <a:avLst>
              <a:gd name="adj" fmla="val 2960"/>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28" name="Shape 26"/>
          <p:cNvSpPr/>
          <p:nvPr/>
        </p:nvSpPr>
        <p:spPr>
          <a:xfrm>
            <a:off x="4922044" y="1800225"/>
            <a:ext cx="3529013" cy="0"/>
          </a:xfrm>
          <a:prstGeom prst="line">
            <a:avLst/>
          </a:prstGeom>
          <a:noFill/>
          <a:ln w="7144">
            <a:solidFill>
              <a:srgbClr val="C9A96E"/>
            </a:solidFill>
            <a:prstDash val="solid"/>
          </a:ln>
        </p:spPr>
      </p:sp>
      <p:sp>
        <p:nvSpPr>
          <p:cNvPr id="29" name="Text 27"/>
          <p:cNvSpPr/>
          <p:nvPr/>
        </p:nvSpPr>
        <p:spPr>
          <a:xfrm>
            <a:off x="4922044" y="1571625"/>
            <a:ext cx="3638740" cy="274320"/>
          </a:xfrm>
          <a:prstGeom prst="rect">
            <a:avLst/>
          </a:prstGeom>
          <a:noFill/>
          <a:ln/>
        </p:spPr>
        <p:txBody>
          <a:bodyPr wrap="square" lIns="0" tIns="0" rIns="0" bIns="85725" rtlCol="0" anchor="t"/>
          <a:lstStyle/>
          <a:p>
            <a:pPr algn="l" indent="0" marL="0">
              <a:lnSpc>
                <a:spcPts val="1097"/>
              </a:lnSpc>
              <a:buNone/>
            </a:pPr>
            <a:r>
              <a:rPr lang="en-US" sz="800" spc="59" kern="0" dirty="0">
                <a:solidFill>
                  <a:srgbClr val="C9A96E"/>
                </a:solidFill>
                <a:latin typeface="Segoe UI Symbol" pitchFamily="34" charset="0"/>
                <a:ea typeface="Segoe UI Symbol" pitchFamily="34" charset="-122"/>
                <a:cs typeface="Segoe UI Symbol" pitchFamily="34" charset="-120"/>
              </a:rPr>
              <a:t>⛨</a:t>
            </a:r>
            <a:pPr algn="l" indent="0" marL="0">
              <a:lnSpc>
                <a:spcPts val="1097"/>
              </a:lnSpc>
              <a:buNone/>
            </a:pPr>
            <a:r>
              <a:rPr lang="en-US" sz="800" spc="59" kern="0" dirty="0">
                <a:solidFill>
                  <a:srgbClr val="C9A96E"/>
                </a:solidFill>
                <a:latin typeface="Courier New" pitchFamily="34" charset="0"/>
                <a:ea typeface="Courier New" pitchFamily="34" charset="-122"/>
                <a:cs typeface="Courier New" pitchFamily="34" charset="-120"/>
              </a:rPr>
              <a:t>SECURITY &amp; INFRASTRUCTURE</a:t>
            </a:r>
            <a:endParaRPr lang="en-US" sz="800" dirty="0"/>
          </a:p>
        </p:txBody>
      </p:sp>
      <p:sp>
        <p:nvSpPr>
          <p:cNvPr id="30" name="Shape 28"/>
          <p:cNvSpPr/>
          <p:nvPr/>
        </p:nvSpPr>
        <p:spPr>
          <a:xfrm>
            <a:off x="4922044" y="2286000"/>
            <a:ext cx="3529013" cy="0"/>
          </a:xfrm>
          <a:prstGeom prst="line">
            <a:avLst/>
          </a:prstGeom>
          <a:noFill/>
          <a:ln w="7144">
            <a:solidFill>
              <a:srgbClr val="222222"/>
            </a:solidFill>
            <a:prstDash val="solid"/>
          </a:ln>
        </p:spPr>
      </p:sp>
      <p:sp>
        <p:nvSpPr>
          <p:cNvPr id="31" name="Text 29"/>
          <p:cNvSpPr/>
          <p:nvPr/>
        </p:nvSpPr>
        <p:spPr>
          <a:xfrm>
            <a:off x="4922044" y="2096691"/>
            <a:ext cx="57150" cy="57150"/>
          </a:xfrm>
          <a:prstGeom prst="ellipse">
            <a:avLst/>
          </a:prstGeom>
          <a:solidFill>
            <a:srgbClr val="00FF88"/>
          </a:solidFill>
          <a:ln/>
        </p:spPr>
        <p:txBody>
          <a:bodyPr wrap="square" rtlCol="0" anchor="ctr"/>
          <a:lstStyle/>
          <a:p>
            <a:pPr indent="0" marL="0">
              <a:buNone/>
            </a:pPr>
            <a:endParaRPr lang="en-US" dirty="0"/>
          </a:p>
        </p:txBody>
      </p:sp>
      <p:sp>
        <p:nvSpPr>
          <p:cNvPr id="32" name="Text 30"/>
          <p:cNvSpPr/>
          <p:nvPr/>
        </p:nvSpPr>
        <p:spPr>
          <a:xfrm>
            <a:off x="5064919" y="20181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bcryptjs password hashing</a:t>
            </a:r>
            <a:endParaRPr lang="en-US" sz="1013" dirty="0"/>
          </a:p>
        </p:txBody>
      </p:sp>
      <p:sp>
        <p:nvSpPr>
          <p:cNvPr id="33" name="Shape 31"/>
          <p:cNvSpPr/>
          <p:nvPr/>
        </p:nvSpPr>
        <p:spPr>
          <a:xfrm>
            <a:off x="4922044" y="2743200"/>
            <a:ext cx="3529013" cy="0"/>
          </a:xfrm>
          <a:prstGeom prst="line">
            <a:avLst/>
          </a:prstGeom>
          <a:noFill/>
          <a:ln w="7144">
            <a:solidFill>
              <a:srgbClr val="222222"/>
            </a:solidFill>
            <a:prstDash val="solid"/>
          </a:ln>
        </p:spPr>
      </p:sp>
      <p:sp>
        <p:nvSpPr>
          <p:cNvPr id="34" name="Text 32"/>
          <p:cNvSpPr/>
          <p:nvPr/>
        </p:nvSpPr>
        <p:spPr>
          <a:xfrm>
            <a:off x="4922044" y="2553891"/>
            <a:ext cx="57150" cy="57150"/>
          </a:xfrm>
          <a:prstGeom prst="ellipse">
            <a:avLst/>
          </a:prstGeom>
          <a:solidFill>
            <a:srgbClr val="00FF88"/>
          </a:solidFill>
          <a:ln/>
        </p:spPr>
        <p:txBody>
          <a:bodyPr wrap="square" rtlCol="0" anchor="ctr"/>
          <a:lstStyle/>
          <a:p>
            <a:pPr indent="0" marL="0">
              <a:buNone/>
            </a:pPr>
            <a:endParaRPr lang="en-US" dirty="0"/>
          </a:p>
        </p:txBody>
      </p:sp>
      <p:sp>
        <p:nvSpPr>
          <p:cNvPr id="35" name="Text 33"/>
          <p:cNvSpPr/>
          <p:nvPr/>
        </p:nvSpPr>
        <p:spPr>
          <a:xfrm>
            <a:off x="5064919" y="24753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Liberation Sans Narrow" pitchFamily="34" charset="0"/>
                <a:ea typeface="Liberation Sans Narrow" pitchFamily="34" charset="-122"/>
                <a:cs typeface="Liberation Sans Narrow" pitchFamily="34" charset="-120"/>
              </a:rPr>
              <a:t>Ed25519 cryptographic attestations</a:t>
            </a:r>
            <a:endParaRPr lang="en-US" sz="1013" dirty="0"/>
          </a:p>
        </p:txBody>
      </p:sp>
      <p:sp>
        <p:nvSpPr>
          <p:cNvPr id="36" name="Shape 34"/>
          <p:cNvSpPr/>
          <p:nvPr/>
        </p:nvSpPr>
        <p:spPr>
          <a:xfrm>
            <a:off x="4922044" y="3200400"/>
            <a:ext cx="3529013" cy="0"/>
          </a:xfrm>
          <a:prstGeom prst="line">
            <a:avLst/>
          </a:prstGeom>
          <a:noFill/>
          <a:ln w="7144">
            <a:solidFill>
              <a:srgbClr val="222222"/>
            </a:solidFill>
            <a:prstDash val="solid"/>
          </a:ln>
        </p:spPr>
      </p:sp>
      <p:sp>
        <p:nvSpPr>
          <p:cNvPr id="37" name="Text 35"/>
          <p:cNvSpPr/>
          <p:nvPr/>
        </p:nvSpPr>
        <p:spPr>
          <a:xfrm>
            <a:off x="4922044" y="3011091"/>
            <a:ext cx="57150" cy="57150"/>
          </a:xfrm>
          <a:prstGeom prst="ellipse">
            <a:avLst/>
          </a:prstGeom>
          <a:solidFill>
            <a:srgbClr val="00FF88"/>
          </a:solidFill>
          <a:ln/>
        </p:spPr>
        <p:txBody>
          <a:bodyPr wrap="square" rtlCol="0" anchor="ctr"/>
          <a:lstStyle/>
          <a:p>
            <a:pPr indent="0" marL="0">
              <a:buNone/>
            </a:pPr>
            <a:endParaRPr lang="en-US" dirty="0"/>
          </a:p>
        </p:txBody>
      </p:sp>
      <p:sp>
        <p:nvSpPr>
          <p:cNvPr id="38" name="Text 36"/>
          <p:cNvSpPr/>
          <p:nvPr/>
        </p:nvSpPr>
        <p:spPr>
          <a:xfrm>
            <a:off x="5064919" y="29325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Liberation Sans Narrow" pitchFamily="34" charset="0"/>
                <a:ea typeface="Liberation Sans Narrow" pitchFamily="34" charset="-122"/>
                <a:cs typeface="Liberation Sans Narrow" pitchFamily="34" charset="-120"/>
              </a:rPr>
              <a:t>SHA-256 API key hashing</a:t>
            </a:r>
            <a:endParaRPr lang="en-US" sz="1013" dirty="0"/>
          </a:p>
        </p:txBody>
      </p:sp>
      <p:sp>
        <p:nvSpPr>
          <p:cNvPr id="39" name="Shape 37"/>
          <p:cNvSpPr/>
          <p:nvPr/>
        </p:nvSpPr>
        <p:spPr>
          <a:xfrm>
            <a:off x="4922044" y="3657600"/>
            <a:ext cx="3529013" cy="0"/>
          </a:xfrm>
          <a:prstGeom prst="line">
            <a:avLst/>
          </a:prstGeom>
          <a:noFill/>
          <a:ln w="7144">
            <a:solidFill>
              <a:srgbClr val="222222"/>
            </a:solidFill>
            <a:prstDash val="solid"/>
          </a:ln>
        </p:spPr>
      </p:sp>
      <p:sp>
        <p:nvSpPr>
          <p:cNvPr id="40" name="Text 38"/>
          <p:cNvSpPr/>
          <p:nvPr/>
        </p:nvSpPr>
        <p:spPr>
          <a:xfrm>
            <a:off x="4922044" y="3468291"/>
            <a:ext cx="57150" cy="57150"/>
          </a:xfrm>
          <a:prstGeom prst="ellipse">
            <a:avLst/>
          </a:prstGeom>
          <a:solidFill>
            <a:srgbClr val="00FF88"/>
          </a:solidFill>
          <a:ln/>
        </p:spPr>
        <p:txBody>
          <a:bodyPr wrap="square" rtlCol="0" anchor="ctr"/>
          <a:lstStyle/>
          <a:p>
            <a:pPr indent="0" marL="0">
              <a:buNone/>
            </a:pPr>
            <a:endParaRPr lang="en-US" dirty="0"/>
          </a:p>
        </p:txBody>
      </p:sp>
      <p:sp>
        <p:nvSpPr>
          <p:cNvPr id="41" name="Text 39"/>
          <p:cNvSpPr/>
          <p:nvPr/>
        </p:nvSpPr>
        <p:spPr>
          <a:xfrm>
            <a:off x="5064919" y="33897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SSRF guard </a:t>
            </a:r>
            <a:pPr algn="l" indent="0" marL="0">
              <a:lnSpc>
                <a:spcPts val="1519"/>
              </a:lnSpc>
              <a:buNone/>
            </a:pPr>
            <a:r>
              <a:rPr lang="en-US" sz="800" dirty="0">
                <a:solidFill>
                  <a:srgbClr val="999999"/>
                </a:solidFill>
                <a:latin typeface="Liberation Sans Narrow" pitchFamily="34" charset="0"/>
                <a:ea typeface="Liberation Sans Narrow" pitchFamily="34" charset="-122"/>
                <a:cs typeface="Liberation Sans Narrow" pitchFamily="34" charset="-120"/>
              </a:rPr>
              <a:t>(IPv4 + IPv6)</a:t>
            </a:r>
            <a:endParaRPr lang="en-US" sz="1013" dirty="0"/>
          </a:p>
        </p:txBody>
      </p:sp>
      <p:sp>
        <p:nvSpPr>
          <p:cNvPr id="42" name="Shape 40"/>
          <p:cNvSpPr/>
          <p:nvPr/>
        </p:nvSpPr>
        <p:spPr>
          <a:xfrm>
            <a:off x="4922044" y="4114800"/>
            <a:ext cx="3529013" cy="0"/>
          </a:xfrm>
          <a:prstGeom prst="line">
            <a:avLst/>
          </a:prstGeom>
          <a:noFill/>
          <a:ln w="7144">
            <a:solidFill>
              <a:srgbClr val="222222"/>
            </a:solidFill>
            <a:prstDash val="solid"/>
          </a:ln>
        </p:spPr>
      </p:sp>
      <p:sp>
        <p:nvSpPr>
          <p:cNvPr id="43" name="Text 41"/>
          <p:cNvSpPr/>
          <p:nvPr/>
        </p:nvSpPr>
        <p:spPr>
          <a:xfrm>
            <a:off x="4922044" y="3925491"/>
            <a:ext cx="57150" cy="57150"/>
          </a:xfrm>
          <a:prstGeom prst="ellipse">
            <a:avLst/>
          </a:prstGeom>
          <a:solidFill>
            <a:srgbClr val="00FF88"/>
          </a:solidFill>
          <a:ln/>
        </p:spPr>
        <p:txBody>
          <a:bodyPr wrap="square" rtlCol="0" anchor="ctr"/>
          <a:lstStyle/>
          <a:p>
            <a:pPr indent="0" marL="0">
              <a:buNone/>
            </a:pPr>
            <a:endParaRPr lang="en-US" dirty="0"/>
          </a:p>
        </p:txBody>
      </p:sp>
      <p:sp>
        <p:nvSpPr>
          <p:cNvPr id="44" name="Text 42"/>
          <p:cNvSpPr/>
          <p:nvPr/>
        </p:nvSpPr>
        <p:spPr>
          <a:xfrm>
            <a:off x="5064919" y="38469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Content Security Policy with nonces</a:t>
            </a:r>
            <a:endParaRPr lang="en-US" sz="1013" dirty="0"/>
          </a:p>
        </p:txBody>
      </p:sp>
      <p:sp>
        <p:nvSpPr>
          <p:cNvPr id="45" name="Shape 43"/>
          <p:cNvSpPr/>
          <p:nvPr/>
        </p:nvSpPr>
        <p:spPr>
          <a:xfrm>
            <a:off x="4922044" y="4572000"/>
            <a:ext cx="3529013" cy="0"/>
          </a:xfrm>
          <a:prstGeom prst="line">
            <a:avLst/>
          </a:prstGeom>
          <a:noFill/>
          <a:ln w="7144">
            <a:solidFill>
              <a:srgbClr val="222222"/>
            </a:solidFill>
            <a:prstDash val="solid"/>
          </a:ln>
        </p:spPr>
      </p:sp>
      <p:sp>
        <p:nvSpPr>
          <p:cNvPr id="46" name="Text 44"/>
          <p:cNvSpPr/>
          <p:nvPr/>
        </p:nvSpPr>
        <p:spPr>
          <a:xfrm>
            <a:off x="4922044" y="4382691"/>
            <a:ext cx="57150" cy="57150"/>
          </a:xfrm>
          <a:prstGeom prst="ellipse">
            <a:avLst/>
          </a:prstGeom>
          <a:solidFill>
            <a:srgbClr val="00FF88"/>
          </a:solidFill>
          <a:ln/>
        </p:spPr>
        <p:txBody>
          <a:bodyPr wrap="square" rtlCol="0" anchor="ctr"/>
          <a:lstStyle/>
          <a:p>
            <a:pPr indent="0" marL="0">
              <a:buNone/>
            </a:pPr>
            <a:endParaRPr lang="en-US" dirty="0"/>
          </a:p>
        </p:txBody>
      </p:sp>
      <p:sp>
        <p:nvSpPr>
          <p:cNvPr id="47" name="Text 45"/>
          <p:cNvSpPr/>
          <p:nvPr/>
        </p:nvSpPr>
        <p:spPr>
          <a:xfrm>
            <a:off x="5064919" y="4304109"/>
            <a:ext cx="3386138" cy="192881"/>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Docker multi-stage builds</a:t>
            </a:r>
            <a:endParaRPr lang="en-US" sz="1013" dirty="0"/>
          </a:p>
        </p:txBody>
      </p:sp>
      <p:sp>
        <p:nvSpPr>
          <p:cNvPr id="48" name="Text 46"/>
          <p:cNvSpPr/>
          <p:nvPr/>
        </p:nvSpPr>
        <p:spPr>
          <a:xfrm>
            <a:off x="4922044" y="4839891"/>
            <a:ext cx="57150" cy="57150"/>
          </a:xfrm>
          <a:prstGeom prst="ellipse">
            <a:avLst/>
          </a:prstGeom>
          <a:solidFill>
            <a:srgbClr val="00FF88"/>
          </a:solidFill>
          <a:ln/>
        </p:spPr>
        <p:txBody>
          <a:bodyPr wrap="square" rtlCol="0" anchor="ctr"/>
          <a:lstStyle/>
          <a:p>
            <a:pPr indent="0" marL="0">
              <a:buNone/>
            </a:pPr>
            <a:endParaRPr lang="en-US" dirty="0"/>
          </a:p>
        </p:txBody>
      </p:sp>
      <p:sp>
        <p:nvSpPr>
          <p:cNvPr id="49" name="Text 47"/>
          <p:cNvSpPr/>
          <p:nvPr/>
        </p:nvSpPr>
        <p:spPr>
          <a:xfrm>
            <a:off x="5064919" y="4761309"/>
            <a:ext cx="3386138" cy="208312"/>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Kubernetes manifests</a:t>
            </a:r>
            <a:endParaRPr lang="en-US" sz="1013" dirty="0"/>
          </a:p>
        </p:txBody>
      </p:sp>
      <p:sp>
        <p:nvSpPr>
          <p:cNvPr id="50" name="Text 48"/>
          <p:cNvSpPr/>
          <p:nvPr/>
        </p:nvSpPr>
        <p:spPr>
          <a:xfrm>
            <a:off x="203925" y="5389959"/>
            <a:ext cx="775269" cy="91440"/>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51" name="Text 49"/>
          <p:cNvSpPr/>
          <p:nvPr/>
        </p:nvSpPr>
        <p:spPr>
          <a:xfrm>
            <a:off x="8554083" y="5389959"/>
            <a:ext cx="491392" cy="91440"/>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79" kern="0" dirty="0">
                <a:solidFill>
                  <a:srgbClr val="C9A96E"/>
                </a:solidFill>
                <a:latin typeface="Courier New" pitchFamily="34" charset="0"/>
                <a:ea typeface="Courier New" pitchFamily="34" charset="-122"/>
                <a:cs typeface="Courier New" pitchFamily="34" charset="-120"/>
              </a:rPr>
              <a:t>SCANNER ENGINE</a:t>
            </a:r>
            <a:endParaRPr lang="en-US" sz="800" dirty="0"/>
          </a:p>
        </p:txBody>
      </p:sp>
      <p:sp>
        <p:nvSpPr>
          <p:cNvPr id="3" name="Text 1"/>
          <p:cNvSpPr/>
          <p:nvPr/>
        </p:nvSpPr>
        <p:spPr>
          <a:xfrm>
            <a:off x="457200" y="692944"/>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15 scanner modules. One unified view.</a:t>
            </a:r>
            <a:endParaRPr lang="en-US" sz="2025" dirty="0"/>
          </a:p>
        </p:txBody>
      </p:sp>
      <p:sp>
        <p:nvSpPr>
          <p:cNvPr id="4" name="Text 2"/>
          <p:cNvSpPr/>
          <p:nvPr/>
        </p:nvSpPr>
        <p:spPr>
          <a:xfrm>
            <a:off x="457200" y="1307306"/>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5" name="Shape 3"/>
          <p:cNvSpPr/>
          <p:nvPr/>
        </p:nvSpPr>
        <p:spPr>
          <a:xfrm>
            <a:off x="457200" y="1314450"/>
            <a:ext cx="1577318" cy="0"/>
          </a:xfrm>
          <a:prstGeom prst="line">
            <a:avLst/>
          </a:prstGeom>
          <a:noFill/>
          <a:ln w="14288">
            <a:solidFill>
              <a:srgbClr val="C9A96E"/>
            </a:solidFill>
            <a:prstDash val="solid"/>
          </a:ln>
        </p:spPr>
      </p:sp>
      <p:sp>
        <p:nvSpPr>
          <p:cNvPr id="6" name="Shape 4"/>
          <p:cNvSpPr/>
          <p:nvPr/>
        </p:nvSpPr>
        <p:spPr>
          <a:xfrm>
            <a:off x="2030946" y="1307306"/>
            <a:ext cx="0" cy="858366"/>
          </a:xfrm>
          <a:prstGeom prst="line">
            <a:avLst/>
          </a:prstGeom>
          <a:noFill/>
          <a:ln w="7144">
            <a:solidFill>
              <a:srgbClr val="222222"/>
            </a:solidFill>
            <a:prstDash val="solid"/>
          </a:ln>
        </p:spPr>
      </p:sp>
      <p:sp>
        <p:nvSpPr>
          <p:cNvPr id="7" name="Shape 5"/>
          <p:cNvSpPr/>
          <p:nvPr/>
        </p:nvSpPr>
        <p:spPr>
          <a:xfrm>
            <a:off x="457200" y="2162101"/>
            <a:ext cx="1577318" cy="0"/>
          </a:xfrm>
          <a:prstGeom prst="line">
            <a:avLst/>
          </a:prstGeom>
          <a:noFill/>
          <a:ln w="7144">
            <a:solidFill>
              <a:srgbClr val="222222"/>
            </a:solidFill>
            <a:prstDash val="solid"/>
          </a:ln>
        </p:spPr>
      </p:sp>
      <p:sp>
        <p:nvSpPr>
          <p:cNvPr id="8" name="Shape 6"/>
          <p:cNvSpPr/>
          <p:nvPr/>
        </p:nvSpPr>
        <p:spPr>
          <a:xfrm>
            <a:off x="460772" y="1307306"/>
            <a:ext cx="0" cy="858366"/>
          </a:xfrm>
          <a:prstGeom prst="line">
            <a:avLst/>
          </a:prstGeom>
          <a:noFill/>
          <a:ln w="7144">
            <a:solidFill>
              <a:srgbClr val="222222"/>
            </a:solidFill>
            <a:prstDash val="solid"/>
          </a:ln>
        </p:spPr>
      </p:sp>
      <p:sp>
        <p:nvSpPr>
          <p:cNvPr id="9" name="Text 7"/>
          <p:cNvSpPr/>
          <p:nvPr/>
        </p:nvSpPr>
        <p:spPr>
          <a:xfrm>
            <a:off x="578644" y="1582899"/>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01</a:t>
            </a:r>
            <a:endParaRPr lang="en-US" sz="800" dirty="0"/>
          </a:p>
        </p:txBody>
      </p:sp>
      <p:sp>
        <p:nvSpPr>
          <p:cNvPr id="10" name="Text 8"/>
          <p:cNvSpPr/>
          <p:nvPr/>
        </p:nvSpPr>
        <p:spPr>
          <a:xfrm>
            <a:off x="578644" y="1747205"/>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DNS Enumeration</a:t>
            </a:r>
            <a:endParaRPr lang="en-US" sz="800" dirty="0"/>
          </a:p>
        </p:txBody>
      </p:sp>
      <p:sp>
        <p:nvSpPr>
          <p:cNvPr id="11" name="Text 9"/>
          <p:cNvSpPr/>
          <p:nvPr/>
        </p:nvSpPr>
        <p:spPr>
          <a:xfrm>
            <a:off x="2120243" y="1307306"/>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12" name="Shape 10"/>
          <p:cNvSpPr/>
          <p:nvPr/>
        </p:nvSpPr>
        <p:spPr>
          <a:xfrm>
            <a:off x="2120243" y="1314450"/>
            <a:ext cx="1577318" cy="0"/>
          </a:xfrm>
          <a:prstGeom prst="line">
            <a:avLst/>
          </a:prstGeom>
          <a:noFill/>
          <a:ln w="14288">
            <a:solidFill>
              <a:srgbClr val="C9A96E"/>
            </a:solidFill>
            <a:prstDash val="solid"/>
          </a:ln>
        </p:spPr>
      </p:sp>
      <p:sp>
        <p:nvSpPr>
          <p:cNvPr id="13" name="Shape 11"/>
          <p:cNvSpPr/>
          <p:nvPr/>
        </p:nvSpPr>
        <p:spPr>
          <a:xfrm>
            <a:off x="3693988" y="1307306"/>
            <a:ext cx="0" cy="858366"/>
          </a:xfrm>
          <a:prstGeom prst="line">
            <a:avLst/>
          </a:prstGeom>
          <a:noFill/>
          <a:ln w="7144">
            <a:solidFill>
              <a:srgbClr val="222222"/>
            </a:solidFill>
            <a:prstDash val="solid"/>
          </a:ln>
        </p:spPr>
      </p:sp>
      <p:sp>
        <p:nvSpPr>
          <p:cNvPr id="14" name="Shape 12"/>
          <p:cNvSpPr/>
          <p:nvPr/>
        </p:nvSpPr>
        <p:spPr>
          <a:xfrm>
            <a:off x="2120243" y="2162101"/>
            <a:ext cx="1577318" cy="0"/>
          </a:xfrm>
          <a:prstGeom prst="line">
            <a:avLst/>
          </a:prstGeom>
          <a:noFill/>
          <a:ln w="7144">
            <a:solidFill>
              <a:srgbClr val="222222"/>
            </a:solidFill>
            <a:prstDash val="solid"/>
          </a:ln>
        </p:spPr>
      </p:sp>
      <p:sp>
        <p:nvSpPr>
          <p:cNvPr id="15" name="Shape 13"/>
          <p:cNvSpPr/>
          <p:nvPr/>
        </p:nvSpPr>
        <p:spPr>
          <a:xfrm>
            <a:off x="2123815" y="1307306"/>
            <a:ext cx="0" cy="858366"/>
          </a:xfrm>
          <a:prstGeom prst="line">
            <a:avLst/>
          </a:prstGeom>
          <a:noFill/>
          <a:ln w="7144">
            <a:solidFill>
              <a:srgbClr val="222222"/>
            </a:solidFill>
            <a:prstDash val="solid"/>
          </a:ln>
        </p:spPr>
      </p:sp>
      <p:sp>
        <p:nvSpPr>
          <p:cNvPr id="16" name="Text 14"/>
          <p:cNvSpPr/>
          <p:nvPr/>
        </p:nvSpPr>
        <p:spPr>
          <a:xfrm>
            <a:off x="2241686" y="1582899"/>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02</a:t>
            </a:r>
            <a:endParaRPr lang="en-US" sz="800" dirty="0"/>
          </a:p>
        </p:txBody>
      </p:sp>
      <p:sp>
        <p:nvSpPr>
          <p:cNvPr id="17" name="Text 15"/>
          <p:cNvSpPr/>
          <p:nvPr/>
        </p:nvSpPr>
        <p:spPr>
          <a:xfrm>
            <a:off x="2241686" y="1747205"/>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Subdomain Discovery</a:t>
            </a:r>
            <a:endParaRPr lang="en-US" sz="800" dirty="0"/>
          </a:p>
        </p:txBody>
      </p:sp>
      <p:sp>
        <p:nvSpPr>
          <p:cNvPr id="18" name="Text 16"/>
          <p:cNvSpPr/>
          <p:nvPr/>
        </p:nvSpPr>
        <p:spPr>
          <a:xfrm>
            <a:off x="3783285" y="1307306"/>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19" name="Shape 17"/>
          <p:cNvSpPr/>
          <p:nvPr/>
        </p:nvSpPr>
        <p:spPr>
          <a:xfrm>
            <a:off x="3783285" y="1314450"/>
            <a:ext cx="1577318" cy="0"/>
          </a:xfrm>
          <a:prstGeom prst="line">
            <a:avLst/>
          </a:prstGeom>
          <a:noFill/>
          <a:ln w="14288">
            <a:solidFill>
              <a:srgbClr val="C9A96E"/>
            </a:solidFill>
            <a:prstDash val="solid"/>
          </a:ln>
        </p:spPr>
      </p:sp>
      <p:sp>
        <p:nvSpPr>
          <p:cNvPr id="20" name="Shape 18"/>
          <p:cNvSpPr/>
          <p:nvPr/>
        </p:nvSpPr>
        <p:spPr>
          <a:xfrm>
            <a:off x="5357031" y="1307306"/>
            <a:ext cx="0" cy="858366"/>
          </a:xfrm>
          <a:prstGeom prst="line">
            <a:avLst/>
          </a:prstGeom>
          <a:noFill/>
          <a:ln w="7144">
            <a:solidFill>
              <a:srgbClr val="222222"/>
            </a:solidFill>
            <a:prstDash val="solid"/>
          </a:ln>
        </p:spPr>
      </p:sp>
      <p:sp>
        <p:nvSpPr>
          <p:cNvPr id="21" name="Shape 19"/>
          <p:cNvSpPr/>
          <p:nvPr/>
        </p:nvSpPr>
        <p:spPr>
          <a:xfrm>
            <a:off x="3783285" y="2162101"/>
            <a:ext cx="1577318" cy="0"/>
          </a:xfrm>
          <a:prstGeom prst="line">
            <a:avLst/>
          </a:prstGeom>
          <a:noFill/>
          <a:ln w="7144">
            <a:solidFill>
              <a:srgbClr val="222222"/>
            </a:solidFill>
            <a:prstDash val="solid"/>
          </a:ln>
        </p:spPr>
      </p:sp>
      <p:sp>
        <p:nvSpPr>
          <p:cNvPr id="22" name="Shape 20"/>
          <p:cNvSpPr/>
          <p:nvPr/>
        </p:nvSpPr>
        <p:spPr>
          <a:xfrm>
            <a:off x="3786857" y="1307306"/>
            <a:ext cx="0" cy="858366"/>
          </a:xfrm>
          <a:prstGeom prst="line">
            <a:avLst/>
          </a:prstGeom>
          <a:noFill/>
          <a:ln w="7144">
            <a:solidFill>
              <a:srgbClr val="222222"/>
            </a:solidFill>
            <a:prstDash val="solid"/>
          </a:ln>
        </p:spPr>
      </p:sp>
      <p:sp>
        <p:nvSpPr>
          <p:cNvPr id="23" name="Text 21"/>
          <p:cNvSpPr/>
          <p:nvPr/>
        </p:nvSpPr>
        <p:spPr>
          <a:xfrm>
            <a:off x="3904729" y="1582899"/>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03</a:t>
            </a:r>
            <a:endParaRPr lang="en-US" sz="800" dirty="0"/>
          </a:p>
        </p:txBody>
      </p:sp>
      <p:sp>
        <p:nvSpPr>
          <p:cNvPr id="24" name="Text 22"/>
          <p:cNvSpPr/>
          <p:nvPr/>
        </p:nvSpPr>
        <p:spPr>
          <a:xfrm>
            <a:off x="3904729" y="1747205"/>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HTTP Header Analysis</a:t>
            </a:r>
            <a:endParaRPr lang="en-US" sz="800" dirty="0"/>
          </a:p>
        </p:txBody>
      </p:sp>
      <p:sp>
        <p:nvSpPr>
          <p:cNvPr id="25" name="Text 23"/>
          <p:cNvSpPr/>
          <p:nvPr/>
        </p:nvSpPr>
        <p:spPr>
          <a:xfrm>
            <a:off x="5446328" y="1307306"/>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26" name="Shape 24"/>
          <p:cNvSpPr/>
          <p:nvPr/>
        </p:nvSpPr>
        <p:spPr>
          <a:xfrm>
            <a:off x="5446328" y="1314450"/>
            <a:ext cx="1577318" cy="0"/>
          </a:xfrm>
          <a:prstGeom prst="line">
            <a:avLst/>
          </a:prstGeom>
          <a:noFill/>
          <a:ln w="14288">
            <a:solidFill>
              <a:srgbClr val="C9A96E"/>
            </a:solidFill>
            <a:prstDash val="solid"/>
          </a:ln>
        </p:spPr>
      </p:sp>
      <p:sp>
        <p:nvSpPr>
          <p:cNvPr id="27" name="Shape 25"/>
          <p:cNvSpPr/>
          <p:nvPr/>
        </p:nvSpPr>
        <p:spPr>
          <a:xfrm>
            <a:off x="7020074" y="1307306"/>
            <a:ext cx="0" cy="858366"/>
          </a:xfrm>
          <a:prstGeom prst="line">
            <a:avLst/>
          </a:prstGeom>
          <a:noFill/>
          <a:ln w="7144">
            <a:solidFill>
              <a:srgbClr val="222222"/>
            </a:solidFill>
            <a:prstDash val="solid"/>
          </a:ln>
        </p:spPr>
      </p:sp>
      <p:sp>
        <p:nvSpPr>
          <p:cNvPr id="28" name="Shape 26"/>
          <p:cNvSpPr/>
          <p:nvPr/>
        </p:nvSpPr>
        <p:spPr>
          <a:xfrm>
            <a:off x="5446328" y="2162101"/>
            <a:ext cx="1577318" cy="0"/>
          </a:xfrm>
          <a:prstGeom prst="line">
            <a:avLst/>
          </a:prstGeom>
          <a:noFill/>
          <a:ln w="7144">
            <a:solidFill>
              <a:srgbClr val="222222"/>
            </a:solidFill>
            <a:prstDash val="solid"/>
          </a:ln>
        </p:spPr>
      </p:sp>
      <p:sp>
        <p:nvSpPr>
          <p:cNvPr id="29" name="Shape 27"/>
          <p:cNvSpPr/>
          <p:nvPr/>
        </p:nvSpPr>
        <p:spPr>
          <a:xfrm>
            <a:off x="5449900" y="1307306"/>
            <a:ext cx="0" cy="858366"/>
          </a:xfrm>
          <a:prstGeom prst="line">
            <a:avLst/>
          </a:prstGeom>
          <a:noFill/>
          <a:ln w="7144">
            <a:solidFill>
              <a:srgbClr val="222222"/>
            </a:solidFill>
            <a:prstDash val="solid"/>
          </a:ln>
        </p:spPr>
      </p:sp>
      <p:sp>
        <p:nvSpPr>
          <p:cNvPr id="30" name="Text 28"/>
          <p:cNvSpPr/>
          <p:nvPr/>
        </p:nvSpPr>
        <p:spPr>
          <a:xfrm>
            <a:off x="5567772" y="1582899"/>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04</a:t>
            </a:r>
            <a:endParaRPr lang="en-US" sz="800" dirty="0"/>
          </a:p>
        </p:txBody>
      </p:sp>
      <p:sp>
        <p:nvSpPr>
          <p:cNvPr id="31" name="Text 29"/>
          <p:cNvSpPr/>
          <p:nvPr/>
        </p:nvSpPr>
        <p:spPr>
          <a:xfrm>
            <a:off x="5567772" y="1747205"/>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Port Scanning</a:t>
            </a:r>
            <a:endParaRPr lang="en-US" sz="800" dirty="0"/>
          </a:p>
        </p:txBody>
      </p:sp>
      <p:sp>
        <p:nvSpPr>
          <p:cNvPr id="32" name="Text 30"/>
          <p:cNvSpPr/>
          <p:nvPr/>
        </p:nvSpPr>
        <p:spPr>
          <a:xfrm>
            <a:off x="7109371" y="1307306"/>
            <a:ext cx="1577429"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33" name="Shape 31"/>
          <p:cNvSpPr/>
          <p:nvPr/>
        </p:nvSpPr>
        <p:spPr>
          <a:xfrm>
            <a:off x="7109371" y="1314450"/>
            <a:ext cx="1577429" cy="0"/>
          </a:xfrm>
          <a:prstGeom prst="line">
            <a:avLst/>
          </a:prstGeom>
          <a:noFill/>
          <a:ln w="14288">
            <a:solidFill>
              <a:srgbClr val="C9A96E"/>
            </a:solidFill>
            <a:prstDash val="solid"/>
          </a:ln>
        </p:spPr>
      </p:sp>
      <p:sp>
        <p:nvSpPr>
          <p:cNvPr id="34" name="Shape 32"/>
          <p:cNvSpPr/>
          <p:nvPr/>
        </p:nvSpPr>
        <p:spPr>
          <a:xfrm>
            <a:off x="8683228" y="1307306"/>
            <a:ext cx="0" cy="858366"/>
          </a:xfrm>
          <a:prstGeom prst="line">
            <a:avLst/>
          </a:prstGeom>
          <a:noFill/>
          <a:ln w="7144">
            <a:solidFill>
              <a:srgbClr val="222222"/>
            </a:solidFill>
            <a:prstDash val="solid"/>
          </a:ln>
        </p:spPr>
      </p:sp>
      <p:sp>
        <p:nvSpPr>
          <p:cNvPr id="35" name="Shape 33"/>
          <p:cNvSpPr/>
          <p:nvPr/>
        </p:nvSpPr>
        <p:spPr>
          <a:xfrm>
            <a:off x="7109371" y="2162101"/>
            <a:ext cx="1577429" cy="0"/>
          </a:xfrm>
          <a:prstGeom prst="line">
            <a:avLst/>
          </a:prstGeom>
          <a:noFill/>
          <a:ln w="7144">
            <a:solidFill>
              <a:srgbClr val="222222"/>
            </a:solidFill>
            <a:prstDash val="solid"/>
          </a:ln>
        </p:spPr>
      </p:sp>
      <p:sp>
        <p:nvSpPr>
          <p:cNvPr id="36" name="Shape 34"/>
          <p:cNvSpPr/>
          <p:nvPr/>
        </p:nvSpPr>
        <p:spPr>
          <a:xfrm>
            <a:off x="7112943" y="1307306"/>
            <a:ext cx="0" cy="858366"/>
          </a:xfrm>
          <a:prstGeom prst="line">
            <a:avLst/>
          </a:prstGeom>
          <a:noFill/>
          <a:ln w="7144">
            <a:solidFill>
              <a:srgbClr val="222222"/>
            </a:solidFill>
            <a:prstDash val="solid"/>
          </a:ln>
        </p:spPr>
      </p:sp>
      <p:sp>
        <p:nvSpPr>
          <p:cNvPr id="37" name="Text 35"/>
          <p:cNvSpPr/>
          <p:nvPr/>
        </p:nvSpPr>
        <p:spPr>
          <a:xfrm>
            <a:off x="7230814" y="1582899"/>
            <a:ext cx="1334542"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05</a:t>
            </a:r>
            <a:endParaRPr lang="en-US" sz="800" dirty="0"/>
          </a:p>
        </p:txBody>
      </p:sp>
      <p:sp>
        <p:nvSpPr>
          <p:cNvPr id="38" name="Text 36"/>
          <p:cNvSpPr/>
          <p:nvPr/>
        </p:nvSpPr>
        <p:spPr>
          <a:xfrm>
            <a:off x="7230814" y="1747205"/>
            <a:ext cx="1334542"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SSL/TLS Validation</a:t>
            </a:r>
            <a:endParaRPr lang="en-US" sz="800" dirty="0"/>
          </a:p>
        </p:txBody>
      </p:sp>
      <p:sp>
        <p:nvSpPr>
          <p:cNvPr id="39" name="Text 37"/>
          <p:cNvSpPr/>
          <p:nvPr/>
        </p:nvSpPr>
        <p:spPr>
          <a:xfrm>
            <a:off x="457200" y="2251397"/>
            <a:ext cx="1577318" cy="858478"/>
          </a:xfrm>
          <a:prstGeom prst="roundRect">
            <a:avLst>
              <a:gd name="adj" fmla="val 11095"/>
            </a:avLst>
          </a:prstGeom>
          <a:solidFill>
            <a:srgbClr val="111111"/>
          </a:solidFill>
          <a:ln/>
        </p:spPr>
        <p:txBody>
          <a:bodyPr wrap="square" rtlCol="0" anchor="ctr"/>
          <a:lstStyle/>
          <a:p>
            <a:pPr indent="0" marL="0">
              <a:buNone/>
            </a:pPr>
            <a:endParaRPr lang="en-US" dirty="0"/>
          </a:p>
        </p:txBody>
      </p:sp>
      <p:sp>
        <p:nvSpPr>
          <p:cNvPr id="40" name="Shape 38"/>
          <p:cNvSpPr/>
          <p:nvPr/>
        </p:nvSpPr>
        <p:spPr>
          <a:xfrm>
            <a:off x="457200" y="2258541"/>
            <a:ext cx="1577318" cy="0"/>
          </a:xfrm>
          <a:prstGeom prst="line">
            <a:avLst/>
          </a:prstGeom>
          <a:noFill/>
          <a:ln w="14288">
            <a:solidFill>
              <a:srgbClr val="C9A96E"/>
            </a:solidFill>
            <a:prstDash val="solid"/>
          </a:ln>
        </p:spPr>
      </p:sp>
      <p:sp>
        <p:nvSpPr>
          <p:cNvPr id="41" name="Shape 39"/>
          <p:cNvSpPr/>
          <p:nvPr/>
        </p:nvSpPr>
        <p:spPr>
          <a:xfrm>
            <a:off x="2030946" y="2251397"/>
            <a:ext cx="0" cy="858478"/>
          </a:xfrm>
          <a:prstGeom prst="line">
            <a:avLst/>
          </a:prstGeom>
          <a:noFill/>
          <a:ln w="7144">
            <a:solidFill>
              <a:srgbClr val="222222"/>
            </a:solidFill>
            <a:prstDash val="solid"/>
          </a:ln>
        </p:spPr>
      </p:sp>
      <p:sp>
        <p:nvSpPr>
          <p:cNvPr id="42" name="Shape 40"/>
          <p:cNvSpPr/>
          <p:nvPr/>
        </p:nvSpPr>
        <p:spPr>
          <a:xfrm>
            <a:off x="457200" y="3106303"/>
            <a:ext cx="1577318" cy="0"/>
          </a:xfrm>
          <a:prstGeom prst="line">
            <a:avLst/>
          </a:prstGeom>
          <a:noFill/>
          <a:ln w="7144">
            <a:solidFill>
              <a:srgbClr val="222222"/>
            </a:solidFill>
            <a:prstDash val="solid"/>
          </a:ln>
        </p:spPr>
      </p:sp>
      <p:sp>
        <p:nvSpPr>
          <p:cNvPr id="43" name="Shape 41"/>
          <p:cNvSpPr/>
          <p:nvPr/>
        </p:nvSpPr>
        <p:spPr>
          <a:xfrm>
            <a:off x="460772" y="2251397"/>
            <a:ext cx="0" cy="858478"/>
          </a:xfrm>
          <a:prstGeom prst="line">
            <a:avLst/>
          </a:prstGeom>
          <a:noFill/>
          <a:ln w="7144">
            <a:solidFill>
              <a:srgbClr val="222222"/>
            </a:solidFill>
            <a:prstDash val="solid"/>
          </a:ln>
        </p:spPr>
      </p:sp>
      <p:sp>
        <p:nvSpPr>
          <p:cNvPr id="44" name="Text 42"/>
          <p:cNvSpPr/>
          <p:nvPr/>
        </p:nvSpPr>
        <p:spPr>
          <a:xfrm>
            <a:off x="578644" y="2526990"/>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06</a:t>
            </a:r>
            <a:endParaRPr lang="en-US" sz="800" dirty="0"/>
          </a:p>
        </p:txBody>
      </p:sp>
      <p:sp>
        <p:nvSpPr>
          <p:cNvPr id="45" name="Text 43"/>
          <p:cNvSpPr/>
          <p:nvPr/>
        </p:nvSpPr>
        <p:spPr>
          <a:xfrm>
            <a:off x="578644" y="2691296"/>
            <a:ext cx="1414496" cy="164592"/>
          </a:xfrm>
          <a:prstGeom prst="rect">
            <a:avLst/>
          </a:prstGeom>
          <a:noFill/>
          <a:ln/>
        </p:spPr>
        <p:txBody>
          <a:bodyPr wrap="square" lIns="0" tIns="0" rIns="0" bIns="0" rtlCol="0" anchor="t"/>
          <a:lstStyle/>
          <a:p>
            <a:pPr algn="l" indent="0" marL="0">
              <a:lnSpc>
                <a:spcPts val="1181"/>
              </a:lnSpc>
              <a:buNone/>
            </a:pPr>
            <a:r>
              <a:rPr lang="en-US" sz="788" dirty="0">
                <a:solidFill>
                  <a:srgbClr val="FFFFFF"/>
                </a:solidFill>
                <a:latin typeface="Carlito" pitchFamily="34" charset="0"/>
                <a:ea typeface="Carlito" pitchFamily="34" charset="-122"/>
                <a:cs typeface="Carlito" pitchFamily="34" charset="-120"/>
              </a:rPr>
              <a:t>Certificate Transparency</a:t>
            </a:r>
            <a:endParaRPr lang="en-US" sz="788" dirty="0"/>
          </a:p>
        </p:txBody>
      </p:sp>
      <p:sp>
        <p:nvSpPr>
          <p:cNvPr id="46" name="Text 44"/>
          <p:cNvSpPr/>
          <p:nvPr/>
        </p:nvSpPr>
        <p:spPr>
          <a:xfrm>
            <a:off x="2120243" y="2251397"/>
            <a:ext cx="1577318" cy="858478"/>
          </a:xfrm>
          <a:prstGeom prst="roundRect">
            <a:avLst>
              <a:gd name="adj" fmla="val 11095"/>
            </a:avLst>
          </a:prstGeom>
          <a:solidFill>
            <a:srgbClr val="111111"/>
          </a:solidFill>
          <a:ln/>
        </p:spPr>
        <p:txBody>
          <a:bodyPr wrap="square" rtlCol="0" anchor="ctr"/>
          <a:lstStyle/>
          <a:p>
            <a:pPr indent="0" marL="0">
              <a:buNone/>
            </a:pPr>
            <a:endParaRPr lang="en-US" dirty="0"/>
          </a:p>
        </p:txBody>
      </p:sp>
      <p:sp>
        <p:nvSpPr>
          <p:cNvPr id="47" name="Shape 45"/>
          <p:cNvSpPr/>
          <p:nvPr/>
        </p:nvSpPr>
        <p:spPr>
          <a:xfrm>
            <a:off x="2120243" y="2258541"/>
            <a:ext cx="1577318" cy="0"/>
          </a:xfrm>
          <a:prstGeom prst="line">
            <a:avLst/>
          </a:prstGeom>
          <a:noFill/>
          <a:ln w="14288">
            <a:solidFill>
              <a:srgbClr val="C9A96E"/>
            </a:solidFill>
            <a:prstDash val="solid"/>
          </a:ln>
        </p:spPr>
      </p:sp>
      <p:sp>
        <p:nvSpPr>
          <p:cNvPr id="48" name="Shape 46"/>
          <p:cNvSpPr/>
          <p:nvPr/>
        </p:nvSpPr>
        <p:spPr>
          <a:xfrm>
            <a:off x="3693988" y="2251397"/>
            <a:ext cx="0" cy="858478"/>
          </a:xfrm>
          <a:prstGeom prst="line">
            <a:avLst/>
          </a:prstGeom>
          <a:noFill/>
          <a:ln w="7144">
            <a:solidFill>
              <a:srgbClr val="222222"/>
            </a:solidFill>
            <a:prstDash val="solid"/>
          </a:ln>
        </p:spPr>
      </p:sp>
      <p:sp>
        <p:nvSpPr>
          <p:cNvPr id="49" name="Shape 47"/>
          <p:cNvSpPr/>
          <p:nvPr/>
        </p:nvSpPr>
        <p:spPr>
          <a:xfrm>
            <a:off x="2120243" y="3106303"/>
            <a:ext cx="1577318" cy="0"/>
          </a:xfrm>
          <a:prstGeom prst="line">
            <a:avLst/>
          </a:prstGeom>
          <a:noFill/>
          <a:ln w="7144">
            <a:solidFill>
              <a:srgbClr val="222222"/>
            </a:solidFill>
            <a:prstDash val="solid"/>
          </a:ln>
        </p:spPr>
      </p:sp>
      <p:sp>
        <p:nvSpPr>
          <p:cNvPr id="50" name="Shape 48"/>
          <p:cNvSpPr/>
          <p:nvPr/>
        </p:nvSpPr>
        <p:spPr>
          <a:xfrm>
            <a:off x="2123815" y="2251397"/>
            <a:ext cx="0" cy="858478"/>
          </a:xfrm>
          <a:prstGeom prst="line">
            <a:avLst/>
          </a:prstGeom>
          <a:noFill/>
          <a:ln w="7144">
            <a:solidFill>
              <a:srgbClr val="222222"/>
            </a:solidFill>
            <a:prstDash val="solid"/>
          </a:ln>
        </p:spPr>
      </p:sp>
      <p:sp>
        <p:nvSpPr>
          <p:cNvPr id="51" name="Text 49"/>
          <p:cNvSpPr/>
          <p:nvPr/>
        </p:nvSpPr>
        <p:spPr>
          <a:xfrm>
            <a:off x="2241686" y="2526990"/>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07</a:t>
            </a:r>
            <a:endParaRPr lang="en-US" sz="800" dirty="0"/>
          </a:p>
        </p:txBody>
      </p:sp>
      <p:sp>
        <p:nvSpPr>
          <p:cNvPr id="52" name="Text 50"/>
          <p:cNvSpPr/>
          <p:nvPr/>
        </p:nvSpPr>
        <p:spPr>
          <a:xfrm>
            <a:off x="2241686" y="2691296"/>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WHOIS Intelligence</a:t>
            </a:r>
            <a:endParaRPr lang="en-US" sz="800" dirty="0"/>
          </a:p>
        </p:txBody>
      </p:sp>
      <p:sp>
        <p:nvSpPr>
          <p:cNvPr id="53" name="Text 51"/>
          <p:cNvSpPr/>
          <p:nvPr/>
        </p:nvSpPr>
        <p:spPr>
          <a:xfrm>
            <a:off x="3783285" y="2251397"/>
            <a:ext cx="1577318" cy="858478"/>
          </a:xfrm>
          <a:prstGeom prst="roundRect">
            <a:avLst>
              <a:gd name="adj" fmla="val 11095"/>
            </a:avLst>
          </a:prstGeom>
          <a:solidFill>
            <a:srgbClr val="111111"/>
          </a:solidFill>
          <a:ln/>
        </p:spPr>
        <p:txBody>
          <a:bodyPr wrap="square" rtlCol="0" anchor="ctr"/>
          <a:lstStyle/>
          <a:p>
            <a:pPr indent="0" marL="0">
              <a:buNone/>
            </a:pPr>
            <a:endParaRPr lang="en-US" dirty="0"/>
          </a:p>
        </p:txBody>
      </p:sp>
      <p:sp>
        <p:nvSpPr>
          <p:cNvPr id="54" name="Shape 52"/>
          <p:cNvSpPr/>
          <p:nvPr/>
        </p:nvSpPr>
        <p:spPr>
          <a:xfrm>
            <a:off x="3783285" y="2258541"/>
            <a:ext cx="1577318" cy="0"/>
          </a:xfrm>
          <a:prstGeom prst="line">
            <a:avLst/>
          </a:prstGeom>
          <a:noFill/>
          <a:ln w="14288">
            <a:solidFill>
              <a:srgbClr val="C9A96E"/>
            </a:solidFill>
            <a:prstDash val="solid"/>
          </a:ln>
        </p:spPr>
      </p:sp>
      <p:sp>
        <p:nvSpPr>
          <p:cNvPr id="55" name="Shape 53"/>
          <p:cNvSpPr/>
          <p:nvPr/>
        </p:nvSpPr>
        <p:spPr>
          <a:xfrm>
            <a:off x="5357031" y="2251397"/>
            <a:ext cx="0" cy="858478"/>
          </a:xfrm>
          <a:prstGeom prst="line">
            <a:avLst/>
          </a:prstGeom>
          <a:noFill/>
          <a:ln w="7144">
            <a:solidFill>
              <a:srgbClr val="222222"/>
            </a:solidFill>
            <a:prstDash val="solid"/>
          </a:ln>
        </p:spPr>
      </p:sp>
      <p:sp>
        <p:nvSpPr>
          <p:cNvPr id="56" name="Shape 54"/>
          <p:cNvSpPr/>
          <p:nvPr/>
        </p:nvSpPr>
        <p:spPr>
          <a:xfrm>
            <a:off x="3783285" y="3106303"/>
            <a:ext cx="1577318" cy="0"/>
          </a:xfrm>
          <a:prstGeom prst="line">
            <a:avLst/>
          </a:prstGeom>
          <a:noFill/>
          <a:ln w="7144">
            <a:solidFill>
              <a:srgbClr val="222222"/>
            </a:solidFill>
            <a:prstDash val="solid"/>
          </a:ln>
        </p:spPr>
      </p:sp>
      <p:sp>
        <p:nvSpPr>
          <p:cNvPr id="57" name="Shape 55"/>
          <p:cNvSpPr/>
          <p:nvPr/>
        </p:nvSpPr>
        <p:spPr>
          <a:xfrm>
            <a:off x="3786857" y="2251397"/>
            <a:ext cx="0" cy="858478"/>
          </a:xfrm>
          <a:prstGeom prst="line">
            <a:avLst/>
          </a:prstGeom>
          <a:noFill/>
          <a:ln w="7144">
            <a:solidFill>
              <a:srgbClr val="222222"/>
            </a:solidFill>
            <a:prstDash val="solid"/>
          </a:ln>
        </p:spPr>
      </p:sp>
      <p:sp>
        <p:nvSpPr>
          <p:cNvPr id="58" name="Text 56"/>
          <p:cNvSpPr/>
          <p:nvPr/>
        </p:nvSpPr>
        <p:spPr>
          <a:xfrm>
            <a:off x="3904729" y="2526990"/>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08</a:t>
            </a:r>
            <a:endParaRPr lang="en-US" sz="800" dirty="0"/>
          </a:p>
        </p:txBody>
      </p:sp>
      <p:sp>
        <p:nvSpPr>
          <p:cNvPr id="59" name="Text 57"/>
          <p:cNvSpPr/>
          <p:nvPr/>
        </p:nvSpPr>
        <p:spPr>
          <a:xfrm>
            <a:off x="3904729" y="2691296"/>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Email Recon</a:t>
            </a:r>
            <a:endParaRPr lang="en-US" sz="800" dirty="0"/>
          </a:p>
        </p:txBody>
      </p:sp>
      <p:sp>
        <p:nvSpPr>
          <p:cNvPr id="60" name="Text 58"/>
          <p:cNvSpPr/>
          <p:nvPr/>
        </p:nvSpPr>
        <p:spPr>
          <a:xfrm>
            <a:off x="5446328" y="2251397"/>
            <a:ext cx="1577318" cy="858478"/>
          </a:xfrm>
          <a:prstGeom prst="roundRect">
            <a:avLst>
              <a:gd name="adj" fmla="val 11095"/>
            </a:avLst>
          </a:prstGeom>
          <a:solidFill>
            <a:srgbClr val="111111"/>
          </a:solidFill>
          <a:ln/>
        </p:spPr>
        <p:txBody>
          <a:bodyPr wrap="square" rtlCol="0" anchor="ctr"/>
          <a:lstStyle/>
          <a:p>
            <a:pPr indent="0" marL="0">
              <a:buNone/>
            </a:pPr>
            <a:endParaRPr lang="en-US" dirty="0"/>
          </a:p>
        </p:txBody>
      </p:sp>
      <p:sp>
        <p:nvSpPr>
          <p:cNvPr id="61" name="Shape 59"/>
          <p:cNvSpPr/>
          <p:nvPr/>
        </p:nvSpPr>
        <p:spPr>
          <a:xfrm>
            <a:off x="5446328" y="2258541"/>
            <a:ext cx="1577318" cy="0"/>
          </a:xfrm>
          <a:prstGeom prst="line">
            <a:avLst/>
          </a:prstGeom>
          <a:noFill/>
          <a:ln w="14288">
            <a:solidFill>
              <a:srgbClr val="C9A96E"/>
            </a:solidFill>
            <a:prstDash val="solid"/>
          </a:ln>
        </p:spPr>
      </p:sp>
      <p:sp>
        <p:nvSpPr>
          <p:cNvPr id="62" name="Shape 60"/>
          <p:cNvSpPr/>
          <p:nvPr/>
        </p:nvSpPr>
        <p:spPr>
          <a:xfrm>
            <a:off x="7020074" y="2251397"/>
            <a:ext cx="0" cy="858478"/>
          </a:xfrm>
          <a:prstGeom prst="line">
            <a:avLst/>
          </a:prstGeom>
          <a:noFill/>
          <a:ln w="7144">
            <a:solidFill>
              <a:srgbClr val="222222"/>
            </a:solidFill>
            <a:prstDash val="solid"/>
          </a:ln>
        </p:spPr>
      </p:sp>
      <p:sp>
        <p:nvSpPr>
          <p:cNvPr id="63" name="Shape 61"/>
          <p:cNvSpPr/>
          <p:nvPr/>
        </p:nvSpPr>
        <p:spPr>
          <a:xfrm>
            <a:off x="5446328" y="3106303"/>
            <a:ext cx="1577318" cy="0"/>
          </a:xfrm>
          <a:prstGeom prst="line">
            <a:avLst/>
          </a:prstGeom>
          <a:noFill/>
          <a:ln w="7144">
            <a:solidFill>
              <a:srgbClr val="222222"/>
            </a:solidFill>
            <a:prstDash val="solid"/>
          </a:ln>
        </p:spPr>
      </p:sp>
      <p:sp>
        <p:nvSpPr>
          <p:cNvPr id="64" name="Shape 62"/>
          <p:cNvSpPr/>
          <p:nvPr/>
        </p:nvSpPr>
        <p:spPr>
          <a:xfrm>
            <a:off x="5449900" y="2251397"/>
            <a:ext cx="0" cy="858478"/>
          </a:xfrm>
          <a:prstGeom prst="line">
            <a:avLst/>
          </a:prstGeom>
          <a:noFill/>
          <a:ln w="7144">
            <a:solidFill>
              <a:srgbClr val="222222"/>
            </a:solidFill>
            <a:prstDash val="solid"/>
          </a:ln>
        </p:spPr>
      </p:sp>
      <p:sp>
        <p:nvSpPr>
          <p:cNvPr id="65" name="Text 63"/>
          <p:cNvSpPr/>
          <p:nvPr/>
        </p:nvSpPr>
        <p:spPr>
          <a:xfrm>
            <a:off x="5567772" y="2526990"/>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09</a:t>
            </a:r>
            <a:endParaRPr lang="en-US" sz="800" dirty="0"/>
          </a:p>
        </p:txBody>
      </p:sp>
      <p:sp>
        <p:nvSpPr>
          <p:cNvPr id="66" name="Text 64"/>
          <p:cNvSpPr/>
          <p:nvPr/>
        </p:nvSpPr>
        <p:spPr>
          <a:xfrm>
            <a:off x="5567772" y="2691296"/>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Geolocation Mapping</a:t>
            </a:r>
            <a:endParaRPr lang="en-US" sz="800" dirty="0"/>
          </a:p>
        </p:txBody>
      </p:sp>
      <p:sp>
        <p:nvSpPr>
          <p:cNvPr id="67" name="Text 65"/>
          <p:cNvSpPr/>
          <p:nvPr/>
        </p:nvSpPr>
        <p:spPr>
          <a:xfrm>
            <a:off x="7109371" y="2251397"/>
            <a:ext cx="1577429" cy="858478"/>
          </a:xfrm>
          <a:prstGeom prst="roundRect">
            <a:avLst>
              <a:gd name="adj" fmla="val 11095"/>
            </a:avLst>
          </a:prstGeom>
          <a:solidFill>
            <a:srgbClr val="111111"/>
          </a:solidFill>
          <a:ln/>
        </p:spPr>
        <p:txBody>
          <a:bodyPr wrap="square" rtlCol="0" anchor="ctr"/>
          <a:lstStyle/>
          <a:p>
            <a:pPr indent="0" marL="0">
              <a:buNone/>
            </a:pPr>
            <a:endParaRPr lang="en-US" dirty="0"/>
          </a:p>
        </p:txBody>
      </p:sp>
      <p:sp>
        <p:nvSpPr>
          <p:cNvPr id="68" name="Shape 66"/>
          <p:cNvSpPr/>
          <p:nvPr/>
        </p:nvSpPr>
        <p:spPr>
          <a:xfrm>
            <a:off x="7109371" y="2258541"/>
            <a:ext cx="1577429" cy="0"/>
          </a:xfrm>
          <a:prstGeom prst="line">
            <a:avLst/>
          </a:prstGeom>
          <a:noFill/>
          <a:ln w="14288">
            <a:solidFill>
              <a:srgbClr val="C9A96E"/>
            </a:solidFill>
            <a:prstDash val="solid"/>
          </a:ln>
        </p:spPr>
      </p:sp>
      <p:sp>
        <p:nvSpPr>
          <p:cNvPr id="69" name="Shape 67"/>
          <p:cNvSpPr/>
          <p:nvPr/>
        </p:nvSpPr>
        <p:spPr>
          <a:xfrm>
            <a:off x="8683228" y="2251397"/>
            <a:ext cx="0" cy="858478"/>
          </a:xfrm>
          <a:prstGeom prst="line">
            <a:avLst/>
          </a:prstGeom>
          <a:noFill/>
          <a:ln w="7144">
            <a:solidFill>
              <a:srgbClr val="222222"/>
            </a:solidFill>
            <a:prstDash val="solid"/>
          </a:ln>
        </p:spPr>
      </p:sp>
      <p:sp>
        <p:nvSpPr>
          <p:cNvPr id="70" name="Shape 68"/>
          <p:cNvSpPr/>
          <p:nvPr/>
        </p:nvSpPr>
        <p:spPr>
          <a:xfrm>
            <a:off x="7109371" y="3106303"/>
            <a:ext cx="1577429" cy="0"/>
          </a:xfrm>
          <a:prstGeom prst="line">
            <a:avLst/>
          </a:prstGeom>
          <a:noFill/>
          <a:ln w="7144">
            <a:solidFill>
              <a:srgbClr val="222222"/>
            </a:solidFill>
            <a:prstDash val="solid"/>
          </a:ln>
        </p:spPr>
      </p:sp>
      <p:sp>
        <p:nvSpPr>
          <p:cNvPr id="71" name="Shape 69"/>
          <p:cNvSpPr/>
          <p:nvPr/>
        </p:nvSpPr>
        <p:spPr>
          <a:xfrm>
            <a:off x="7112943" y="2251397"/>
            <a:ext cx="0" cy="858478"/>
          </a:xfrm>
          <a:prstGeom prst="line">
            <a:avLst/>
          </a:prstGeom>
          <a:noFill/>
          <a:ln w="7144">
            <a:solidFill>
              <a:srgbClr val="222222"/>
            </a:solidFill>
            <a:prstDash val="solid"/>
          </a:ln>
        </p:spPr>
      </p:sp>
      <p:sp>
        <p:nvSpPr>
          <p:cNvPr id="72" name="Text 70"/>
          <p:cNvSpPr/>
          <p:nvPr/>
        </p:nvSpPr>
        <p:spPr>
          <a:xfrm>
            <a:off x="7230814" y="2526990"/>
            <a:ext cx="1334542"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10</a:t>
            </a:r>
            <a:endParaRPr lang="en-US" sz="800" dirty="0"/>
          </a:p>
        </p:txBody>
      </p:sp>
      <p:sp>
        <p:nvSpPr>
          <p:cNvPr id="73" name="Text 71"/>
          <p:cNvSpPr/>
          <p:nvPr/>
        </p:nvSpPr>
        <p:spPr>
          <a:xfrm>
            <a:off x="7230814" y="2691296"/>
            <a:ext cx="1334542"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Directory Brute Force</a:t>
            </a:r>
            <a:endParaRPr lang="en-US" sz="800" dirty="0"/>
          </a:p>
        </p:txBody>
      </p:sp>
      <p:sp>
        <p:nvSpPr>
          <p:cNvPr id="74" name="Text 72"/>
          <p:cNvSpPr/>
          <p:nvPr/>
        </p:nvSpPr>
        <p:spPr>
          <a:xfrm>
            <a:off x="457200" y="3195600"/>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75" name="Shape 73"/>
          <p:cNvSpPr/>
          <p:nvPr/>
        </p:nvSpPr>
        <p:spPr>
          <a:xfrm>
            <a:off x="457200" y="3202744"/>
            <a:ext cx="1577318" cy="0"/>
          </a:xfrm>
          <a:prstGeom prst="line">
            <a:avLst/>
          </a:prstGeom>
          <a:noFill/>
          <a:ln w="14288">
            <a:solidFill>
              <a:srgbClr val="C9A96E"/>
            </a:solidFill>
            <a:prstDash val="solid"/>
          </a:ln>
        </p:spPr>
      </p:sp>
      <p:sp>
        <p:nvSpPr>
          <p:cNvPr id="76" name="Shape 74"/>
          <p:cNvSpPr/>
          <p:nvPr/>
        </p:nvSpPr>
        <p:spPr>
          <a:xfrm>
            <a:off x="2030946" y="3195600"/>
            <a:ext cx="0" cy="858366"/>
          </a:xfrm>
          <a:prstGeom prst="line">
            <a:avLst/>
          </a:prstGeom>
          <a:noFill/>
          <a:ln w="7144">
            <a:solidFill>
              <a:srgbClr val="222222"/>
            </a:solidFill>
            <a:prstDash val="solid"/>
          </a:ln>
        </p:spPr>
      </p:sp>
      <p:sp>
        <p:nvSpPr>
          <p:cNvPr id="77" name="Shape 75"/>
          <p:cNvSpPr/>
          <p:nvPr/>
        </p:nvSpPr>
        <p:spPr>
          <a:xfrm>
            <a:off x="457200" y="4050395"/>
            <a:ext cx="1577318" cy="0"/>
          </a:xfrm>
          <a:prstGeom prst="line">
            <a:avLst/>
          </a:prstGeom>
          <a:noFill/>
          <a:ln w="7144">
            <a:solidFill>
              <a:srgbClr val="222222"/>
            </a:solidFill>
            <a:prstDash val="solid"/>
          </a:ln>
        </p:spPr>
      </p:sp>
      <p:sp>
        <p:nvSpPr>
          <p:cNvPr id="78" name="Shape 76"/>
          <p:cNvSpPr/>
          <p:nvPr/>
        </p:nvSpPr>
        <p:spPr>
          <a:xfrm>
            <a:off x="460772" y="3195600"/>
            <a:ext cx="0" cy="858366"/>
          </a:xfrm>
          <a:prstGeom prst="line">
            <a:avLst/>
          </a:prstGeom>
          <a:noFill/>
          <a:ln w="7144">
            <a:solidFill>
              <a:srgbClr val="222222"/>
            </a:solidFill>
            <a:prstDash val="solid"/>
          </a:ln>
        </p:spPr>
      </p:sp>
      <p:sp>
        <p:nvSpPr>
          <p:cNvPr id="79" name="Text 77"/>
          <p:cNvSpPr/>
          <p:nvPr/>
        </p:nvSpPr>
        <p:spPr>
          <a:xfrm>
            <a:off x="578644" y="3471193"/>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11</a:t>
            </a:r>
            <a:endParaRPr lang="en-US" sz="800" dirty="0"/>
          </a:p>
        </p:txBody>
      </p:sp>
      <p:sp>
        <p:nvSpPr>
          <p:cNvPr id="80" name="Text 78"/>
          <p:cNvSpPr/>
          <p:nvPr/>
        </p:nvSpPr>
        <p:spPr>
          <a:xfrm>
            <a:off x="578644" y="3635499"/>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Network Interfaces</a:t>
            </a:r>
            <a:endParaRPr lang="en-US" sz="800" dirty="0"/>
          </a:p>
        </p:txBody>
      </p:sp>
      <p:sp>
        <p:nvSpPr>
          <p:cNvPr id="81" name="Text 79"/>
          <p:cNvSpPr/>
          <p:nvPr/>
        </p:nvSpPr>
        <p:spPr>
          <a:xfrm>
            <a:off x="2120243" y="3195600"/>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82" name="Shape 80"/>
          <p:cNvSpPr/>
          <p:nvPr/>
        </p:nvSpPr>
        <p:spPr>
          <a:xfrm>
            <a:off x="2120243" y="3202744"/>
            <a:ext cx="1577318" cy="0"/>
          </a:xfrm>
          <a:prstGeom prst="line">
            <a:avLst/>
          </a:prstGeom>
          <a:noFill/>
          <a:ln w="14288">
            <a:solidFill>
              <a:srgbClr val="C9A96E"/>
            </a:solidFill>
            <a:prstDash val="solid"/>
          </a:ln>
        </p:spPr>
      </p:sp>
      <p:sp>
        <p:nvSpPr>
          <p:cNvPr id="83" name="Shape 81"/>
          <p:cNvSpPr/>
          <p:nvPr/>
        </p:nvSpPr>
        <p:spPr>
          <a:xfrm>
            <a:off x="3693988" y="3195600"/>
            <a:ext cx="0" cy="858366"/>
          </a:xfrm>
          <a:prstGeom prst="line">
            <a:avLst/>
          </a:prstGeom>
          <a:noFill/>
          <a:ln w="7144">
            <a:solidFill>
              <a:srgbClr val="222222"/>
            </a:solidFill>
            <a:prstDash val="solid"/>
          </a:ln>
        </p:spPr>
      </p:sp>
      <p:sp>
        <p:nvSpPr>
          <p:cNvPr id="84" name="Shape 82"/>
          <p:cNvSpPr/>
          <p:nvPr/>
        </p:nvSpPr>
        <p:spPr>
          <a:xfrm>
            <a:off x="2120243" y="4050395"/>
            <a:ext cx="1577318" cy="0"/>
          </a:xfrm>
          <a:prstGeom prst="line">
            <a:avLst/>
          </a:prstGeom>
          <a:noFill/>
          <a:ln w="7144">
            <a:solidFill>
              <a:srgbClr val="222222"/>
            </a:solidFill>
            <a:prstDash val="solid"/>
          </a:ln>
        </p:spPr>
      </p:sp>
      <p:sp>
        <p:nvSpPr>
          <p:cNvPr id="85" name="Shape 83"/>
          <p:cNvSpPr/>
          <p:nvPr/>
        </p:nvSpPr>
        <p:spPr>
          <a:xfrm>
            <a:off x="2123815" y="3195600"/>
            <a:ext cx="0" cy="858366"/>
          </a:xfrm>
          <a:prstGeom prst="line">
            <a:avLst/>
          </a:prstGeom>
          <a:noFill/>
          <a:ln w="7144">
            <a:solidFill>
              <a:srgbClr val="222222"/>
            </a:solidFill>
            <a:prstDash val="solid"/>
          </a:ln>
        </p:spPr>
      </p:sp>
      <p:sp>
        <p:nvSpPr>
          <p:cNvPr id="86" name="Text 84"/>
          <p:cNvSpPr/>
          <p:nvPr/>
        </p:nvSpPr>
        <p:spPr>
          <a:xfrm>
            <a:off x="2241686" y="3471193"/>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12</a:t>
            </a:r>
            <a:endParaRPr lang="en-US" sz="800" dirty="0"/>
          </a:p>
        </p:txBody>
      </p:sp>
      <p:sp>
        <p:nvSpPr>
          <p:cNvPr id="87" name="Text 85"/>
          <p:cNvSpPr/>
          <p:nvPr/>
        </p:nvSpPr>
        <p:spPr>
          <a:xfrm>
            <a:off x="2241686" y="3635499"/>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Log Analysis</a:t>
            </a:r>
            <a:endParaRPr lang="en-US" sz="800" dirty="0"/>
          </a:p>
        </p:txBody>
      </p:sp>
      <p:sp>
        <p:nvSpPr>
          <p:cNvPr id="88" name="Text 86"/>
          <p:cNvSpPr/>
          <p:nvPr/>
        </p:nvSpPr>
        <p:spPr>
          <a:xfrm>
            <a:off x="3783285" y="3195600"/>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89" name="Shape 87"/>
          <p:cNvSpPr/>
          <p:nvPr/>
        </p:nvSpPr>
        <p:spPr>
          <a:xfrm>
            <a:off x="3783285" y="3202744"/>
            <a:ext cx="1577318" cy="0"/>
          </a:xfrm>
          <a:prstGeom prst="line">
            <a:avLst/>
          </a:prstGeom>
          <a:noFill/>
          <a:ln w="14288">
            <a:solidFill>
              <a:srgbClr val="C9A96E"/>
            </a:solidFill>
            <a:prstDash val="solid"/>
          </a:ln>
        </p:spPr>
      </p:sp>
      <p:sp>
        <p:nvSpPr>
          <p:cNvPr id="90" name="Shape 88"/>
          <p:cNvSpPr/>
          <p:nvPr/>
        </p:nvSpPr>
        <p:spPr>
          <a:xfrm>
            <a:off x="5357031" y="3195600"/>
            <a:ext cx="0" cy="858366"/>
          </a:xfrm>
          <a:prstGeom prst="line">
            <a:avLst/>
          </a:prstGeom>
          <a:noFill/>
          <a:ln w="7144">
            <a:solidFill>
              <a:srgbClr val="222222"/>
            </a:solidFill>
            <a:prstDash val="solid"/>
          </a:ln>
        </p:spPr>
      </p:sp>
      <p:sp>
        <p:nvSpPr>
          <p:cNvPr id="91" name="Shape 89"/>
          <p:cNvSpPr/>
          <p:nvPr/>
        </p:nvSpPr>
        <p:spPr>
          <a:xfrm>
            <a:off x="3783285" y="4050395"/>
            <a:ext cx="1577318" cy="0"/>
          </a:xfrm>
          <a:prstGeom prst="line">
            <a:avLst/>
          </a:prstGeom>
          <a:noFill/>
          <a:ln w="7144">
            <a:solidFill>
              <a:srgbClr val="222222"/>
            </a:solidFill>
            <a:prstDash val="solid"/>
          </a:ln>
        </p:spPr>
      </p:sp>
      <p:sp>
        <p:nvSpPr>
          <p:cNvPr id="92" name="Shape 90"/>
          <p:cNvSpPr/>
          <p:nvPr/>
        </p:nvSpPr>
        <p:spPr>
          <a:xfrm>
            <a:off x="3786857" y="3195600"/>
            <a:ext cx="0" cy="858366"/>
          </a:xfrm>
          <a:prstGeom prst="line">
            <a:avLst/>
          </a:prstGeom>
          <a:noFill/>
          <a:ln w="7144">
            <a:solidFill>
              <a:srgbClr val="222222"/>
            </a:solidFill>
            <a:prstDash val="solid"/>
          </a:ln>
        </p:spPr>
      </p:sp>
      <p:sp>
        <p:nvSpPr>
          <p:cNvPr id="93" name="Text 91"/>
          <p:cNvSpPr/>
          <p:nvPr/>
        </p:nvSpPr>
        <p:spPr>
          <a:xfrm>
            <a:off x="3904729" y="3471193"/>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13</a:t>
            </a:r>
            <a:endParaRPr lang="en-US" sz="800" dirty="0"/>
          </a:p>
        </p:txBody>
      </p:sp>
      <p:sp>
        <p:nvSpPr>
          <p:cNvPr id="94" name="Text 92"/>
          <p:cNvSpPr/>
          <p:nvPr/>
        </p:nvSpPr>
        <p:spPr>
          <a:xfrm>
            <a:off x="3904729" y="3635499"/>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Process Scanner</a:t>
            </a:r>
            <a:endParaRPr lang="en-US" sz="800" dirty="0"/>
          </a:p>
        </p:txBody>
      </p:sp>
      <p:sp>
        <p:nvSpPr>
          <p:cNvPr id="95" name="Text 93"/>
          <p:cNvSpPr/>
          <p:nvPr/>
        </p:nvSpPr>
        <p:spPr>
          <a:xfrm>
            <a:off x="5446328" y="3195600"/>
            <a:ext cx="1577318"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96" name="Shape 94"/>
          <p:cNvSpPr/>
          <p:nvPr/>
        </p:nvSpPr>
        <p:spPr>
          <a:xfrm>
            <a:off x="5446328" y="3202744"/>
            <a:ext cx="1577318" cy="0"/>
          </a:xfrm>
          <a:prstGeom prst="line">
            <a:avLst/>
          </a:prstGeom>
          <a:noFill/>
          <a:ln w="14288">
            <a:solidFill>
              <a:srgbClr val="C9A96E"/>
            </a:solidFill>
            <a:prstDash val="solid"/>
          </a:ln>
        </p:spPr>
      </p:sp>
      <p:sp>
        <p:nvSpPr>
          <p:cNvPr id="97" name="Shape 95"/>
          <p:cNvSpPr/>
          <p:nvPr/>
        </p:nvSpPr>
        <p:spPr>
          <a:xfrm>
            <a:off x="7020074" y="3195600"/>
            <a:ext cx="0" cy="858366"/>
          </a:xfrm>
          <a:prstGeom prst="line">
            <a:avLst/>
          </a:prstGeom>
          <a:noFill/>
          <a:ln w="7144">
            <a:solidFill>
              <a:srgbClr val="222222"/>
            </a:solidFill>
            <a:prstDash val="solid"/>
          </a:ln>
        </p:spPr>
      </p:sp>
      <p:sp>
        <p:nvSpPr>
          <p:cNvPr id="98" name="Shape 96"/>
          <p:cNvSpPr/>
          <p:nvPr/>
        </p:nvSpPr>
        <p:spPr>
          <a:xfrm>
            <a:off x="5446328" y="4050395"/>
            <a:ext cx="1577318" cy="0"/>
          </a:xfrm>
          <a:prstGeom prst="line">
            <a:avLst/>
          </a:prstGeom>
          <a:noFill/>
          <a:ln w="7144">
            <a:solidFill>
              <a:srgbClr val="222222"/>
            </a:solidFill>
            <a:prstDash val="solid"/>
          </a:ln>
        </p:spPr>
      </p:sp>
      <p:sp>
        <p:nvSpPr>
          <p:cNvPr id="99" name="Shape 97"/>
          <p:cNvSpPr/>
          <p:nvPr/>
        </p:nvSpPr>
        <p:spPr>
          <a:xfrm>
            <a:off x="5449900" y="3195600"/>
            <a:ext cx="0" cy="858366"/>
          </a:xfrm>
          <a:prstGeom prst="line">
            <a:avLst/>
          </a:prstGeom>
          <a:noFill/>
          <a:ln w="7144">
            <a:solidFill>
              <a:srgbClr val="222222"/>
            </a:solidFill>
            <a:prstDash val="solid"/>
          </a:ln>
        </p:spPr>
      </p:sp>
      <p:sp>
        <p:nvSpPr>
          <p:cNvPr id="100" name="Text 98"/>
          <p:cNvSpPr/>
          <p:nvPr/>
        </p:nvSpPr>
        <p:spPr>
          <a:xfrm>
            <a:off x="5567772" y="3471193"/>
            <a:ext cx="1334430"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14</a:t>
            </a:r>
            <a:endParaRPr lang="en-US" sz="800" dirty="0"/>
          </a:p>
        </p:txBody>
      </p:sp>
      <p:sp>
        <p:nvSpPr>
          <p:cNvPr id="101" name="Text 99"/>
          <p:cNvSpPr/>
          <p:nvPr/>
        </p:nvSpPr>
        <p:spPr>
          <a:xfrm>
            <a:off x="5567772" y="3635499"/>
            <a:ext cx="1334430"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File System Audit</a:t>
            </a:r>
            <a:endParaRPr lang="en-US" sz="800" dirty="0"/>
          </a:p>
        </p:txBody>
      </p:sp>
      <p:sp>
        <p:nvSpPr>
          <p:cNvPr id="102" name="Text 100"/>
          <p:cNvSpPr/>
          <p:nvPr/>
        </p:nvSpPr>
        <p:spPr>
          <a:xfrm>
            <a:off x="7109371" y="3195600"/>
            <a:ext cx="1577429" cy="858366"/>
          </a:xfrm>
          <a:prstGeom prst="roundRect">
            <a:avLst>
              <a:gd name="adj" fmla="val 11097"/>
            </a:avLst>
          </a:prstGeom>
          <a:solidFill>
            <a:srgbClr val="111111"/>
          </a:solidFill>
          <a:ln/>
        </p:spPr>
        <p:txBody>
          <a:bodyPr wrap="square" rtlCol="0" anchor="ctr"/>
          <a:lstStyle/>
          <a:p>
            <a:pPr indent="0" marL="0">
              <a:buNone/>
            </a:pPr>
            <a:endParaRPr lang="en-US" dirty="0"/>
          </a:p>
        </p:txBody>
      </p:sp>
      <p:sp>
        <p:nvSpPr>
          <p:cNvPr id="103" name="Shape 101"/>
          <p:cNvSpPr/>
          <p:nvPr/>
        </p:nvSpPr>
        <p:spPr>
          <a:xfrm>
            <a:off x="7109371" y="3202744"/>
            <a:ext cx="1577429" cy="0"/>
          </a:xfrm>
          <a:prstGeom prst="line">
            <a:avLst/>
          </a:prstGeom>
          <a:noFill/>
          <a:ln w="14288">
            <a:solidFill>
              <a:srgbClr val="C9A96E"/>
            </a:solidFill>
            <a:prstDash val="solid"/>
          </a:ln>
        </p:spPr>
      </p:sp>
      <p:sp>
        <p:nvSpPr>
          <p:cNvPr id="104" name="Shape 102"/>
          <p:cNvSpPr/>
          <p:nvPr/>
        </p:nvSpPr>
        <p:spPr>
          <a:xfrm>
            <a:off x="8683228" y="3195600"/>
            <a:ext cx="0" cy="858366"/>
          </a:xfrm>
          <a:prstGeom prst="line">
            <a:avLst/>
          </a:prstGeom>
          <a:noFill/>
          <a:ln w="7144">
            <a:solidFill>
              <a:srgbClr val="222222"/>
            </a:solidFill>
            <a:prstDash val="solid"/>
          </a:ln>
        </p:spPr>
      </p:sp>
      <p:sp>
        <p:nvSpPr>
          <p:cNvPr id="105" name="Shape 103"/>
          <p:cNvSpPr/>
          <p:nvPr/>
        </p:nvSpPr>
        <p:spPr>
          <a:xfrm>
            <a:off x="7109371" y="4050395"/>
            <a:ext cx="1577429" cy="0"/>
          </a:xfrm>
          <a:prstGeom prst="line">
            <a:avLst/>
          </a:prstGeom>
          <a:noFill/>
          <a:ln w="7144">
            <a:solidFill>
              <a:srgbClr val="222222"/>
            </a:solidFill>
            <a:prstDash val="solid"/>
          </a:ln>
        </p:spPr>
      </p:sp>
      <p:sp>
        <p:nvSpPr>
          <p:cNvPr id="106" name="Shape 104"/>
          <p:cNvSpPr/>
          <p:nvPr/>
        </p:nvSpPr>
        <p:spPr>
          <a:xfrm>
            <a:off x="7112943" y="3195600"/>
            <a:ext cx="0" cy="858366"/>
          </a:xfrm>
          <a:prstGeom prst="line">
            <a:avLst/>
          </a:prstGeom>
          <a:noFill/>
          <a:ln w="7144">
            <a:solidFill>
              <a:srgbClr val="222222"/>
            </a:solidFill>
            <a:prstDash val="solid"/>
          </a:ln>
        </p:spPr>
      </p:sp>
      <p:sp>
        <p:nvSpPr>
          <p:cNvPr id="107" name="Text 105"/>
          <p:cNvSpPr/>
          <p:nvPr/>
        </p:nvSpPr>
        <p:spPr>
          <a:xfrm>
            <a:off x="7230814" y="3471193"/>
            <a:ext cx="1334542" cy="136874"/>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C9A96E"/>
                </a:solidFill>
                <a:latin typeface="Liberation Sans Narrow" pitchFamily="34" charset="0"/>
                <a:ea typeface="Liberation Sans Narrow" pitchFamily="34" charset="-122"/>
                <a:cs typeface="Liberation Sans Narrow" pitchFamily="34" charset="-120"/>
              </a:rPr>
              <a:t>15</a:t>
            </a:r>
            <a:endParaRPr lang="en-US" sz="800" dirty="0"/>
          </a:p>
        </p:txBody>
      </p:sp>
      <p:sp>
        <p:nvSpPr>
          <p:cNvPr id="108" name="Text 106"/>
          <p:cNvSpPr/>
          <p:nvPr/>
        </p:nvSpPr>
        <p:spPr>
          <a:xfrm>
            <a:off x="7230814" y="3635499"/>
            <a:ext cx="1334542" cy="164592"/>
          </a:xfrm>
          <a:prstGeom prst="rect">
            <a:avLst/>
          </a:prstGeom>
          <a:noFill/>
          <a:ln/>
        </p:spPr>
        <p:txBody>
          <a:bodyPr wrap="none" lIns="0" tIns="0" rIns="0" bIns="0" rtlCol="0" anchor="t"/>
          <a:lstStyle/>
          <a:p>
            <a:pPr algn="l" indent="0" marL="0">
              <a:lnSpc>
                <a:spcPts val="1181"/>
              </a:lnSpc>
              <a:buNone/>
            </a:pPr>
            <a:r>
              <a:rPr lang="en-US" sz="800" dirty="0">
                <a:solidFill>
                  <a:srgbClr val="FFFFFF"/>
                </a:solidFill>
                <a:latin typeface="Carlito" pitchFamily="34" charset="0"/>
                <a:ea typeface="Carlito" pitchFamily="34" charset="-122"/>
                <a:cs typeface="Carlito" pitchFamily="34" charset="-120"/>
              </a:rPr>
              <a:t>Registry Analysis</a:t>
            </a:r>
            <a:endParaRPr lang="en-US" sz="800" dirty="0"/>
          </a:p>
        </p:txBody>
      </p:sp>
      <p:sp>
        <p:nvSpPr>
          <p:cNvPr id="109" name="Text 107"/>
          <p:cNvSpPr/>
          <p:nvPr/>
        </p:nvSpPr>
        <p:spPr>
          <a:xfrm>
            <a:off x="457200" y="4196953"/>
            <a:ext cx="8229600" cy="489347"/>
          </a:xfrm>
          <a:prstGeom prst="roundRect">
            <a:avLst>
              <a:gd name="adj" fmla="val 19465"/>
            </a:avLst>
          </a:prstGeom>
          <a:solidFill>
            <a:srgbClr val="111111"/>
          </a:solidFill>
          <a:ln/>
        </p:spPr>
        <p:txBody>
          <a:bodyPr wrap="square" rtlCol="0" anchor="ctr"/>
          <a:lstStyle/>
          <a:p>
            <a:pPr indent="0" marL="0">
              <a:buNone/>
            </a:pPr>
            <a:endParaRPr lang="en-US" dirty="0"/>
          </a:p>
        </p:txBody>
      </p:sp>
      <p:sp>
        <p:nvSpPr>
          <p:cNvPr id="110" name="Shape 108"/>
          <p:cNvSpPr/>
          <p:nvPr/>
        </p:nvSpPr>
        <p:spPr>
          <a:xfrm>
            <a:off x="457200" y="4204097"/>
            <a:ext cx="8229600" cy="0"/>
          </a:xfrm>
          <a:prstGeom prst="line">
            <a:avLst/>
          </a:prstGeom>
          <a:noFill/>
          <a:ln w="14288">
            <a:solidFill>
              <a:srgbClr val="C9A96E"/>
            </a:solidFill>
            <a:prstDash val="solid"/>
          </a:ln>
        </p:spPr>
      </p:sp>
      <p:sp>
        <p:nvSpPr>
          <p:cNvPr id="111" name="Shape 109"/>
          <p:cNvSpPr/>
          <p:nvPr/>
        </p:nvSpPr>
        <p:spPr>
          <a:xfrm>
            <a:off x="8683228" y="4196953"/>
            <a:ext cx="0" cy="489347"/>
          </a:xfrm>
          <a:prstGeom prst="line">
            <a:avLst/>
          </a:prstGeom>
          <a:noFill/>
          <a:ln w="7144">
            <a:solidFill>
              <a:srgbClr val="222222"/>
            </a:solidFill>
            <a:prstDash val="solid"/>
          </a:ln>
        </p:spPr>
      </p:sp>
      <p:sp>
        <p:nvSpPr>
          <p:cNvPr id="112" name="Shape 110"/>
          <p:cNvSpPr/>
          <p:nvPr/>
        </p:nvSpPr>
        <p:spPr>
          <a:xfrm>
            <a:off x="457200" y="4682728"/>
            <a:ext cx="8229600" cy="0"/>
          </a:xfrm>
          <a:prstGeom prst="line">
            <a:avLst/>
          </a:prstGeom>
          <a:noFill/>
          <a:ln w="7144">
            <a:solidFill>
              <a:srgbClr val="222222"/>
            </a:solidFill>
            <a:prstDash val="solid"/>
          </a:ln>
        </p:spPr>
      </p:sp>
      <p:sp>
        <p:nvSpPr>
          <p:cNvPr id="113" name="Shape 111"/>
          <p:cNvSpPr/>
          <p:nvPr/>
        </p:nvSpPr>
        <p:spPr>
          <a:xfrm>
            <a:off x="460772" y="4196953"/>
            <a:ext cx="0" cy="489347"/>
          </a:xfrm>
          <a:prstGeom prst="line">
            <a:avLst/>
          </a:prstGeom>
          <a:noFill/>
          <a:ln w="7144">
            <a:solidFill>
              <a:srgbClr val="222222"/>
            </a:solidFill>
            <a:prstDash val="solid"/>
          </a:ln>
        </p:spPr>
      </p:sp>
      <p:sp>
        <p:nvSpPr>
          <p:cNvPr id="114" name="Text 112"/>
          <p:cNvSpPr/>
          <p:nvPr/>
        </p:nvSpPr>
        <p:spPr>
          <a:xfrm>
            <a:off x="635794" y="4375547"/>
            <a:ext cx="3928616" cy="164592"/>
          </a:xfrm>
          <a:prstGeom prst="rect">
            <a:avLst/>
          </a:prstGeom>
          <a:noFill/>
          <a:ln/>
        </p:spPr>
        <p:txBody>
          <a:bodyPr wrap="none" lIns="0" tIns="0" rIns="0" bIns="0" rtlCol="0" anchor="t"/>
          <a:lstStyle/>
          <a:p>
            <a:pPr algn="l" indent="0" marL="0">
              <a:lnSpc>
                <a:spcPts val="1097"/>
              </a:lnSpc>
              <a:buNone/>
            </a:pPr>
            <a:r>
              <a:rPr lang="en-US" sz="800" spc="44" kern="0" dirty="0">
                <a:solidFill>
                  <a:srgbClr val="666666"/>
                </a:solidFill>
                <a:latin typeface="Courier New" pitchFamily="34" charset="0"/>
                <a:ea typeface="Courier New" pitchFamily="34" charset="-122"/>
                <a:cs typeface="Courier New" pitchFamily="34" charset="-120"/>
              </a:rPr>
              <a:t>SCAN TYPES</a:t>
            </a:r>
            <a:endParaRPr lang="en-US" sz="800" dirty="0"/>
          </a:p>
        </p:txBody>
      </p:sp>
      <p:sp>
        <p:nvSpPr>
          <p:cNvPr id="115" name="Text 113"/>
          <p:cNvSpPr/>
          <p:nvPr/>
        </p:nvSpPr>
        <p:spPr>
          <a:xfrm>
            <a:off x="4598700" y="4312739"/>
            <a:ext cx="791907" cy="264919"/>
          </a:xfrm>
          <a:prstGeom prst="roundRect">
            <a:avLst>
              <a:gd name="adj" fmla="val 21573"/>
            </a:avLst>
          </a:prstGeom>
          <a:solidFill>
            <a:srgbClr val="C9A96E">
              <a:alpha val="20000"/>
            </a:srgbClr>
          </a:solidFill>
          <a:ln w="7144">
            <a:solidFill>
              <a:srgbClr val="C9A96E"/>
            </a:solidFill>
            <a:prstDash val="solid"/>
          </a:ln>
        </p:spPr>
        <p:txBody>
          <a:bodyPr wrap="square" rtlCol="0" anchor="ctr"/>
          <a:lstStyle/>
          <a:p>
            <a:pPr indent="0" marL="0">
              <a:buNone/>
            </a:pPr>
            <a:endParaRPr lang="en-US" dirty="0"/>
          </a:p>
        </p:txBody>
      </p:sp>
      <p:sp>
        <p:nvSpPr>
          <p:cNvPr id="116" name="Text 114"/>
          <p:cNvSpPr/>
          <p:nvPr/>
        </p:nvSpPr>
        <p:spPr>
          <a:xfrm>
            <a:off x="4621560" y="4325541"/>
            <a:ext cx="746187" cy="239316"/>
          </a:xfrm>
          <a:prstGeom prst="rect">
            <a:avLst/>
          </a:prstGeom>
          <a:noFill/>
          <a:ln/>
        </p:spPr>
        <p:txBody>
          <a:bodyPr wrap="none" lIns="0" tIns="0" rIns="0" bIns="0" rtlCol="0" anchor="ctr"/>
          <a:lstStyle/>
          <a:p>
            <a:pPr algn="ctr" indent="0" marL="0">
              <a:lnSpc>
                <a:spcPts val="1097"/>
              </a:lnSpc>
              <a:buNone/>
            </a:pPr>
            <a:r>
              <a:rPr lang="en-US" sz="800" dirty="0">
                <a:solidFill>
                  <a:srgbClr val="C9A96E"/>
                </a:solidFill>
                <a:latin typeface="Courier New" pitchFamily="34" charset="0"/>
                <a:ea typeface="Courier New" pitchFamily="34" charset="-122"/>
                <a:cs typeface="Courier New" pitchFamily="34" charset="-120"/>
              </a:rPr>
              <a:t>Full Scan</a:t>
            </a:r>
            <a:endParaRPr lang="en-US" sz="800" dirty="0"/>
          </a:p>
        </p:txBody>
      </p:sp>
      <p:sp>
        <p:nvSpPr>
          <p:cNvPr id="117" name="Text 115"/>
          <p:cNvSpPr/>
          <p:nvPr/>
        </p:nvSpPr>
        <p:spPr>
          <a:xfrm>
            <a:off x="5459187" y="4312739"/>
            <a:ext cx="847829" cy="264919"/>
          </a:xfrm>
          <a:prstGeom prst="roundRect">
            <a:avLst>
              <a:gd name="adj" fmla="val 21573"/>
            </a:avLst>
          </a:prstGeom>
          <a:solidFill>
            <a:srgbClr val="C9A96E">
              <a:alpha val="20000"/>
            </a:srgbClr>
          </a:solidFill>
          <a:ln w="7144">
            <a:solidFill>
              <a:srgbClr val="C9A96E"/>
            </a:solidFill>
            <a:prstDash val="solid"/>
          </a:ln>
        </p:spPr>
        <p:txBody>
          <a:bodyPr wrap="square" rtlCol="0" anchor="ctr"/>
          <a:lstStyle/>
          <a:p>
            <a:pPr indent="0" marL="0">
              <a:buNone/>
            </a:pPr>
            <a:endParaRPr lang="en-US" dirty="0"/>
          </a:p>
        </p:txBody>
      </p:sp>
      <p:sp>
        <p:nvSpPr>
          <p:cNvPr id="118" name="Text 116"/>
          <p:cNvSpPr/>
          <p:nvPr/>
        </p:nvSpPr>
        <p:spPr>
          <a:xfrm>
            <a:off x="5482047" y="4325541"/>
            <a:ext cx="802109" cy="239316"/>
          </a:xfrm>
          <a:prstGeom prst="rect">
            <a:avLst/>
          </a:prstGeom>
          <a:noFill/>
          <a:ln/>
        </p:spPr>
        <p:txBody>
          <a:bodyPr wrap="none" lIns="0" tIns="0" rIns="0" bIns="0" rtlCol="0" anchor="ctr"/>
          <a:lstStyle/>
          <a:p>
            <a:pPr algn="ctr" indent="0" marL="0">
              <a:lnSpc>
                <a:spcPts val="1097"/>
              </a:lnSpc>
              <a:buNone/>
            </a:pPr>
            <a:r>
              <a:rPr lang="en-US" sz="800" dirty="0">
                <a:solidFill>
                  <a:srgbClr val="C9A96E"/>
                </a:solidFill>
                <a:latin typeface="Courier New" pitchFamily="34" charset="0"/>
                <a:ea typeface="Courier New" pitchFamily="34" charset="-122"/>
                <a:cs typeface="Courier New" pitchFamily="34" charset="-120"/>
              </a:rPr>
              <a:t>Quick Scan</a:t>
            </a:r>
            <a:endParaRPr lang="en-US" sz="800" dirty="0"/>
          </a:p>
        </p:txBody>
      </p:sp>
      <p:sp>
        <p:nvSpPr>
          <p:cNvPr id="119" name="Text 117"/>
          <p:cNvSpPr/>
          <p:nvPr/>
        </p:nvSpPr>
        <p:spPr>
          <a:xfrm>
            <a:off x="6375596" y="4312739"/>
            <a:ext cx="959562" cy="264919"/>
          </a:xfrm>
          <a:prstGeom prst="roundRect">
            <a:avLst>
              <a:gd name="adj" fmla="val 21573"/>
            </a:avLst>
          </a:prstGeom>
          <a:solidFill>
            <a:srgbClr val="C9A96E">
              <a:alpha val="20000"/>
            </a:srgbClr>
          </a:solidFill>
          <a:ln w="7144">
            <a:solidFill>
              <a:srgbClr val="C9A96E"/>
            </a:solidFill>
            <a:prstDash val="solid"/>
          </a:ln>
        </p:spPr>
        <p:txBody>
          <a:bodyPr wrap="square" rtlCol="0" anchor="ctr"/>
          <a:lstStyle/>
          <a:p>
            <a:pPr indent="0" marL="0">
              <a:buNone/>
            </a:pPr>
            <a:endParaRPr lang="en-US" dirty="0"/>
          </a:p>
        </p:txBody>
      </p:sp>
      <p:sp>
        <p:nvSpPr>
          <p:cNvPr id="120" name="Text 118"/>
          <p:cNvSpPr/>
          <p:nvPr/>
        </p:nvSpPr>
        <p:spPr>
          <a:xfrm>
            <a:off x="6398456" y="4325541"/>
            <a:ext cx="913842" cy="239316"/>
          </a:xfrm>
          <a:prstGeom prst="rect">
            <a:avLst/>
          </a:prstGeom>
          <a:noFill/>
          <a:ln/>
        </p:spPr>
        <p:txBody>
          <a:bodyPr wrap="none" lIns="0" tIns="0" rIns="0" bIns="0" rtlCol="0" anchor="ctr"/>
          <a:lstStyle/>
          <a:p>
            <a:pPr algn="ctr" indent="0" marL="0">
              <a:lnSpc>
                <a:spcPts val="1097"/>
              </a:lnSpc>
              <a:buNone/>
            </a:pPr>
            <a:r>
              <a:rPr lang="en-US" sz="800" dirty="0">
                <a:solidFill>
                  <a:srgbClr val="C9A96E"/>
                </a:solidFill>
                <a:latin typeface="Courier New" pitchFamily="34" charset="0"/>
                <a:ea typeface="Courier New" pitchFamily="34" charset="-122"/>
                <a:cs typeface="Courier New" pitchFamily="34" charset="-120"/>
              </a:rPr>
              <a:t>Stealth Scan</a:t>
            </a:r>
            <a:endParaRPr lang="en-US" sz="800" dirty="0"/>
          </a:p>
        </p:txBody>
      </p:sp>
      <p:sp>
        <p:nvSpPr>
          <p:cNvPr id="121" name="Text 119"/>
          <p:cNvSpPr/>
          <p:nvPr/>
        </p:nvSpPr>
        <p:spPr>
          <a:xfrm>
            <a:off x="7403738" y="4312739"/>
            <a:ext cx="1127328" cy="264919"/>
          </a:xfrm>
          <a:prstGeom prst="roundRect">
            <a:avLst>
              <a:gd name="adj" fmla="val 21573"/>
            </a:avLst>
          </a:prstGeom>
          <a:solidFill>
            <a:srgbClr val="C9A96E">
              <a:alpha val="20000"/>
            </a:srgbClr>
          </a:solidFill>
          <a:ln w="7144">
            <a:solidFill>
              <a:srgbClr val="C9A96E"/>
            </a:solidFill>
            <a:prstDash val="solid"/>
          </a:ln>
        </p:spPr>
        <p:txBody>
          <a:bodyPr wrap="square" rtlCol="0" anchor="ctr"/>
          <a:lstStyle/>
          <a:p>
            <a:pPr indent="0" marL="0">
              <a:buNone/>
            </a:pPr>
            <a:endParaRPr lang="en-US" dirty="0"/>
          </a:p>
        </p:txBody>
      </p:sp>
      <p:sp>
        <p:nvSpPr>
          <p:cNvPr id="122" name="Text 120"/>
          <p:cNvSpPr/>
          <p:nvPr/>
        </p:nvSpPr>
        <p:spPr>
          <a:xfrm>
            <a:off x="7426598" y="4325541"/>
            <a:ext cx="1081608" cy="239316"/>
          </a:xfrm>
          <a:prstGeom prst="rect">
            <a:avLst/>
          </a:prstGeom>
          <a:noFill/>
          <a:ln/>
        </p:spPr>
        <p:txBody>
          <a:bodyPr wrap="none" lIns="0" tIns="0" rIns="0" bIns="0" rtlCol="0" anchor="ctr"/>
          <a:lstStyle/>
          <a:p>
            <a:pPr algn="ctr" indent="0" marL="0">
              <a:lnSpc>
                <a:spcPts val="1097"/>
              </a:lnSpc>
              <a:buNone/>
            </a:pPr>
            <a:r>
              <a:rPr lang="en-US" sz="800" dirty="0">
                <a:solidFill>
                  <a:srgbClr val="C9A96E"/>
                </a:solidFill>
                <a:latin typeface="Courier New" pitchFamily="34" charset="0"/>
                <a:ea typeface="Courier New" pitchFamily="34" charset="-122"/>
                <a:cs typeface="Courier New" pitchFamily="34" charset="-120"/>
              </a:rPr>
              <a:t>Compliance Scan</a:t>
            </a:r>
            <a:endParaRPr lang="en-US" sz="800" dirty="0"/>
          </a:p>
        </p:txBody>
      </p:sp>
      <p:sp>
        <p:nvSpPr>
          <p:cNvPr id="123" name="Text 121"/>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124" name="Text 122"/>
          <p:cNvSpPr/>
          <p:nvPr/>
        </p:nvSpPr>
        <p:spPr>
          <a:xfrm>
            <a:off x="8554083" y="4843463"/>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79" kern="0" dirty="0">
                <a:solidFill>
                  <a:srgbClr val="C9A96E"/>
                </a:solidFill>
                <a:latin typeface="Courier New" pitchFamily="34" charset="0"/>
                <a:ea typeface="Courier New" pitchFamily="34" charset="-122"/>
                <a:cs typeface="Courier New" pitchFamily="34" charset="-120"/>
              </a:rPr>
              <a:t>SECURITY</a:t>
            </a:r>
            <a:endParaRPr lang="en-US" sz="800" dirty="0"/>
          </a:p>
        </p:txBody>
      </p:sp>
      <p:sp>
        <p:nvSpPr>
          <p:cNvPr id="3" name="Text 1"/>
          <p:cNvSpPr/>
          <p:nvPr/>
        </p:nvSpPr>
        <p:spPr>
          <a:xfrm>
            <a:off x="457200" y="692944"/>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Defense in depth, by design</a:t>
            </a:r>
            <a:endParaRPr lang="en-US" sz="2025" dirty="0"/>
          </a:p>
        </p:txBody>
      </p:sp>
      <p:sp>
        <p:nvSpPr>
          <p:cNvPr id="4" name="Shape 2"/>
          <p:cNvSpPr/>
          <p:nvPr/>
        </p:nvSpPr>
        <p:spPr>
          <a:xfrm>
            <a:off x="457200" y="1835944"/>
            <a:ext cx="4526235" cy="0"/>
          </a:xfrm>
          <a:prstGeom prst="line">
            <a:avLst/>
          </a:prstGeom>
          <a:noFill/>
          <a:ln w="7144">
            <a:solidFill>
              <a:srgbClr val="222222"/>
            </a:solidFill>
            <a:prstDash val="solid"/>
          </a:ln>
        </p:spPr>
      </p:sp>
      <p:sp>
        <p:nvSpPr>
          <p:cNvPr id="5" name="Text 3"/>
          <p:cNvSpPr/>
          <p:nvPr/>
        </p:nvSpPr>
        <p:spPr>
          <a:xfrm>
            <a:off x="457200" y="1407319"/>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6" name="Text 4"/>
          <p:cNvSpPr/>
          <p:nvPr/>
        </p:nvSpPr>
        <p:spPr>
          <a:xfrm>
            <a:off x="482203" y="1432322"/>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7" name="Text 5"/>
          <p:cNvSpPr/>
          <p:nvPr/>
        </p:nvSpPr>
        <p:spPr>
          <a:xfrm>
            <a:off x="828675" y="1407319"/>
            <a:ext cx="2124758"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Password Security</a:t>
            </a:r>
            <a:endParaRPr lang="en-US" sz="844" dirty="0"/>
          </a:p>
        </p:txBody>
      </p:sp>
      <p:sp>
        <p:nvSpPr>
          <p:cNvPr id="8" name="Text 6"/>
          <p:cNvSpPr/>
          <p:nvPr/>
        </p:nvSpPr>
        <p:spPr>
          <a:xfrm>
            <a:off x="828675" y="1582341"/>
            <a:ext cx="2185465" cy="150019"/>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bcrypt with 12 rounds, per-user salted hashes</a:t>
            </a:r>
            <a:endParaRPr lang="en-US" sz="788" dirty="0"/>
          </a:p>
        </p:txBody>
      </p:sp>
      <p:sp>
        <p:nvSpPr>
          <p:cNvPr id="9" name="Shape 7"/>
          <p:cNvSpPr/>
          <p:nvPr/>
        </p:nvSpPr>
        <p:spPr>
          <a:xfrm>
            <a:off x="457200" y="2482453"/>
            <a:ext cx="4526235" cy="0"/>
          </a:xfrm>
          <a:prstGeom prst="line">
            <a:avLst/>
          </a:prstGeom>
          <a:noFill/>
          <a:ln w="7144">
            <a:solidFill>
              <a:srgbClr val="222222"/>
            </a:solidFill>
            <a:prstDash val="solid"/>
          </a:ln>
        </p:spPr>
      </p:sp>
      <p:sp>
        <p:nvSpPr>
          <p:cNvPr id="10" name="Text 8"/>
          <p:cNvSpPr/>
          <p:nvPr/>
        </p:nvSpPr>
        <p:spPr>
          <a:xfrm>
            <a:off x="457200" y="2053828"/>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11" name="Text 9"/>
          <p:cNvSpPr/>
          <p:nvPr/>
        </p:nvSpPr>
        <p:spPr>
          <a:xfrm>
            <a:off x="482203" y="2078831"/>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12" name="Text 10"/>
          <p:cNvSpPr/>
          <p:nvPr/>
        </p:nvSpPr>
        <p:spPr>
          <a:xfrm>
            <a:off x="828675" y="2053828"/>
            <a:ext cx="2903800"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Session Management</a:t>
            </a:r>
            <a:endParaRPr lang="en-US" sz="844" dirty="0"/>
          </a:p>
        </p:txBody>
      </p:sp>
      <p:sp>
        <p:nvSpPr>
          <p:cNvPr id="13" name="Text 11"/>
          <p:cNvSpPr/>
          <p:nvPr/>
        </p:nvSpPr>
        <p:spPr>
          <a:xfrm>
            <a:off x="828675" y="2228850"/>
            <a:ext cx="2765524" cy="150019"/>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Server-side sessions, HttpOnly/Secure/SameSite=Lax cookies</a:t>
            </a:r>
            <a:endParaRPr lang="en-US" sz="788" dirty="0"/>
          </a:p>
        </p:txBody>
      </p:sp>
      <p:sp>
        <p:nvSpPr>
          <p:cNvPr id="14" name="Shape 12"/>
          <p:cNvSpPr/>
          <p:nvPr/>
        </p:nvSpPr>
        <p:spPr>
          <a:xfrm>
            <a:off x="457200" y="3128963"/>
            <a:ext cx="4526235" cy="0"/>
          </a:xfrm>
          <a:prstGeom prst="line">
            <a:avLst/>
          </a:prstGeom>
          <a:noFill/>
          <a:ln w="7144">
            <a:solidFill>
              <a:srgbClr val="222222"/>
            </a:solidFill>
            <a:prstDash val="solid"/>
          </a:ln>
        </p:spPr>
      </p:sp>
      <p:sp>
        <p:nvSpPr>
          <p:cNvPr id="15" name="Text 13"/>
          <p:cNvSpPr/>
          <p:nvPr/>
        </p:nvSpPr>
        <p:spPr>
          <a:xfrm>
            <a:off x="457200" y="2700338"/>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16" name="Text 14"/>
          <p:cNvSpPr/>
          <p:nvPr/>
        </p:nvSpPr>
        <p:spPr>
          <a:xfrm>
            <a:off x="482203" y="2725341"/>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828675" y="2700338"/>
            <a:ext cx="2455385"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SSRF Protection</a:t>
            </a:r>
            <a:endParaRPr lang="en-US" sz="844" dirty="0"/>
          </a:p>
        </p:txBody>
      </p:sp>
      <p:sp>
        <p:nvSpPr>
          <p:cNvPr id="18" name="Text 16"/>
          <p:cNvSpPr/>
          <p:nvPr/>
        </p:nvSpPr>
        <p:spPr>
          <a:xfrm>
            <a:off x="828675" y="2875359"/>
            <a:ext cx="2338462" cy="150019"/>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Private IP rejection, DNS validation, redirect blocking</a:t>
            </a:r>
            <a:endParaRPr lang="en-US" sz="788" dirty="0"/>
          </a:p>
        </p:txBody>
      </p:sp>
      <p:sp>
        <p:nvSpPr>
          <p:cNvPr id="19" name="Shape 17"/>
          <p:cNvSpPr/>
          <p:nvPr/>
        </p:nvSpPr>
        <p:spPr>
          <a:xfrm>
            <a:off x="457200" y="3775472"/>
            <a:ext cx="4526235" cy="0"/>
          </a:xfrm>
          <a:prstGeom prst="line">
            <a:avLst/>
          </a:prstGeom>
          <a:noFill/>
          <a:ln w="7144">
            <a:solidFill>
              <a:srgbClr val="222222"/>
            </a:solidFill>
            <a:prstDash val="solid"/>
          </a:ln>
        </p:spPr>
      </p:sp>
      <p:sp>
        <p:nvSpPr>
          <p:cNvPr id="20" name="Text 18"/>
          <p:cNvSpPr/>
          <p:nvPr/>
        </p:nvSpPr>
        <p:spPr>
          <a:xfrm>
            <a:off x="457200" y="3346847"/>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21" name="Text 19"/>
          <p:cNvSpPr/>
          <p:nvPr/>
        </p:nvSpPr>
        <p:spPr>
          <a:xfrm>
            <a:off x="482203" y="3371850"/>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828675" y="3346847"/>
            <a:ext cx="2167555"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Rate Limiting</a:t>
            </a:r>
            <a:endParaRPr lang="en-US" sz="844" dirty="0"/>
          </a:p>
        </p:txBody>
      </p:sp>
      <p:sp>
        <p:nvSpPr>
          <p:cNvPr id="23" name="Text 21"/>
          <p:cNvSpPr/>
          <p:nvPr/>
        </p:nvSpPr>
        <p:spPr>
          <a:xfrm>
            <a:off x="828675" y="3521869"/>
            <a:ext cx="1997406" cy="150019"/>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Configurable per-IP limits on all endpoints</a:t>
            </a:r>
            <a:endParaRPr lang="en-US" sz="788" dirty="0"/>
          </a:p>
        </p:txBody>
      </p:sp>
      <p:sp>
        <p:nvSpPr>
          <p:cNvPr id="24" name="Shape 22"/>
          <p:cNvSpPr/>
          <p:nvPr/>
        </p:nvSpPr>
        <p:spPr>
          <a:xfrm>
            <a:off x="457200" y="4421981"/>
            <a:ext cx="4526235" cy="0"/>
          </a:xfrm>
          <a:prstGeom prst="line">
            <a:avLst/>
          </a:prstGeom>
          <a:noFill/>
          <a:ln w="7144">
            <a:solidFill>
              <a:srgbClr val="222222"/>
            </a:solidFill>
            <a:prstDash val="solid"/>
          </a:ln>
        </p:spPr>
      </p:sp>
      <p:sp>
        <p:nvSpPr>
          <p:cNvPr id="25" name="Text 23"/>
          <p:cNvSpPr/>
          <p:nvPr/>
        </p:nvSpPr>
        <p:spPr>
          <a:xfrm>
            <a:off x="457200" y="3993356"/>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26" name="Text 24"/>
          <p:cNvSpPr/>
          <p:nvPr/>
        </p:nvSpPr>
        <p:spPr>
          <a:xfrm>
            <a:off x="482203" y="4018359"/>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27" name="Text 25"/>
          <p:cNvSpPr/>
          <p:nvPr/>
        </p:nvSpPr>
        <p:spPr>
          <a:xfrm>
            <a:off x="828675" y="3993356"/>
            <a:ext cx="2606325"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CSP Headers</a:t>
            </a:r>
            <a:endParaRPr lang="en-US" sz="844" dirty="0"/>
          </a:p>
        </p:txBody>
      </p:sp>
      <p:sp>
        <p:nvSpPr>
          <p:cNvPr id="28" name="Text 26"/>
          <p:cNvSpPr/>
          <p:nvPr/>
        </p:nvSpPr>
        <p:spPr>
          <a:xfrm>
            <a:off x="828675" y="4168378"/>
            <a:ext cx="2401733" cy="150019"/>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Nonce-based Content Security Policy on all pages</a:t>
            </a:r>
            <a:endParaRPr lang="en-US" sz="788" dirty="0"/>
          </a:p>
        </p:txBody>
      </p:sp>
      <p:sp>
        <p:nvSpPr>
          <p:cNvPr id="29" name="Text 27"/>
          <p:cNvSpPr/>
          <p:nvPr/>
        </p:nvSpPr>
        <p:spPr>
          <a:xfrm>
            <a:off x="457200" y="4639866"/>
            <a:ext cx="257175" cy="257175"/>
          </a:xfrm>
          <a:prstGeom prst="roundRect">
            <a:avLst>
              <a:gd name="adj" fmla="val 29630"/>
            </a:avLst>
          </a:prstGeom>
          <a:solidFill>
            <a:srgbClr val="C9A96E">
              <a:alpha val="20000"/>
            </a:srgbClr>
          </a:solidFill>
          <a:ln/>
        </p:spPr>
        <p:txBody>
          <a:bodyPr wrap="square" rtlCol="0" anchor="ctr"/>
          <a:lstStyle/>
          <a:p>
            <a:pPr indent="0" marL="0">
              <a:buNone/>
            </a:pPr>
            <a:endParaRPr lang="en-US" dirty="0"/>
          </a:p>
        </p:txBody>
      </p:sp>
      <p:sp>
        <p:nvSpPr>
          <p:cNvPr id="30" name="Text 28"/>
          <p:cNvSpPr/>
          <p:nvPr/>
        </p:nvSpPr>
        <p:spPr>
          <a:xfrm>
            <a:off x="482203" y="4664869"/>
            <a:ext cx="207169" cy="207169"/>
          </a:xfrm>
          <a:prstGeom prst="rect">
            <a:avLst/>
          </a:prstGeom>
          <a:noFill/>
          <a:ln/>
        </p:spPr>
        <p:txBody>
          <a:bodyPr wrap="none" lIns="0" tIns="0" rIns="0" bIns="0" rtlCol="0" anchor="ctr"/>
          <a:lstStyle/>
          <a:p>
            <a:pPr algn="ctr" indent="0" marL="0">
              <a:buNone/>
            </a:pPr>
            <a:r>
              <a:rPr lang="en-US" sz="1406" dirty="0">
                <a:solidFill>
                  <a:srgbClr val="C9A96E"/>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828675" y="4639866"/>
            <a:ext cx="3759494" cy="147590"/>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FFFFFF"/>
                </a:solidFill>
                <a:latin typeface="Carlito" pitchFamily="34" charset="0"/>
                <a:ea typeface="Carlito" pitchFamily="34" charset="-122"/>
                <a:cs typeface="Carlito" pitchFamily="34" charset="-120"/>
              </a:rPr>
              <a:t>HSTS</a:t>
            </a:r>
            <a:endParaRPr lang="en-US" sz="844" dirty="0"/>
          </a:p>
        </p:txBody>
      </p:sp>
      <p:sp>
        <p:nvSpPr>
          <p:cNvPr id="32" name="Text 30"/>
          <p:cNvSpPr/>
          <p:nvPr/>
        </p:nvSpPr>
        <p:spPr>
          <a:xfrm>
            <a:off x="828675" y="4814888"/>
            <a:ext cx="2379427" cy="164592"/>
          </a:xfrm>
          <a:prstGeom prst="rect">
            <a:avLst/>
          </a:prstGeom>
          <a:noFill/>
          <a:ln/>
        </p:spPr>
        <p:txBody>
          <a:bodyPr wrap="square" lIns="0" tIns="0" rIns="0" bIns="0" rtlCol="0" anchor="t"/>
          <a:lstStyle/>
          <a:p>
            <a:pPr algn="l" indent="0" marL="0">
              <a:lnSpc>
                <a:spcPts val="1181"/>
              </a:lnSpc>
              <a:buNone/>
            </a:pPr>
            <a:r>
              <a:rPr lang="en-US" sz="788" dirty="0">
                <a:solidFill>
                  <a:srgbClr val="999999"/>
                </a:solidFill>
                <a:latin typeface="Carlito" pitchFamily="34" charset="0"/>
                <a:ea typeface="Carlito" pitchFamily="34" charset="-122"/>
                <a:cs typeface="Carlito" pitchFamily="34" charset="-120"/>
              </a:rPr>
              <a:t>1-year max-age with includeSubDomains and preload</a:t>
            </a:r>
            <a:endParaRPr lang="en-US" sz="788" dirty="0"/>
          </a:p>
        </p:txBody>
      </p:sp>
      <p:sp>
        <p:nvSpPr>
          <p:cNvPr id="33" name="Text 31"/>
          <p:cNvSpPr/>
          <p:nvPr/>
        </p:nvSpPr>
        <p:spPr>
          <a:xfrm>
            <a:off x="6042050" y="171450"/>
            <a:ext cx="2271713" cy="2271713"/>
          </a:xfrm>
          <a:prstGeom prst="ellipse">
            <a:avLst/>
          </a:prstGeom>
          <a:noFill/>
          <a:ln w="14288">
            <a:solidFill>
              <a:srgbClr val="C9A96E"/>
            </a:solidFill>
            <a:prstDash val="solid"/>
          </a:ln>
          <a:effectLst>
            <a:outerShdw sx="100000" sy="100000" kx="0" ky="0" algn="bl" rotWithShape="0" blurRad="101600" dist="50800" dir="16200000">
              <a:srgbClr val="FFFFFF">
                <a:alpha val="50000"/>
              </a:srgbClr>
            </a:outerShdw>
          </a:effectLst>
        </p:spPr>
        <p:txBody>
          <a:bodyPr wrap="square" rtlCol="0" anchor="ctr"/>
          <a:lstStyle/>
          <a:p>
            <a:pPr indent="0" marL="0">
              <a:buNone/>
            </a:pPr>
            <a:endParaRPr lang="en-US" dirty="0"/>
          </a:p>
        </p:txBody>
      </p:sp>
      <p:sp>
        <p:nvSpPr>
          <p:cNvPr id="34" name="Text 32"/>
          <p:cNvSpPr/>
          <p:nvPr/>
        </p:nvSpPr>
        <p:spPr>
          <a:xfrm>
            <a:off x="6327800" y="457200"/>
            <a:ext cx="1700213" cy="1700213"/>
          </a:xfrm>
          <a:prstGeom prst="ellipse">
            <a:avLst/>
          </a:prstGeom>
          <a:noFill/>
          <a:ln w="14288">
            <a:solidFill>
              <a:srgbClr val="4FADDB"/>
            </a:solidFill>
            <a:prstDash val="solid"/>
          </a:ln>
          <a:effectLst>
            <a:outerShdw sx="100000" sy="100000" kx="0" ky="0" algn="bl" rotWithShape="0" blurRad="101600" dist="50800" dir="16200000">
              <a:srgbClr val="FFFFFF">
                <a:alpha val="50000"/>
              </a:srgbClr>
            </a:outerShdw>
          </a:effectLst>
        </p:spPr>
        <p:txBody>
          <a:bodyPr wrap="square" rtlCol="0" anchor="ctr"/>
          <a:lstStyle/>
          <a:p>
            <a:pPr indent="0" marL="0">
              <a:buNone/>
            </a:pPr>
            <a:endParaRPr lang="en-US" dirty="0"/>
          </a:p>
        </p:txBody>
      </p:sp>
      <p:sp>
        <p:nvSpPr>
          <p:cNvPr id="35" name="Text 33"/>
          <p:cNvSpPr/>
          <p:nvPr/>
        </p:nvSpPr>
        <p:spPr>
          <a:xfrm>
            <a:off x="6613550" y="742950"/>
            <a:ext cx="1128713" cy="1128713"/>
          </a:xfrm>
          <a:prstGeom prst="ellipse">
            <a:avLst/>
          </a:prstGeom>
          <a:noFill/>
          <a:ln w="14288">
            <a:solidFill>
              <a:srgbClr val="C9A96E"/>
            </a:solidFill>
            <a:prstDash val="solid"/>
          </a:ln>
          <a:effectLst>
            <a:outerShdw sx="100000" sy="100000" kx="0" ky="0" algn="bl" rotWithShape="0" blurRad="101600" dist="50800" dir="16200000">
              <a:srgbClr val="FFFFFF">
                <a:alpha val="50000"/>
              </a:srgbClr>
            </a:outerShdw>
          </a:effectLst>
        </p:spPr>
        <p:txBody>
          <a:bodyPr wrap="square" rtlCol="0" anchor="ctr"/>
          <a:lstStyle/>
          <a:p>
            <a:pPr indent="0" marL="0">
              <a:buNone/>
            </a:pPr>
            <a:endParaRPr lang="en-US" dirty="0"/>
          </a:p>
        </p:txBody>
      </p:sp>
      <p:sp>
        <p:nvSpPr>
          <p:cNvPr id="36" name="Text 34"/>
          <p:cNvSpPr/>
          <p:nvPr/>
        </p:nvSpPr>
        <p:spPr>
          <a:xfrm>
            <a:off x="6899300" y="1028700"/>
            <a:ext cx="557213" cy="557213"/>
          </a:xfrm>
          <a:prstGeom prst="ellipse">
            <a:avLst/>
          </a:prstGeom>
          <a:solidFill>
            <a:srgbClr val="4FADDB">
              <a:alpha val="10000"/>
            </a:srgbClr>
          </a:solidFill>
          <a:ln w="14288">
            <a:solidFill>
              <a:srgbClr val="4FADDB"/>
            </a:solidFill>
            <a:prstDash val="solid"/>
          </a:ln>
          <a:effectLst>
            <a:outerShdw sx="100000" sy="100000" kx="0" ky="0" algn="bl" rotWithShape="0" blurRad="101600" dist="50800" dir="16200000">
              <a:srgbClr val="FFFFFF">
                <a:alpha val="50000"/>
              </a:srgbClr>
            </a:outerShdw>
          </a:effectLst>
        </p:spPr>
        <p:txBody>
          <a:bodyPr wrap="square" rtlCol="0" anchor="ctr"/>
          <a:lstStyle/>
          <a:p>
            <a:pPr indent="0" marL="0">
              <a:buNone/>
            </a:pPr>
            <a:endParaRPr lang="en-US" dirty="0"/>
          </a:p>
        </p:txBody>
      </p:sp>
      <p:sp>
        <p:nvSpPr>
          <p:cNvPr id="37" name="Text 35"/>
          <p:cNvSpPr/>
          <p:nvPr/>
        </p:nvSpPr>
        <p:spPr>
          <a:xfrm>
            <a:off x="7032888" y="1162288"/>
            <a:ext cx="290036" cy="290036"/>
          </a:xfrm>
          <a:prstGeom prst="rect">
            <a:avLst/>
          </a:prstGeom>
          <a:noFill/>
          <a:ln/>
        </p:spPr>
        <p:txBody>
          <a:bodyPr wrap="none" lIns="0" tIns="0" rIns="0" bIns="0" rtlCol="0" anchor="ctr"/>
          <a:lstStyle/>
          <a:p>
            <a:pPr algn="ctr" indent="0" marL="0">
              <a:buNone/>
            </a:pPr>
            <a:r>
              <a:rPr lang="en-US" sz="1969" dirty="0">
                <a:solidFill>
                  <a:srgbClr val="4FADDB"/>
                </a:solidFill>
                <a:latin typeface="Segoe UI Symbol" pitchFamily="34" charset="0"/>
                <a:ea typeface="Segoe UI Symbol" pitchFamily="34" charset="-122"/>
                <a:cs typeface="Segoe UI Symbol" pitchFamily="34" charset="-120"/>
              </a:rPr>
              <a:t>⚿</a:t>
            </a:r>
            <a:endParaRPr lang="en-US" sz="1969" dirty="0"/>
          </a:p>
        </p:txBody>
      </p:sp>
      <p:sp>
        <p:nvSpPr>
          <p:cNvPr id="38" name="Text 36"/>
          <p:cNvSpPr/>
          <p:nvPr/>
        </p:nvSpPr>
        <p:spPr>
          <a:xfrm>
            <a:off x="6945623" y="1250156"/>
            <a:ext cx="664331" cy="164592"/>
          </a:xfrm>
          <a:prstGeom prst="rect">
            <a:avLst/>
          </a:prstGeom>
          <a:noFill/>
          <a:ln/>
        </p:spPr>
        <p:txBody>
          <a:bodyPr wrap="none" lIns="0" tIns="0" rIns="0" bIns="0" rtlCol="0" anchor="t"/>
          <a:lstStyle/>
          <a:p>
            <a:pPr algn="l" indent="0" marL="0">
              <a:lnSpc>
                <a:spcPts val="1013"/>
              </a:lnSpc>
              <a:buNone/>
            </a:pPr>
            <a:r>
              <a:rPr lang="en-US" sz="800" dirty="0">
                <a:solidFill>
                  <a:srgbClr val="C9A96E"/>
                </a:solidFill>
                <a:latin typeface="Courier New" pitchFamily="34" charset="0"/>
                <a:ea typeface="Courier New" pitchFamily="34" charset="-122"/>
                <a:cs typeface="Courier New" pitchFamily="34" charset="-120"/>
              </a:rPr>
              <a:t>Perimeter</a:t>
            </a:r>
            <a:endParaRPr lang="en-US" sz="800" dirty="0"/>
          </a:p>
        </p:txBody>
      </p:sp>
      <p:sp>
        <p:nvSpPr>
          <p:cNvPr id="39" name="Text 37"/>
          <p:cNvSpPr/>
          <p:nvPr/>
        </p:nvSpPr>
        <p:spPr>
          <a:xfrm>
            <a:off x="6882229" y="1621631"/>
            <a:ext cx="733308" cy="164592"/>
          </a:xfrm>
          <a:prstGeom prst="rect">
            <a:avLst/>
          </a:prstGeom>
          <a:noFill/>
          <a:ln/>
        </p:spPr>
        <p:txBody>
          <a:bodyPr wrap="none" lIns="0" tIns="0" rIns="0" bIns="0" rtlCol="0" anchor="t"/>
          <a:lstStyle/>
          <a:p>
            <a:pPr algn="l" indent="0" marL="0">
              <a:lnSpc>
                <a:spcPts val="1013"/>
              </a:lnSpc>
              <a:buNone/>
            </a:pPr>
            <a:r>
              <a:rPr lang="en-US" sz="800" dirty="0">
                <a:solidFill>
                  <a:srgbClr val="4FADDB"/>
                </a:solidFill>
                <a:latin typeface="Courier New" pitchFamily="34" charset="0"/>
                <a:ea typeface="Courier New" pitchFamily="34" charset="-122"/>
                <a:cs typeface="Courier New" pitchFamily="34" charset="-120"/>
              </a:rPr>
              <a:t>Application</a:t>
            </a:r>
            <a:endParaRPr lang="en-US" sz="800" dirty="0"/>
          </a:p>
        </p:txBody>
      </p:sp>
      <p:sp>
        <p:nvSpPr>
          <p:cNvPr id="40" name="Text 38"/>
          <p:cNvSpPr/>
          <p:nvPr/>
        </p:nvSpPr>
        <p:spPr>
          <a:xfrm>
            <a:off x="7095109" y="1964531"/>
            <a:ext cx="258552" cy="164592"/>
          </a:xfrm>
          <a:prstGeom prst="rect">
            <a:avLst/>
          </a:prstGeom>
          <a:noFill/>
          <a:ln/>
        </p:spPr>
        <p:txBody>
          <a:bodyPr wrap="none" lIns="0" tIns="0" rIns="0" bIns="0" rtlCol="0" anchor="t"/>
          <a:lstStyle/>
          <a:p>
            <a:pPr algn="l" indent="0" marL="0">
              <a:lnSpc>
                <a:spcPts val="1013"/>
              </a:lnSpc>
              <a:buNone/>
            </a:pPr>
            <a:r>
              <a:rPr lang="en-US" sz="800" dirty="0">
                <a:solidFill>
                  <a:srgbClr val="C9A96E"/>
                </a:solidFill>
                <a:latin typeface="Courier New" pitchFamily="34" charset="0"/>
                <a:ea typeface="Courier New" pitchFamily="34" charset="-122"/>
                <a:cs typeface="Courier New" pitchFamily="34" charset="-120"/>
              </a:rPr>
              <a:t>API</a:t>
            </a:r>
            <a:endParaRPr lang="en-US" sz="800" dirty="0"/>
          </a:p>
        </p:txBody>
      </p:sp>
      <p:sp>
        <p:nvSpPr>
          <p:cNvPr id="41" name="Text 39"/>
          <p:cNvSpPr/>
          <p:nvPr/>
        </p:nvSpPr>
        <p:spPr>
          <a:xfrm>
            <a:off x="7083251" y="2278856"/>
            <a:ext cx="302895" cy="164592"/>
          </a:xfrm>
          <a:prstGeom prst="rect">
            <a:avLst/>
          </a:prstGeom>
          <a:noFill/>
          <a:ln/>
        </p:spPr>
        <p:txBody>
          <a:bodyPr wrap="none" lIns="0" tIns="0" rIns="0" bIns="0" rtlCol="0" anchor="t"/>
          <a:lstStyle/>
          <a:p>
            <a:pPr algn="l" indent="0" marL="0">
              <a:lnSpc>
                <a:spcPts val="928"/>
              </a:lnSpc>
              <a:buNone/>
            </a:pPr>
            <a:r>
              <a:rPr lang="en-US" sz="800" dirty="0">
                <a:solidFill>
                  <a:srgbClr val="4FADDB"/>
                </a:solidFill>
                <a:latin typeface="Courier New" pitchFamily="34" charset="0"/>
                <a:ea typeface="Courier New" pitchFamily="34" charset="-122"/>
                <a:cs typeface="Courier New" pitchFamily="34" charset="-120"/>
              </a:rPr>
              <a:t>Data</a:t>
            </a:r>
            <a:endParaRPr lang="en-US" sz="800" dirty="0"/>
          </a:p>
        </p:txBody>
      </p:sp>
      <p:sp>
        <p:nvSpPr>
          <p:cNvPr id="42" name="Text 40"/>
          <p:cNvSpPr/>
          <p:nvPr/>
        </p:nvSpPr>
        <p:spPr>
          <a:xfrm>
            <a:off x="6891299" y="1360884"/>
            <a:ext cx="703336" cy="164592"/>
          </a:xfrm>
          <a:prstGeom prst="rect">
            <a:avLst/>
          </a:prstGeom>
          <a:noFill/>
          <a:ln/>
        </p:spPr>
        <p:txBody>
          <a:bodyPr wrap="none" lIns="0" tIns="0" rIns="0" bIns="0" rtlCol="0" anchor="t"/>
          <a:lstStyle/>
          <a:p>
            <a:pPr algn="l" indent="0" marL="0">
              <a:lnSpc>
                <a:spcPts val="928"/>
              </a:lnSpc>
              <a:buNone/>
            </a:pPr>
            <a:r>
              <a:rPr lang="en-US" sz="800" dirty="0">
                <a:solidFill>
                  <a:srgbClr val="666666"/>
                </a:solidFill>
                <a:latin typeface="Courier New" pitchFamily="34" charset="0"/>
                <a:ea typeface="Courier New" pitchFamily="34" charset="-122"/>
                <a:cs typeface="Courier New" pitchFamily="34" charset="-120"/>
              </a:rPr>
              <a:t>Nginx / TLS</a:t>
            </a:r>
            <a:endParaRPr lang="en-US" sz="800" dirty="0"/>
          </a:p>
        </p:txBody>
      </p:sp>
      <p:sp>
        <p:nvSpPr>
          <p:cNvPr id="43" name="Text 41"/>
          <p:cNvSpPr/>
          <p:nvPr/>
        </p:nvSpPr>
        <p:spPr>
          <a:xfrm>
            <a:off x="6840775" y="1046559"/>
            <a:ext cx="828020" cy="164592"/>
          </a:xfrm>
          <a:prstGeom prst="rect">
            <a:avLst/>
          </a:prstGeom>
          <a:noFill/>
          <a:ln/>
        </p:spPr>
        <p:txBody>
          <a:bodyPr wrap="none" lIns="0" tIns="0" rIns="0" bIns="0" rtlCol="0" anchor="t"/>
          <a:lstStyle/>
          <a:p>
            <a:pPr algn="l" indent="0" marL="0">
              <a:lnSpc>
                <a:spcPts val="928"/>
              </a:lnSpc>
              <a:buNone/>
            </a:pPr>
            <a:r>
              <a:rPr lang="en-US" sz="800" dirty="0">
                <a:solidFill>
                  <a:srgbClr val="666666"/>
                </a:solidFill>
                <a:latin typeface="Courier New" pitchFamily="34" charset="0"/>
                <a:ea typeface="Courier New" pitchFamily="34" charset="-122"/>
                <a:cs typeface="Courier New" pitchFamily="34" charset="-120"/>
              </a:rPr>
              <a:t>CSP / Headers</a:t>
            </a:r>
            <a:endParaRPr lang="en-US" sz="800" dirty="0"/>
          </a:p>
        </p:txBody>
      </p:sp>
      <p:sp>
        <p:nvSpPr>
          <p:cNvPr id="44" name="Text 42"/>
          <p:cNvSpPr/>
          <p:nvPr/>
        </p:nvSpPr>
        <p:spPr>
          <a:xfrm>
            <a:off x="6775735" y="732234"/>
            <a:ext cx="1005427" cy="164592"/>
          </a:xfrm>
          <a:prstGeom prst="rect">
            <a:avLst/>
          </a:prstGeom>
          <a:noFill/>
          <a:ln/>
        </p:spPr>
        <p:txBody>
          <a:bodyPr wrap="none" lIns="0" tIns="0" rIns="0" bIns="0" rtlCol="0" anchor="t"/>
          <a:lstStyle/>
          <a:p>
            <a:pPr algn="l" indent="0" marL="0">
              <a:lnSpc>
                <a:spcPts val="928"/>
              </a:lnSpc>
              <a:buNone/>
            </a:pPr>
            <a:r>
              <a:rPr lang="en-US" sz="800" dirty="0">
                <a:solidFill>
                  <a:srgbClr val="666666"/>
                </a:solidFill>
                <a:latin typeface="Courier New" pitchFamily="34" charset="0"/>
                <a:ea typeface="Courier New" pitchFamily="34" charset="-122"/>
                <a:cs typeface="Courier New" pitchFamily="34" charset="-120"/>
              </a:rPr>
              <a:t>Auth / Rate Limit</a:t>
            </a:r>
            <a:endParaRPr lang="en-US" sz="800" dirty="0"/>
          </a:p>
        </p:txBody>
      </p:sp>
      <p:sp>
        <p:nvSpPr>
          <p:cNvPr id="45" name="Text 43"/>
          <p:cNvSpPr/>
          <p:nvPr/>
        </p:nvSpPr>
        <p:spPr>
          <a:xfrm>
            <a:off x="6775735" y="446484"/>
            <a:ext cx="1005427" cy="164592"/>
          </a:xfrm>
          <a:prstGeom prst="rect">
            <a:avLst/>
          </a:prstGeom>
          <a:noFill/>
          <a:ln/>
        </p:spPr>
        <p:txBody>
          <a:bodyPr wrap="none" lIns="0" tIns="0" rIns="0" bIns="0" rtlCol="0" anchor="t"/>
          <a:lstStyle/>
          <a:p>
            <a:pPr algn="l" indent="0" marL="0">
              <a:lnSpc>
                <a:spcPts val="928"/>
              </a:lnSpc>
              <a:buNone/>
            </a:pPr>
            <a:r>
              <a:rPr lang="en-US" sz="800" dirty="0">
                <a:solidFill>
                  <a:srgbClr val="666666"/>
                </a:solidFill>
                <a:latin typeface="Courier New" pitchFamily="34" charset="0"/>
                <a:ea typeface="Courier New" pitchFamily="34" charset="-122"/>
                <a:cs typeface="Courier New" pitchFamily="34" charset="-120"/>
              </a:rPr>
              <a:t>Encrypted at rest</a:t>
            </a:r>
            <a:endParaRPr lang="en-US" sz="800" dirty="0"/>
          </a:p>
        </p:txBody>
      </p:sp>
      <p:sp>
        <p:nvSpPr>
          <p:cNvPr id="46" name="Text 44"/>
          <p:cNvSpPr/>
          <p:nvPr/>
        </p:nvSpPr>
        <p:spPr>
          <a:xfrm>
            <a:off x="203925" y="5222081"/>
            <a:ext cx="775269" cy="91440"/>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47" name="Text 45"/>
          <p:cNvSpPr/>
          <p:nvPr/>
        </p:nvSpPr>
        <p:spPr>
          <a:xfrm>
            <a:off x="8554083" y="5222081"/>
            <a:ext cx="491392" cy="91440"/>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79" kern="0" dirty="0">
                <a:solidFill>
                  <a:srgbClr val="C9A96E"/>
                </a:solidFill>
                <a:latin typeface="Courier New" pitchFamily="34" charset="0"/>
                <a:ea typeface="Courier New" pitchFamily="34" charset="-122"/>
                <a:cs typeface="Courier New" pitchFamily="34" charset="-120"/>
              </a:rPr>
              <a:t>MARKET</a:t>
            </a:r>
            <a:endParaRPr lang="en-US" sz="800" dirty="0"/>
          </a:p>
        </p:txBody>
      </p:sp>
      <p:sp>
        <p:nvSpPr>
          <p:cNvPr id="3" name="Text 1"/>
          <p:cNvSpPr/>
          <p:nvPr/>
        </p:nvSpPr>
        <p:spPr>
          <a:xfrm>
            <a:off x="457200" y="692944"/>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A massive and growing market</a:t>
            </a:r>
            <a:endParaRPr lang="en-US" sz="2025" dirty="0"/>
          </a:p>
        </p:txBody>
      </p:sp>
      <p:sp>
        <p:nvSpPr>
          <p:cNvPr id="4" name="Text 2"/>
          <p:cNvSpPr/>
          <p:nvPr/>
        </p:nvSpPr>
        <p:spPr>
          <a:xfrm>
            <a:off x="457200" y="1278731"/>
            <a:ext cx="2628900" cy="908596"/>
          </a:xfrm>
          <a:prstGeom prst="roundRect">
            <a:avLst>
              <a:gd name="adj" fmla="val 12580"/>
            </a:avLst>
          </a:prstGeom>
          <a:solidFill>
            <a:srgbClr val="111111"/>
          </a:solidFill>
          <a:ln/>
        </p:spPr>
        <p:txBody>
          <a:bodyPr wrap="square" rtlCol="0" anchor="ctr"/>
          <a:lstStyle/>
          <a:p>
            <a:pPr indent="0" marL="0">
              <a:buNone/>
            </a:pPr>
            <a:endParaRPr lang="en-US" dirty="0"/>
          </a:p>
        </p:txBody>
      </p:sp>
      <p:sp>
        <p:nvSpPr>
          <p:cNvPr id="5" name="Shape 3"/>
          <p:cNvSpPr/>
          <p:nvPr/>
        </p:nvSpPr>
        <p:spPr>
          <a:xfrm>
            <a:off x="457200" y="1289447"/>
            <a:ext cx="2628900" cy="0"/>
          </a:xfrm>
          <a:prstGeom prst="line">
            <a:avLst/>
          </a:prstGeom>
          <a:noFill/>
          <a:ln w="21431">
            <a:solidFill>
              <a:srgbClr val="C9A96E"/>
            </a:solidFill>
            <a:prstDash val="solid"/>
          </a:ln>
        </p:spPr>
      </p:sp>
      <p:sp>
        <p:nvSpPr>
          <p:cNvPr id="6" name="Shape 4"/>
          <p:cNvSpPr/>
          <p:nvPr/>
        </p:nvSpPr>
        <p:spPr>
          <a:xfrm>
            <a:off x="3082528" y="1278731"/>
            <a:ext cx="0" cy="908596"/>
          </a:xfrm>
          <a:prstGeom prst="line">
            <a:avLst/>
          </a:prstGeom>
          <a:noFill/>
          <a:ln w="7144">
            <a:solidFill>
              <a:srgbClr val="222222"/>
            </a:solidFill>
            <a:prstDash val="solid"/>
          </a:ln>
        </p:spPr>
      </p:sp>
      <p:sp>
        <p:nvSpPr>
          <p:cNvPr id="7" name="Shape 5"/>
          <p:cNvSpPr/>
          <p:nvPr/>
        </p:nvSpPr>
        <p:spPr>
          <a:xfrm>
            <a:off x="457200" y="2183755"/>
            <a:ext cx="2628900" cy="0"/>
          </a:xfrm>
          <a:prstGeom prst="line">
            <a:avLst/>
          </a:prstGeom>
          <a:noFill/>
          <a:ln w="7144">
            <a:solidFill>
              <a:srgbClr val="222222"/>
            </a:solidFill>
            <a:prstDash val="solid"/>
          </a:ln>
        </p:spPr>
      </p:sp>
      <p:sp>
        <p:nvSpPr>
          <p:cNvPr id="8" name="Shape 6"/>
          <p:cNvSpPr/>
          <p:nvPr/>
        </p:nvSpPr>
        <p:spPr>
          <a:xfrm>
            <a:off x="460772" y="1278731"/>
            <a:ext cx="0" cy="908596"/>
          </a:xfrm>
          <a:prstGeom prst="line">
            <a:avLst/>
          </a:prstGeom>
          <a:noFill/>
          <a:ln w="7144">
            <a:solidFill>
              <a:srgbClr val="222222"/>
            </a:solidFill>
            <a:prstDash val="solid"/>
          </a:ln>
        </p:spPr>
      </p:sp>
      <p:sp>
        <p:nvSpPr>
          <p:cNvPr id="9" name="Text 7"/>
          <p:cNvSpPr/>
          <p:nvPr/>
        </p:nvSpPr>
        <p:spPr>
          <a:xfrm>
            <a:off x="635794" y="1471613"/>
            <a:ext cx="2271713" cy="356348"/>
          </a:xfrm>
          <a:prstGeom prst="rect">
            <a:avLst/>
          </a:prstGeom>
          <a:noFill/>
          <a:ln/>
        </p:spPr>
        <p:txBody>
          <a:bodyPr wrap="none" lIns="0" tIns="0" rIns="0" bIns="0" rtlCol="0" anchor="t"/>
          <a:lstStyle/>
          <a:p>
            <a:pPr algn="l" indent="0" marL="0">
              <a:lnSpc>
                <a:spcPts val="2599"/>
              </a:lnSpc>
              <a:buNone/>
            </a:pPr>
            <a:r>
              <a:rPr lang="en-US" sz="2363" b="1" dirty="0">
                <a:solidFill>
                  <a:srgbClr val="C9A96E"/>
                </a:solidFill>
                <a:latin typeface="Liberation Sans Narrow" pitchFamily="34" charset="0"/>
                <a:ea typeface="Liberation Sans Narrow" pitchFamily="34" charset="-122"/>
                <a:cs typeface="Liberation Sans Narrow" pitchFamily="34" charset="-120"/>
              </a:rPr>
              <a:t>$18.3B</a:t>
            </a:r>
            <a:endParaRPr lang="en-US" sz="2363" dirty="0"/>
          </a:p>
        </p:txBody>
      </p:sp>
      <p:sp>
        <p:nvSpPr>
          <p:cNvPr id="10" name="Text 8"/>
          <p:cNvSpPr/>
          <p:nvPr/>
        </p:nvSpPr>
        <p:spPr>
          <a:xfrm>
            <a:off x="635794" y="1858714"/>
            <a:ext cx="2381441" cy="150019"/>
          </a:xfrm>
          <a:prstGeom prst="rect">
            <a:avLst/>
          </a:prstGeom>
          <a:noFill/>
          <a:ln/>
        </p:spPr>
        <p:txBody>
          <a:bodyPr wrap="square" lIns="0" tIns="0" rIns="0" bIns="0" rtlCol="0" anchor="t"/>
          <a:lstStyle/>
          <a:p>
            <a:pPr algn="l" indent="0" marL="0">
              <a:lnSpc>
                <a:spcPts val="1181"/>
              </a:lnSpc>
              <a:buNone/>
            </a:pPr>
            <a:r>
              <a:rPr lang="en-US" sz="844" dirty="0">
                <a:solidFill>
                  <a:srgbClr val="999999"/>
                </a:solidFill>
                <a:latin typeface="Carlito" pitchFamily="34" charset="0"/>
                <a:ea typeface="Carlito" pitchFamily="34" charset="-122"/>
                <a:cs typeface="Carlito" pitchFamily="34" charset="-120"/>
              </a:rPr>
              <a:t>Attack surface management market by 2028</a:t>
            </a:r>
            <a:endParaRPr lang="en-US" sz="844" dirty="0"/>
          </a:p>
        </p:txBody>
      </p:sp>
      <p:sp>
        <p:nvSpPr>
          <p:cNvPr id="11" name="Text 9"/>
          <p:cNvSpPr/>
          <p:nvPr/>
        </p:nvSpPr>
        <p:spPr>
          <a:xfrm>
            <a:off x="3257550" y="1278731"/>
            <a:ext cx="2628900" cy="908596"/>
          </a:xfrm>
          <a:prstGeom prst="roundRect">
            <a:avLst>
              <a:gd name="adj" fmla="val 12580"/>
            </a:avLst>
          </a:prstGeom>
          <a:solidFill>
            <a:srgbClr val="111111"/>
          </a:solidFill>
          <a:ln/>
        </p:spPr>
        <p:txBody>
          <a:bodyPr wrap="square" rtlCol="0" anchor="ctr"/>
          <a:lstStyle/>
          <a:p>
            <a:pPr indent="0" marL="0">
              <a:buNone/>
            </a:pPr>
            <a:endParaRPr lang="en-US" dirty="0"/>
          </a:p>
        </p:txBody>
      </p:sp>
      <p:sp>
        <p:nvSpPr>
          <p:cNvPr id="12" name="Shape 10"/>
          <p:cNvSpPr/>
          <p:nvPr/>
        </p:nvSpPr>
        <p:spPr>
          <a:xfrm>
            <a:off x="3257550" y="1289447"/>
            <a:ext cx="2628900" cy="0"/>
          </a:xfrm>
          <a:prstGeom prst="line">
            <a:avLst/>
          </a:prstGeom>
          <a:noFill/>
          <a:ln w="21431">
            <a:solidFill>
              <a:srgbClr val="00FF88"/>
            </a:solidFill>
            <a:prstDash val="solid"/>
          </a:ln>
        </p:spPr>
      </p:sp>
      <p:sp>
        <p:nvSpPr>
          <p:cNvPr id="13" name="Shape 11"/>
          <p:cNvSpPr/>
          <p:nvPr/>
        </p:nvSpPr>
        <p:spPr>
          <a:xfrm>
            <a:off x="5882878" y="1278731"/>
            <a:ext cx="0" cy="908596"/>
          </a:xfrm>
          <a:prstGeom prst="line">
            <a:avLst/>
          </a:prstGeom>
          <a:noFill/>
          <a:ln w="7144">
            <a:solidFill>
              <a:srgbClr val="222222"/>
            </a:solidFill>
            <a:prstDash val="solid"/>
          </a:ln>
        </p:spPr>
      </p:sp>
      <p:sp>
        <p:nvSpPr>
          <p:cNvPr id="14" name="Shape 12"/>
          <p:cNvSpPr/>
          <p:nvPr/>
        </p:nvSpPr>
        <p:spPr>
          <a:xfrm>
            <a:off x="3257550" y="2183755"/>
            <a:ext cx="2628900" cy="0"/>
          </a:xfrm>
          <a:prstGeom prst="line">
            <a:avLst/>
          </a:prstGeom>
          <a:noFill/>
          <a:ln w="7144">
            <a:solidFill>
              <a:srgbClr val="222222"/>
            </a:solidFill>
            <a:prstDash val="solid"/>
          </a:ln>
        </p:spPr>
      </p:sp>
      <p:sp>
        <p:nvSpPr>
          <p:cNvPr id="15" name="Shape 13"/>
          <p:cNvSpPr/>
          <p:nvPr/>
        </p:nvSpPr>
        <p:spPr>
          <a:xfrm>
            <a:off x="3261122" y="1278731"/>
            <a:ext cx="0" cy="908596"/>
          </a:xfrm>
          <a:prstGeom prst="line">
            <a:avLst/>
          </a:prstGeom>
          <a:noFill/>
          <a:ln w="7144">
            <a:solidFill>
              <a:srgbClr val="222222"/>
            </a:solidFill>
            <a:prstDash val="solid"/>
          </a:ln>
        </p:spPr>
      </p:sp>
      <p:sp>
        <p:nvSpPr>
          <p:cNvPr id="16" name="Text 14"/>
          <p:cNvSpPr/>
          <p:nvPr/>
        </p:nvSpPr>
        <p:spPr>
          <a:xfrm>
            <a:off x="3436144" y="1471613"/>
            <a:ext cx="2271713" cy="356348"/>
          </a:xfrm>
          <a:prstGeom prst="rect">
            <a:avLst/>
          </a:prstGeom>
          <a:noFill/>
          <a:ln/>
        </p:spPr>
        <p:txBody>
          <a:bodyPr wrap="none" lIns="0" tIns="0" rIns="0" bIns="0" rtlCol="0" anchor="t"/>
          <a:lstStyle/>
          <a:p>
            <a:pPr algn="l" indent="0" marL="0">
              <a:lnSpc>
                <a:spcPts val="2599"/>
              </a:lnSpc>
              <a:buNone/>
            </a:pPr>
            <a:r>
              <a:rPr lang="en-US" sz="2363" b="1" dirty="0">
                <a:solidFill>
                  <a:srgbClr val="00FF88"/>
                </a:solidFill>
                <a:latin typeface="Liberation Sans Narrow" pitchFamily="34" charset="0"/>
                <a:ea typeface="Liberation Sans Narrow" pitchFamily="34" charset="-122"/>
                <a:cs typeface="Liberation Sans Narrow" pitchFamily="34" charset="-120"/>
              </a:rPr>
              <a:t>27%</a:t>
            </a:r>
            <a:endParaRPr lang="en-US" sz="2363" dirty="0"/>
          </a:p>
        </p:txBody>
      </p:sp>
      <p:sp>
        <p:nvSpPr>
          <p:cNvPr id="17" name="Text 15"/>
          <p:cNvSpPr/>
          <p:nvPr/>
        </p:nvSpPr>
        <p:spPr>
          <a:xfrm>
            <a:off x="3436144" y="1858714"/>
            <a:ext cx="2271713" cy="150019"/>
          </a:xfrm>
          <a:prstGeom prst="rect">
            <a:avLst/>
          </a:prstGeom>
          <a:noFill/>
          <a:ln/>
        </p:spPr>
        <p:txBody>
          <a:bodyPr wrap="none" lIns="0" tIns="0" rIns="0" bIns="0" rtlCol="0" anchor="t"/>
          <a:lstStyle/>
          <a:p>
            <a:pPr algn="l" indent="0" marL="0">
              <a:lnSpc>
                <a:spcPts val="1181"/>
              </a:lnSpc>
              <a:buNone/>
            </a:pPr>
            <a:r>
              <a:rPr lang="en-US" sz="844" dirty="0">
                <a:solidFill>
                  <a:srgbClr val="999999"/>
                </a:solidFill>
                <a:latin typeface="Liberation Sans Narrow" pitchFamily="34" charset="0"/>
                <a:ea typeface="Liberation Sans Narrow" pitchFamily="34" charset="-122"/>
                <a:cs typeface="Liberation Sans Narrow" pitchFamily="34" charset="-120"/>
              </a:rPr>
              <a:t>CAGR 2023-2028</a:t>
            </a:r>
            <a:endParaRPr lang="en-US" sz="844" dirty="0"/>
          </a:p>
        </p:txBody>
      </p:sp>
      <p:sp>
        <p:nvSpPr>
          <p:cNvPr id="18" name="Text 16"/>
          <p:cNvSpPr/>
          <p:nvPr/>
        </p:nvSpPr>
        <p:spPr>
          <a:xfrm>
            <a:off x="6057900" y="1278731"/>
            <a:ext cx="2628900" cy="908596"/>
          </a:xfrm>
          <a:prstGeom prst="roundRect">
            <a:avLst>
              <a:gd name="adj" fmla="val 12580"/>
            </a:avLst>
          </a:prstGeom>
          <a:solidFill>
            <a:srgbClr val="111111"/>
          </a:solidFill>
          <a:ln/>
        </p:spPr>
        <p:txBody>
          <a:bodyPr wrap="square" rtlCol="0" anchor="ctr"/>
          <a:lstStyle/>
          <a:p>
            <a:pPr indent="0" marL="0">
              <a:buNone/>
            </a:pPr>
            <a:endParaRPr lang="en-US" dirty="0"/>
          </a:p>
        </p:txBody>
      </p:sp>
      <p:sp>
        <p:nvSpPr>
          <p:cNvPr id="19" name="Shape 17"/>
          <p:cNvSpPr/>
          <p:nvPr/>
        </p:nvSpPr>
        <p:spPr>
          <a:xfrm>
            <a:off x="6057900" y="1289447"/>
            <a:ext cx="2628900" cy="0"/>
          </a:xfrm>
          <a:prstGeom prst="line">
            <a:avLst/>
          </a:prstGeom>
          <a:noFill/>
          <a:ln w="21431">
            <a:solidFill>
              <a:srgbClr val="4FADDB"/>
            </a:solidFill>
            <a:prstDash val="solid"/>
          </a:ln>
        </p:spPr>
      </p:sp>
      <p:sp>
        <p:nvSpPr>
          <p:cNvPr id="20" name="Shape 18"/>
          <p:cNvSpPr/>
          <p:nvPr/>
        </p:nvSpPr>
        <p:spPr>
          <a:xfrm>
            <a:off x="8683228" y="1278731"/>
            <a:ext cx="0" cy="908596"/>
          </a:xfrm>
          <a:prstGeom prst="line">
            <a:avLst/>
          </a:prstGeom>
          <a:noFill/>
          <a:ln w="7144">
            <a:solidFill>
              <a:srgbClr val="222222"/>
            </a:solidFill>
            <a:prstDash val="solid"/>
          </a:ln>
        </p:spPr>
      </p:sp>
      <p:sp>
        <p:nvSpPr>
          <p:cNvPr id="21" name="Shape 19"/>
          <p:cNvSpPr/>
          <p:nvPr/>
        </p:nvSpPr>
        <p:spPr>
          <a:xfrm>
            <a:off x="6057900" y="2183755"/>
            <a:ext cx="2628900" cy="0"/>
          </a:xfrm>
          <a:prstGeom prst="line">
            <a:avLst/>
          </a:prstGeom>
          <a:noFill/>
          <a:ln w="7144">
            <a:solidFill>
              <a:srgbClr val="222222"/>
            </a:solidFill>
            <a:prstDash val="solid"/>
          </a:ln>
        </p:spPr>
      </p:sp>
      <p:sp>
        <p:nvSpPr>
          <p:cNvPr id="22" name="Shape 20"/>
          <p:cNvSpPr/>
          <p:nvPr/>
        </p:nvSpPr>
        <p:spPr>
          <a:xfrm>
            <a:off x="6061472" y="1278731"/>
            <a:ext cx="0" cy="908596"/>
          </a:xfrm>
          <a:prstGeom prst="line">
            <a:avLst/>
          </a:prstGeom>
          <a:noFill/>
          <a:ln w="7144">
            <a:solidFill>
              <a:srgbClr val="222222"/>
            </a:solidFill>
            <a:prstDash val="solid"/>
          </a:ln>
        </p:spPr>
      </p:sp>
      <p:sp>
        <p:nvSpPr>
          <p:cNvPr id="23" name="Text 21"/>
          <p:cNvSpPr/>
          <p:nvPr/>
        </p:nvSpPr>
        <p:spPr>
          <a:xfrm>
            <a:off x="6236494" y="1471613"/>
            <a:ext cx="2271713" cy="356348"/>
          </a:xfrm>
          <a:prstGeom prst="rect">
            <a:avLst/>
          </a:prstGeom>
          <a:noFill/>
          <a:ln/>
        </p:spPr>
        <p:txBody>
          <a:bodyPr wrap="none" lIns="0" tIns="0" rIns="0" bIns="0" rtlCol="0" anchor="t"/>
          <a:lstStyle/>
          <a:p>
            <a:pPr algn="l" indent="0" marL="0">
              <a:lnSpc>
                <a:spcPts val="2599"/>
              </a:lnSpc>
              <a:buNone/>
            </a:pPr>
            <a:r>
              <a:rPr lang="en-US" sz="2363" b="1" dirty="0">
                <a:solidFill>
                  <a:srgbClr val="4FADDB"/>
                </a:solidFill>
                <a:latin typeface="Liberation Sans Narrow" pitchFamily="34" charset="0"/>
                <a:ea typeface="Liberation Sans Narrow" pitchFamily="34" charset="-122"/>
                <a:cs typeface="Liberation Sans Narrow" pitchFamily="34" charset="-120"/>
              </a:rPr>
              <a:t>94%</a:t>
            </a:r>
            <a:endParaRPr lang="en-US" sz="2363" dirty="0"/>
          </a:p>
        </p:txBody>
      </p:sp>
      <p:sp>
        <p:nvSpPr>
          <p:cNvPr id="24" name="Text 22"/>
          <p:cNvSpPr/>
          <p:nvPr/>
        </p:nvSpPr>
        <p:spPr>
          <a:xfrm>
            <a:off x="6236494" y="1858714"/>
            <a:ext cx="2381440" cy="150019"/>
          </a:xfrm>
          <a:prstGeom prst="rect">
            <a:avLst/>
          </a:prstGeom>
          <a:noFill/>
          <a:ln/>
        </p:spPr>
        <p:txBody>
          <a:bodyPr wrap="square" lIns="0" tIns="0" rIns="0" bIns="0" rtlCol="0" anchor="t"/>
          <a:lstStyle/>
          <a:p>
            <a:pPr algn="l" indent="0" marL="0">
              <a:lnSpc>
                <a:spcPts val="1181"/>
              </a:lnSpc>
              <a:buNone/>
            </a:pPr>
            <a:r>
              <a:rPr lang="en-US" sz="844" dirty="0">
                <a:solidFill>
                  <a:srgbClr val="999999"/>
                </a:solidFill>
                <a:latin typeface="Carlito" pitchFamily="34" charset="0"/>
                <a:ea typeface="Carlito" pitchFamily="34" charset="-122"/>
                <a:cs typeface="Carlito" pitchFamily="34" charset="-120"/>
              </a:rPr>
              <a:t>Of enterprises have multi-cloud environments</a:t>
            </a:r>
            <a:endParaRPr lang="en-US" sz="844" dirty="0"/>
          </a:p>
        </p:txBody>
      </p:sp>
      <p:sp>
        <p:nvSpPr>
          <p:cNvPr id="25" name="Text 23"/>
          <p:cNvSpPr/>
          <p:nvPr/>
        </p:nvSpPr>
        <p:spPr>
          <a:xfrm>
            <a:off x="457200" y="2358777"/>
            <a:ext cx="4000500" cy="2327523"/>
          </a:xfrm>
          <a:prstGeom prst="roundRect">
            <a:avLst>
              <a:gd name="adj" fmla="val 4911"/>
            </a:avLst>
          </a:prstGeom>
          <a:solidFill>
            <a:srgbClr val="111111"/>
          </a:solidFill>
          <a:ln/>
        </p:spPr>
        <p:txBody>
          <a:bodyPr wrap="square" rtlCol="0" anchor="ctr"/>
          <a:lstStyle/>
          <a:p>
            <a:pPr indent="0" marL="0">
              <a:buNone/>
            </a:pPr>
            <a:endParaRPr lang="en-US" dirty="0"/>
          </a:p>
        </p:txBody>
      </p:sp>
      <p:sp>
        <p:nvSpPr>
          <p:cNvPr id="26" name="Shape 24"/>
          <p:cNvSpPr/>
          <p:nvPr/>
        </p:nvSpPr>
        <p:spPr>
          <a:xfrm>
            <a:off x="457200" y="2369493"/>
            <a:ext cx="4000500" cy="0"/>
          </a:xfrm>
          <a:prstGeom prst="line">
            <a:avLst/>
          </a:prstGeom>
          <a:noFill/>
          <a:ln w="21431">
            <a:solidFill>
              <a:srgbClr val="C9A96E"/>
            </a:solidFill>
            <a:prstDash val="solid"/>
          </a:ln>
        </p:spPr>
      </p:sp>
      <p:sp>
        <p:nvSpPr>
          <p:cNvPr id="27" name="Shape 25"/>
          <p:cNvSpPr/>
          <p:nvPr/>
        </p:nvSpPr>
        <p:spPr>
          <a:xfrm>
            <a:off x="4454128" y="2358777"/>
            <a:ext cx="0" cy="2327523"/>
          </a:xfrm>
          <a:prstGeom prst="line">
            <a:avLst/>
          </a:prstGeom>
          <a:noFill/>
          <a:ln w="7144">
            <a:solidFill>
              <a:srgbClr val="222222"/>
            </a:solidFill>
            <a:prstDash val="solid"/>
          </a:ln>
        </p:spPr>
      </p:sp>
      <p:sp>
        <p:nvSpPr>
          <p:cNvPr id="28" name="Shape 26"/>
          <p:cNvSpPr/>
          <p:nvPr/>
        </p:nvSpPr>
        <p:spPr>
          <a:xfrm>
            <a:off x="457200" y="4682728"/>
            <a:ext cx="4000500" cy="0"/>
          </a:xfrm>
          <a:prstGeom prst="line">
            <a:avLst/>
          </a:prstGeom>
          <a:noFill/>
          <a:ln w="7144">
            <a:solidFill>
              <a:srgbClr val="222222"/>
            </a:solidFill>
            <a:prstDash val="solid"/>
          </a:ln>
        </p:spPr>
      </p:sp>
      <p:sp>
        <p:nvSpPr>
          <p:cNvPr id="29" name="Shape 27"/>
          <p:cNvSpPr/>
          <p:nvPr/>
        </p:nvSpPr>
        <p:spPr>
          <a:xfrm>
            <a:off x="460772" y="2358777"/>
            <a:ext cx="0" cy="2327523"/>
          </a:xfrm>
          <a:prstGeom prst="line">
            <a:avLst/>
          </a:prstGeom>
          <a:noFill/>
          <a:ln w="7144">
            <a:solidFill>
              <a:srgbClr val="222222"/>
            </a:solidFill>
            <a:prstDash val="solid"/>
          </a:ln>
        </p:spPr>
      </p:sp>
      <p:sp>
        <p:nvSpPr>
          <p:cNvPr id="30" name="Shape 28"/>
          <p:cNvSpPr/>
          <p:nvPr/>
        </p:nvSpPr>
        <p:spPr>
          <a:xfrm>
            <a:off x="692944" y="2808833"/>
            <a:ext cx="3529013" cy="0"/>
          </a:xfrm>
          <a:prstGeom prst="line">
            <a:avLst/>
          </a:prstGeom>
          <a:noFill/>
          <a:ln w="7144">
            <a:solidFill>
              <a:srgbClr val="C9A96E"/>
            </a:solidFill>
            <a:prstDash val="solid"/>
          </a:ln>
        </p:spPr>
      </p:sp>
      <p:sp>
        <p:nvSpPr>
          <p:cNvPr id="31" name="Text 29"/>
          <p:cNvSpPr/>
          <p:nvPr/>
        </p:nvSpPr>
        <p:spPr>
          <a:xfrm>
            <a:off x="692944" y="2580233"/>
            <a:ext cx="3529013" cy="274320"/>
          </a:xfrm>
          <a:prstGeom prst="rect">
            <a:avLst/>
          </a:prstGeom>
          <a:noFill/>
          <a:ln/>
        </p:spPr>
        <p:txBody>
          <a:bodyPr wrap="none" lIns="0" tIns="0" rIns="0" bIns="85725" rtlCol="0" anchor="t"/>
          <a:lstStyle/>
          <a:p>
            <a:pPr algn="l" indent="0" marL="0">
              <a:lnSpc>
                <a:spcPts val="1097"/>
              </a:lnSpc>
              <a:buNone/>
            </a:pPr>
            <a:r>
              <a:rPr lang="en-US" sz="800" spc="59" kern="0" dirty="0">
                <a:solidFill>
                  <a:srgbClr val="C9A96E"/>
                </a:solidFill>
                <a:latin typeface="Segoe UI Symbol" pitchFamily="34" charset="0"/>
                <a:ea typeface="Segoe UI Symbol" pitchFamily="34" charset="-122"/>
                <a:cs typeface="Segoe UI Symbol" pitchFamily="34" charset="-120"/>
              </a:rPr>
              <a:t>♟</a:t>
            </a:r>
            <a:pPr algn="l" indent="0" marL="0">
              <a:lnSpc>
                <a:spcPts val="1097"/>
              </a:lnSpc>
              <a:buNone/>
            </a:pPr>
            <a:r>
              <a:rPr lang="en-US" sz="800" spc="59" kern="0" dirty="0">
                <a:solidFill>
                  <a:srgbClr val="C9A96E"/>
                </a:solidFill>
                <a:latin typeface="Courier New" pitchFamily="34" charset="0"/>
                <a:ea typeface="Courier New" pitchFamily="34" charset="-122"/>
                <a:cs typeface="Courier New" pitchFamily="34" charset="-120"/>
              </a:rPr>
              <a:t>TARGET CUSTOMERS</a:t>
            </a:r>
            <a:endParaRPr lang="en-US" sz="800" dirty="0"/>
          </a:p>
        </p:txBody>
      </p:sp>
      <p:sp>
        <p:nvSpPr>
          <p:cNvPr id="32" name="Text 30"/>
          <p:cNvSpPr/>
          <p:nvPr/>
        </p:nvSpPr>
        <p:spPr>
          <a:xfrm>
            <a:off x="692944" y="3026718"/>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33" name="Text 31"/>
          <p:cNvSpPr/>
          <p:nvPr/>
        </p:nvSpPr>
        <p:spPr>
          <a:xfrm>
            <a:off x="907256" y="3012430"/>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Enterprise security teams</a:t>
            </a:r>
            <a:endParaRPr lang="en-US" sz="900" dirty="0"/>
          </a:p>
        </p:txBody>
      </p:sp>
      <p:sp>
        <p:nvSpPr>
          <p:cNvPr id="34" name="Text 32"/>
          <p:cNvSpPr/>
          <p:nvPr/>
        </p:nvSpPr>
        <p:spPr>
          <a:xfrm>
            <a:off x="692944" y="3415271"/>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907256" y="3400983"/>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Managed Security Service Providers (MSSPs)</a:t>
            </a:r>
            <a:endParaRPr lang="en-US" sz="900" dirty="0"/>
          </a:p>
        </p:txBody>
      </p:sp>
      <p:sp>
        <p:nvSpPr>
          <p:cNvPr id="36" name="Text 34"/>
          <p:cNvSpPr/>
          <p:nvPr/>
        </p:nvSpPr>
        <p:spPr>
          <a:xfrm>
            <a:off x="692944" y="3803824"/>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37" name="Text 35"/>
          <p:cNvSpPr/>
          <p:nvPr/>
        </p:nvSpPr>
        <p:spPr>
          <a:xfrm>
            <a:off x="907256" y="3789536"/>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DevSecOps teams</a:t>
            </a:r>
            <a:endParaRPr lang="en-US" sz="900" dirty="0"/>
          </a:p>
        </p:txBody>
      </p:sp>
      <p:sp>
        <p:nvSpPr>
          <p:cNvPr id="38" name="Text 36"/>
          <p:cNvSpPr/>
          <p:nvPr/>
        </p:nvSpPr>
        <p:spPr>
          <a:xfrm>
            <a:off x="692944" y="4192377"/>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39" name="Text 37"/>
          <p:cNvSpPr/>
          <p:nvPr/>
        </p:nvSpPr>
        <p:spPr>
          <a:xfrm>
            <a:off x="907256" y="4178089"/>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Compliance officers</a:t>
            </a:r>
            <a:endParaRPr lang="en-US" sz="900" dirty="0"/>
          </a:p>
        </p:txBody>
      </p:sp>
      <p:sp>
        <p:nvSpPr>
          <p:cNvPr id="40" name="Text 38"/>
          <p:cNvSpPr/>
          <p:nvPr/>
        </p:nvSpPr>
        <p:spPr>
          <a:xfrm>
            <a:off x="4686300" y="2358777"/>
            <a:ext cx="4000500" cy="2327523"/>
          </a:xfrm>
          <a:prstGeom prst="roundRect">
            <a:avLst>
              <a:gd name="adj" fmla="val 4911"/>
            </a:avLst>
          </a:prstGeom>
          <a:solidFill>
            <a:srgbClr val="111111"/>
          </a:solidFill>
          <a:ln/>
        </p:spPr>
        <p:txBody>
          <a:bodyPr wrap="square" rtlCol="0" anchor="ctr"/>
          <a:lstStyle/>
          <a:p>
            <a:pPr indent="0" marL="0">
              <a:buNone/>
            </a:pPr>
            <a:endParaRPr lang="en-US" dirty="0"/>
          </a:p>
        </p:txBody>
      </p:sp>
      <p:sp>
        <p:nvSpPr>
          <p:cNvPr id="41" name="Shape 39"/>
          <p:cNvSpPr/>
          <p:nvPr/>
        </p:nvSpPr>
        <p:spPr>
          <a:xfrm>
            <a:off x="4686300" y="2369493"/>
            <a:ext cx="4000500" cy="0"/>
          </a:xfrm>
          <a:prstGeom prst="line">
            <a:avLst/>
          </a:prstGeom>
          <a:noFill/>
          <a:ln w="21431">
            <a:solidFill>
              <a:srgbClr val="C9A96E"/>
            </a:solidFill>
            <a:prstDash val="solid"/>
          </a:ln>
        </p:spPr>
      </p:sp>
      <p:sp>
        <p:nvSpPr>
          <p:cNvPr id="42" name="Shape 40"/>
          <p:cNvSpPr/>
          <p:nvPr/>
        </p:nvSpPr>
        <p:spPr>
          <a:xfrm>
            <a:off x="8683228" y="2358777"/>
            <a:ext cx="0" cy="2327523"/>
          </a:xfrm>
          <a:prstGeom prst="line">
            <a:avLst/>
          </a:prstGeom>
          <a:noFill/>
          <a:ln w="7144">
            <a:solidFill>
              <a:srgbClr val="222222"/>
            </a:solidFill>
            <a:prstDash val="solid"/>
          </a:ln>
        </p:spPr>
      </p:sp>
      <p:sp>
        <p:nvSpPr>
          <p:cNvPr id="43" name="Shape 41"/>
          <p:cNvSpPr/>
          <p:nvPr/>
        </p:nvSpPr>
        <p:spPr>
          <a:xfrm>
            <a:off x="4686300" y="4682728"/>
            <a:ext cx="4000500" cy="0"/>
          </a:xfrm>
          <a:prstGeom prst="line">
            <a:avLst/>
          </a:prstGeom>
          <a:noFill/>
          <a:ln w="7144">
            <a:solidFill>
              <a:srgbClr val="222222"/>
            </a:solidFill>
            <a:prstDash val="solid"/>
          </a:ln>
        </p:spPr>
      </p:sp>
      <p:sp>
        <p:nvSpPr>
          <p:cNvPr id="44" name="Shape 42"/>
          <p:cNvSpPr/>
          <p:nvPr/>
        </p:nvSpPr>
        <p:spPr>
          <a:xfrm>
            <a:off x="4689872" y="2358777"/>
            <a:ext cx="0" cy="2327523"/>
          </a:xfrm>
          <a:prstGeom prst="line">
            <a:avLst/>
          </a:prstGeom>
          <a:noFill/>
          <a:ln w="7144">
            <a:solidFill>
              <a:srgbClr val="222222"/>
            </a:solidFill>
            <a:prstDash val="solid"/>
          </a:ln>
        </p:spPr>
      </p:sp>
      <p:sp>
        <p:nvSpPr>
          <p:cNvPr id="45" name="Shape 43"/>
          <p:cNvSpPr/>
          <p:nvPr/>
        </p:nvSpPr>
        <p:spPr>
          <a:xfrm>
            <a:off x="4922044" y="2808833"/>
            <a:ext cx="3529013" cy="0"/>
          </a:xfrm>
          <a:prstGeom prst="line">
            <a:avLst/>
          </a:prstGeom>
          <a:noFill/>
          <a:ln w="7144">
            <a:solidFill>
              <a:srgbClr val="C9A96E"/>
            </a:solidFill>
            <a:prstDash val="solid"/>
          </a:ln>
        </p:spPr>
      </p:sp>
      <p:sp>
        <p:nvSpPr>
          <p:cNvPr id="46" name="Text 44"/>
          <p:cNvSpPr/>
          <p:nvPr/>
        </p:nvSpPr>
        <p:spPr>
          <a:xfrm>
            <a:off x="4922044" y="2580233"/>
            <a:ext cx="3529013" cy="274320"/>
          </a:xfrm>
          <a:prstGeom prst="rect">
            <a:avLst/>
          </a:prstGeom>
          <a:noFill/>
          <a:ln/>
        </p:spPr>
        <p:txBody>
          <a:bodyPr wrap="none" lIns="0" tIns="0" rIns="0" bIns="85725" rtlCol="0" anchor="t"/>
          <a:lstStyle/>
          <a:p>
            <a:pPr algn="l" indent="0" marL="0">
              <a:lnSpc>
                <a:spcPts val="1097"/>
              </a:lnSpc>
              <a:buNone/>
            </a:pPr>
            <a:r>
              <a:rPr lang="en-US" sz="800" spc="59" kern="0" dirty="0">
                <a:solidFill>
                  <a:srgbClr val="C9A96E"/>
                </a:solidFill>
                <a:latin typeface="Segoe UI Symbol" pitchFamily="34" charset="0"/>
                <a:ea typeface="Segoe UI Symbol" pitchFamily="34" charset="-122"/>
                <a:cs typeface="Segoe UI Symbol" pitchFamily="34" charset="-120"/>
              </a:rPr>
              <a:t>$</a:t>
            </a:r>
            <a:pPr algn="l" indent="0" marL="0">
              <a:lnSpc>
                <a:spcPts val="1097"/>
              </a:lnSpc>
              <a:buNone/>
            </a:pPr>
            <a:r>
              <a:rPr lang="en-US" sz="800" spc="59" kern="0" dirty="0">
                <a:solidFill>
                  <a:srgbClr val="C9A96E"/>
                </a:solidFill>
                <a:latin typeface="Courier New" pitchFamily="34" charset="0"/>
                <a:ea typeface="Courier New" pitchFamily="34" charset="-122"/>
                <a:cs typeface="Courier New" pitchFamily="34" charset="-120"/>
              </a:rPr>
              <a:t>REVENUE MODEL</a:t>
            </a:r>
            <a:endParaRPr lang="en-US" sz="800" dirty="0"/>
          </a:p>
        </p:txBody>
      </p:sp>
      <p:sp>
        <p:nvSpPr>
          <p:cNvPr id="47" name="Text 45"/>
          <p:cNvSpPr/>
          <p:nvPr/>
        </p:nvSpPr>
        <p:spPr>
          <a:xfrm>
            <a:off x="4922044" y="3026718"/>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48" name="Text 46"/>
          <p:cNvSpPr/>
          <p:nvPr/>
        </p:nvSpPr>
        <p:spPr>
          <a:xfrm>
            <a:off x="5136356" y="3012430"/>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SaaS subscription (monthly/annual)</a:t>
            </a:r>
            <a:endParaRPr lang="en-US" sz="900" dirty="0"/>
          </a:p>
        </p:txBody>
      </p:sp>
      <p:sp>
        <p:nvSpPr>
          <p:cNvPr id="49" name="Text 47"/>
          <p:cNvSpPr/>
          <p:nvPr/>
        </p:nvSpPr>
        <p:spPr>
          <a:xfrm>
            <a:off x="4922044" y="3415271"/>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50" name="Text 48"/>
          <p:cNvSpPr/>
          <p:nvPr/>
        </p:nvSpPr>
        <p:spPr>
          <a:xfrm>
            <a:off x="5136356" y="3400983"/>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Per-organization pricing</a:t>
            </a:r>
            <a:endParaRPr lang="en-US" sz="900" dirty="0"/>
          </a:p>
        </p:txBody>
      </p:sp>
      <p:sp>
        <p:nvSpPr>
          <p:cNvPr id="51" name="Text 49"/>
          <p:cNvSpPr/>
          <p:nvPr/>
        </p:nvSpPr>
        <p:spPr>
          <a:xfrm>
            <a:off x="4922044" y="3803824"/>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52" name="Text 50"/>
          <p:cNvSpPr/>
          <p:nvPr/>
        </p:nvSpPr>
        <p:spPr>
          <a:xfrm>
            <a:off x="5136356" y="3789536"/>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Tiered plans: Starter / Professional / Enterprise</a:t>
            </a:r>
            <a:endParaRPr lang="en-US" sz="900" dirty="0"/>
          </a:p>
        </p:txBody>
      </p:sp>
      <p:sp>
        <p:nvSpPr>
          <p:cNvPr id="53" name="Text 51"/>
          <p:cNvSpPr/>
          <p:nvPr/>
        </p:nvSpPr>
        <p:spPr>
          <a:xfrm>
            <a:off x="4922044" y="4192377"/>
            <a:ext cx="128588" cy="128588"/>
          </a:xfrm>
          <a:prstGeom prst="rect">
            <a:avLst/>
          </a:prstGeom>
          <a:noFill/>
          <a:ln/>
        </p:spPr>
        <p:txBody>
          <a:bodyPr wrap="none" lIns="0" tIns="0" rIns="0" bIns="0" rtlCol="0" anchor="ctr"/>
          <a:lstStyle/>
          <a:p>
            <a:pPr algn="ctr" indent="0" marL="0">
              <a:buNone/>
            </a:pPr>
            <a:r>
              <a:rPr lang="en-US" sz="1266" dirty="0">
                <a:solidFill>
                  <a:srgbClr val="C9A96E"/>
                </a:solidFill>
                <a:latin typeface="Segoe UI Symbol" pitchFamily="34" charset="0"/>
                <a:ea typeface="Segoe UI Symbol" pitchFamily="34" charset="-122"/>
                <a:cs typeface="Segoe UI Symbol" pitchFamily="34" charset="-120"/>
              </a:rPr>
              <a:t>⊕</a:t>
            </a:r>
            <a:endParaRPr lang="en-US" sz="1266" dirty="0"/>
          </a:p>
        </p:txBody>
      </p:sp>
      <p:sp>
        <p:nvSpPr>
          <p:cNvPr id="54" name="Text 52"/>
          <p:cNvSpPr/>
          <p:nvPr/>
        </p:nvSpPr>
        <p:spPr>
          <a:xfrm>
            <a:off x="5136356" y="4178089"/>
            <a:ext cx="3314700" cy="172749"/>
          </a:xfrm>
          <a:prstGeom prst="rect">
            <a:avLst/>
          </a:prstGeom>
          <a:noFill/>
          <a:ln/>
        </p:spPr>
        <p:txBody>
          <a:bodyPr wrap="none" lIns="0" tIns="0" rIns="0" bIns="0" rtlCol="0" anchor="t"/>
          <a:lstStyle/>
          <a:p>
            <a:pPr algn="l" indent="0" marL="0">
              <a:lnSpc>
                <a:spcPts val="1260"/>
              </a:lnSpc>
              <a:buNone/>
            </a:pPr>
            <a:r>
              <a:rPr lang="en-US" sz="900" dirty="0">
                <a:solidFill>
                  <a:srgbClr val="FFFFFF"/>
                </a:solidFill>
                <a:latin typeface="Carlito" pitchFamily="34" charset="0"/>
                <a:ea typeface="Carlito" pitchFamily="34" charset="-122"/>
                <a:cs typeface="Carlito" pitchFamily="34" charset="-120"/>
              </a:rPr>
              <a:t>Add-ons: Advanced scanning, custom reports</a:t>
            </a:r>
            <a:endParaRPr lang="en-US" sz="900" dirty="0"/>
          </a:p>
        </p:txBody>
      </p:sp>
      <p:sp>
        <p:nvSpPr>
          <p:cNvPr id="55" name="Text 53"/>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56" name="Text 54"/>
          <p:cNvSpPr/>
          <p:nvPr/>
        </p:nvSpPr>
        <p:spPr>
          <a:xfrm>
            <a:off x="8554083" y="4843463"/>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28625"/>
            <a:ext cx="8636000" cy="164592"/>
          </a:xfrm>
          <a:prstGeom prst="rect">
            <a:avLst/>
          </a:prstGeom>
          <a:noFill/>
          <a:ln/>
        </p:spPr>
        <p:txBody>
          <a:bodyPr wrap="none" lIns="0" tIns="0" rIns="0" bIns="0" rtlCol="0" anchor="t"/>
          <a:lstStyle/>
          <a:p>
            <a:pPr algn="l" indent="0" marL="0">
              <a:lnSpc>
                <a:spcPts val="1097"/>
              </a:lnSpc>
              <a:buNone/>
            </a:pPr>
            <a:r>
              <a:rPr lang="en-US" sz="800" spc="73" kern="0" dirty="0">
                <a:solidFill>
                  <a:srgbClr val="C9A96E"/>
                </a:solidFill>
                <a:latin typeface="Courier New" pitchFamily="34" charset="0"/>
                <a:ea typeface="Courier New" pitchFamily="34" charset="-122"/>
                <a:cs typeface="Courier New" pitchFamily="34" charset="-120"/>
              </a:rPr>
              <a:t>MARKET</a:t>
            </a:r>
            <a:endParaRPr lang="en-US" sz="800" dirty="0"/>
          </a:p>
        </p:txBody>
      </p:sp>
      <p:sp>
        <p:nvSpPr>
          <p:cNvPr id="3" name="Text 1"/>
          <p:cNvSpPr/>
          <p:nvPr/>
        </p:nvSpPr>
        <p:spPr>
          <a:xfrm>
            <a:off x="457200" y="653653"/>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A massive and growing market</a:t>
            </a:r>
            <a:endParaRPr lang="en-US" sz="2025" dirty="0"/>
          </a:p>
        </p:txBody>
      </p:sp>
      <p:sp>
        <p:nvSpPr>
          <p:cNvPr id="4" name="Text 2"/>
          <p:cNvSpPr/>
          <p:nvPr/>
        </p:nvSpPr>
        <p:spPr>
          <a:xfrm>
            <a:off x="457200" y="1268016"/>
            <a:ext cx="2628900" cy="891518"/>
          </a:xfrm>
          <a:prstGeom prst="roundRect">
            <a:avLst>
              <a:gd name="adj" fmla="val 12821"/>
            </a:avLst>
          </a:prstGeom>
          <a:solidFill>
            <a:srgbClr val="111111"/>
          </a:solidFill>
          <a:ln/>
        </p:spPr>
        <p:txBody>
          <a:bodyPr wrap="square" rtlCol="0" anchor="ctr"/>
          <a:lstStyle/>
          <a:p>
            <a:pPr indent="0" marL="0">
              <a:buNone/>
            </a:pPr>
            <a:endParaRPr lang="en-US" dirty="0"/>
          </a:p>
        </p:txBody>
      </p:sp>
      <p:sp>
        <p:nvSpPr>
          <p:cNvPr id="5" name="Shape 3"/>
          <p:cNvSpPr/>
          <p:nvPr/>
        </p:nvSpPr>
        <p:spPr>
          <a:xfrm>
            <a:off x="457200" y="1275159"/>
            <a:ext cx="2628900" cy="0"/>
          </a:xfrm>
          <a:prstGeom prst="line">
            <a:avLst/>
          </a:prstGeom>
          <a:noFill/>
          <a:ln w="14288">
            <a:solidFill>
              <a:srgbClr val="C9A96E"/>
            </a:solidFill>
            <a:prstDash val="solid"/>
          </a:ln>
        </p:spPr>
      </p:sp>
      <p:sp>
        <p:nvSpPr>
          <p:cNvPr id="6" name="Shape 4"/>
          <p:cNvSpPr/>
          <p:nvPr/>
        </p:nvSpPr>
        <p:spPr>
          <a:xfrm>
            <a:off x="3082528" y="1268016"/>
            <a:ext cx="0" cy="891518"/>
          </a:xfrm>
          <a:prstGeom prst="line">
            <a:avLst/>
          </a:prstGeom>
          <a:noFill/>
          <a:ln w="7144">
            <a:solidFill>
              <a:srgbClr val="222222"/>
            </a:solidFill>
            <a:prstDash val="solid"/>
          </a:ln>
        </p:spPr>
      </p:sp>
      <p:sp>
        <p:nvSpPr>
          <p:cNvPr id="7" name="Shape 5"/>
          <p:cNvSpPr/>
          <p:nvPr/>
        </p:nvSpPr>
        <p:spPr>
          <a:xfrm>
            <a:off x="457200" y="2155961"/>
            <a:ext cx="2628900" cy="0"/>
          </a:xfrm>
          <a:prstGeom prst="line">
            <a:avLst/>
          </a:prstGeom>
          <a:noFill/>
          <a:ln w="7144">
            <a:solidFill>
              <a:srgbClr val="222222"/>
            </a:solidFill>
            <a:prstDash val="solid"/>
          </a:ln>
        </p:spPr>
      </p:sp>
      <p:sp>
        <p:nvSpPr>
          <p:cNvPr id="8" name="Shape 6"/>
          <p:cNvSpPr/>
          <p:nvPr/>
        </p:nvSpPr>
        <p:spPr>
          <a:xfrm>
            <a:off x="460772" y="1268016"/>
            <a:ext cx="0" cy="891518"/>
          </a:xfrm>
          <a:prstGeom prst="line">
            <a:avLst/>
          </a:prstGeom>
          <a:noFill/>
          <a:ln w="7144">
            <a:solidFill>
              <a:srgbClr val="222222"/>
            </a:solidFill>
            <a:prstDash val="solid"/>
          </a:ln>
        </p:spPr>
      </p:sp>
      <p:sp>
        <p:nvSpPr>
          <p:cNvPr id="9" name="Text 7"/>
          <p:cNvSpPr/>
          <p:nvPr/>
        </p:nvSpPr>
        <p:spPr>
          <a:xfrm>
            <a:off x="635794" y="1453753"/>
            <a:ext cx="2271713" cy="349736"/>
          </a:xfrm>
          <a:prstGeom prst="rect">
            <a:avLst/>
          </a:prstGeom>
          <a:noFill/>
          <a:ln/>
        </p:spPr>
        <p:txBody>
          <a:bodyPr wrap="none" lIns="0" tIns="0" rIns="0" bIns="0" rtlCol="0" anchor="t">
            <a:normAutofit/>
          </a:bodyPr>
          <a:lstStyle/>
          <a:p>
            <a:pPr algn="ctr" indent="0" marL="0">
              <a:lnSpc>
                <a:spcPts val="2970"/>
              </a:lnSpc>
              <a:buNone/>
            </a:pPr>
            <a:r>
              <a:rPr lang="en-US" sz="2700" b="1" dirty="0">
                <a:solidFill>
                  <a:srgbClr val="C9A96E"/>
                </a:solidFill>
                <a:latin typeface="Liberation Sans Narrow" pitchFamily="34" charset="0"/>
                <a:ea typeface="Liberation Sans Narrow" pitchFamily="34" charset="-122"/>
                <a:cs typeface="Liberation Sans Narrow" pitchFamily="34" charset="-120"/>
              </a:rPr>
              <a:t>$18.3B</a:t>
            </a:r>
            <a:endParaRPr lang="en-US" sz="2700" dirty="0"/>
          </a:p>
        </p:txBody>
      </p:sp>
      <p:sp>
        <p:nvSpPr>
          <p:cNvPr id="10" name="Text 8"/>
          <p:cNvSpPr/>
          <p:nvPr/>
        </p:nvSpPr>
        <p:spPr>
          <a:xfrm>
            <a:off x="635794" y="1830921"/>
            <a:ext cx="2362581" cy="150019"/>
          </a:xfrm>
          <a:prstGeom prst="rect">
            <a:avLst/>
          </a:prstGeom>
          <a:noFill/>
          <a:ln/>
        </p:spPr>
        <p:txBody>
          <a:bodyPr wrap="square" lIns="0" tIns="0" rIns="0" bIns="0" rtlCol="0" anchor="t"/>
          <a:lstStyle/>
          <a:p>
            <a:pPr algn="ctr" indent="0" marL="0">
              <a:lnSpc>
                <a:spcPts val="1181"/>
              </a:lnSpc>
              <a:buNone/>
            </a:pPr>
            <a:r>
              <a:rPr lang="en-US" sz="844" dirty="0">
                <a:solidFill>
                  <a:srgbClr val="999999"/>
                </a:solidFill>
                <a:latin typeface="Carlito" pitchFamily="34" charset="0"/>
                <a:ea typeface="Carlito" pitchFamily="34" charset="-122"/>
                <a:cs typeface="Carlito" pitchFamily="34" charset="-120"/>
              </a:rPr>
              <a:t>Attack surface management market by 2028</a:t>
            </a:r>
            <a:endParaRPr lang="en-US" sz="844" dirty="0"/>
          </a:p>
        </p:txBody>
      </p:sp>
      <p:sp>
        <p:nvSpPr>
          <p:cNvPr id="11" name="Text 9"/>
          <p:cNvSpPr/>
          <p:nvPr/>
        </p:nvSpPr>
        <p:spPr>
          <a:xfrm>
            <a:off x="3257550" y="1268016"/>
            <a:ext cx="2628900" cy="891518"/>
          </a:xfrm>
          <a:prstGeom prst="roundRect">
            <a:avLst>
              <a:gd name="adj" fmla="val 12821"/>
            </a:avLst>
          </a:prstGeom>
          <a:solidFill>
            <a:srgbClr val="111111"/>
          </a:solidFill>
          <a:ln/>
        </p:spPr>
        <p:txBody>
          <a:bodyPr wrap="square" rtlCol="0" anchor="ctr"/>
          <a:lstStyle/>
          <a:p>
            <a:pPr indent="0" marL="0">
              <a:buNone/>
            </a:pPr>
            <a:endParaRPr lang="en-US" dirty="0"/>
          </a:p>
        </p:txBody>
      </p:sp>
      <p:sp>
        <p:nvSpPr>
          <p:cNvPr id="12" name="Shape 10"/>
          <p:cNvSpPr/>
          <p:nvPr/>
        </p:nvSpPr>
        <p:spPr>
          <a:xfrm>
            <a:off x="3257550" y="1275159"/>
            <a:ext cx="2628900" cy="0"/>
          </a:xfrm>
          <a:prstGeom prst="line">
            <a:avLst/>
          </a:prstGeom>
          <a:noFill/>
          <a:ln w="14288">
            <a:solidFill>
              <a:srgbClr val="00FF88"/>
            </a:solidFill>
            <a:prstDash val="solid"/>
          </a:ln>
        </p:spPr>
      </p:sp>
      <p:sp>
        <p:nvSpPr>
          <p:cNvPr id="13" name="Shape 11"/>
          <p:cNvSpPr/>
          <p:nvPr/>
        </p:nvSpPr>
        <p:spPr>
          <a:xfrm>
            <a:off x="5882878" y="1268016"/>
            <a:ext cx="0" cy="891518"/>
          </a:xfrm>
          <a:prstGeom prst="line">
            <a:avLst/>
          </a:prstGeom>
          <a:noFill/>
          <a:ln w="7144">
            <a:solidFill>
              <a:srgbClr val="222222"/>
            </a:solidFill>
            <a:prstDash val="solid"/>
          </a:ln>
        </p:spPr>
      </p:sp>
      <p:sp>
        <p:nvSpPr>
          <p:cNvPr id="14" name="Shape 12"/>
          <p:cNvSpPr/>
          <p:nvPr/>
        </p:nvSpPr>
        <p:spPr>
          <a:xfrm>
            <a:off x="3257550" y="2155961"/>
            <a:ext cx="2628900" cy="0"/>
          </a:xfrm>
          <a:prstGeom prst="line">
            <a:avLst/>
          </a:prstGeom>
          <a:noFill/>
          <a:ln w="7144">
            <a:solidFill>
              <a:srgbClr val="222222"/>
            </a:solidFill>
            <a:prstDash val="solid"/>
          </a:ln>
        </p:spPr>
      </p:sp>
      <p:sp>
        <p:nvSpPr>
          <p:cNvPr id="15" name="Shape 13"/>
          <p:cNvSpPr/>
          <p:nvPr/>
        </p:nvSpPr>
        <p:spPr>
          <a:xfrm>
            <a:off x="3261122" y="1268016"/>
            <a:ext cx="0" cy="891518"/>
          </a:xfrm>
          <a:prstGeom prst="line">
            <a:avLst/>
          </a:prstGeom>
          <a:noFill/>
          <a:ln w="7144">
            <a:solidFill>
              <a:srgbClr val="222222"/>
            </a:solidFill>
            <a:prstDash val="solid"/>
          </a:ln>
        </p:spPr>
      </p:sp>
      <p:sp>
        <p:nvSpPr>
          <p:cNvPr id="16" name="Text 14"/>
          <p:cNvSpPr/>
          <p:nvPr/>
        </p:nvSpPr>
        <p:spPr>
          <a:xfrm>
            <a:off x="3436144" y="1453753"/>
            <a:ext cx="2271713" cy="349736"/>
          </a:xfrm>
          <a:prstGeom prst="rect">
            <a:avLst/>
          </a:prstGeom>
          <a:noFill/>
          <a:ln/>
        </p:spPr>
        <p:txBody>
          <a:bodyPr wrap="none" lIns="0" tIns="0" rIns="0" bIns="0" rtlCol="0" anchor="t">
            <a:normAutofit/>
          </a:bodyPr>
          <a:lstStyle/>
          <a:p>
            <a:pPr algn="ctr" indent="0" marL="0">
              <a:lnSpc>
                <a:spcPts val="2970"/>
              </a:lnSpc>
              <a:buNone/>
            </a:pPr>
            <a:r>
              <a:rPr lang="en-US" sz="2700" b="1" dirty="0">
                <a:solidFill>
                  <a:srgbClr val="00FF88"/>
                </a:solidFill>
                <a:latin typeface="Liberation Sans Narrow" pitchFamily="34" charset="0"/>
                <a:ea typeface="Liberation Sans Narrow" pitchFamily="34" charset="-122"/>
                <a:cs typeface="Liberation Sans Narrow" pitchFamily="34" charset="-120"/>
              </a:rPr>
              <a:t>27%</a:t>
            </a:r>
            <a:endParaRPr lang="en-US" sz="2700" dirty="0"/>
          </a:p>
        </p:txBody>
      </p:sp>
      <p:sp>
        <p:nvSpPr>
          <p:cNvPr id="17" name="Text 15"/>
          <p:cNvSpPr/>
          <p:nvPr/>
        </p:nvSpPr>
        <p:spPr>
          <a:xfrm>
            <a:off x="3436144" y="1830921"/>
            <a:ext cx="2271712" cy="150019"/>
          </a:xfrm>
          <a:prstGeom prst="rect">
            <a:avLst/>
          </a:prstGeom>
          <a:noFill/>
          <a:ln/>
        </p:spPr>
        <p:txBody>
          <a:bodyPr wrap="none" lIns="0" tIns="0" rIns="0" bIns="0" rtlCol="0" anchor="t"/>
          <a:lstStyle/>
          <a:p>
            <a:pPr algn="ctr" indent="0" marL="0">
              <a:lnSpc>
                <a:spcPts val="1181"/>
              </a:lnSpc>
              <a:buNone/>
            </a:pPr>
            <a:r>
              <a:rPr lang="en-US" sz="844" dirty="0">
                <a:solidFill>
                  <a:srgbClr val="999999"/>
                </a:solidFill>
                <a:latin typeface="Liberation Sans Narrow" pitchFamily="34" charset="0"/>
                <a:ea typeface="Liberation Sans Narrow" pitchFamily="34" charset="-122"/>
                <a:cs typeface="Liberation Sans Narrow" pitchFamily="34" charset="-120"/>
              </a:rPr>
              <a:t>CAGR 2023–2028</a:t>
            </a:r>
            <a:endParaRPr lang="en-US" sz="844" dirty="0"/>
          </a:p>
        </p:txBody>
      </p:sp>
      <p:sp>
        <p:nvSpPr>
          <p:cNvPr id="18" name="Text 16"/>
          <p:cNvSpPr/>
          <p:nvPr/>
        </p:nvSpPr>
        <p:spPr>
          <a:xfrm>
            <a:off x="6057900" y="1268016"/>
            <a:ext cx="2628900" cy="891518"/>
          </a:xfrm>
          <a:prstGeom prst="roundRect">
            <a:avLst>
              <a:gd name="adj" fmla="val 12821"/>
            </a:avLst>
          </a:prstGeom>
          <a:solidFill>
            <a:srgbClr val="111111"/>
          </a:solidFill>
          <a:ln/>
        </p:spPr>
        <p:txBody>
          <a:bodyPr wrap="square" rtlCol="0" anchor="ctr"/>
          <a:lstStyle/>
          <a:p>
            <a:pPr indent="0" marL="0">
              <a:buNone/>
            </a:pPr>
            <a:endParaRPr lang="en-US" dirty="0"/>
          </a:p>
        </p:txBody>
      </p:sp>
      <p:sp>
        <p:nvSpPr>
          <p:cNvPr id="19" name="Shape 17"/>
          <p:cNvSpPr/>
          <p:nvPr/>
        </p:nvSpPr>
        <p:spPr>
          <a:xfrm>
            <a:off x="6057900" y="1275159"/>
            <a:ext cx="2628900" cy="0"/>
          </a:xfrm>
          <a:prstGeom prst="line">
            <a:avLst/>
          </a:prstGeom>
          <a:noFill/>
          <a:ln w="14288">
            <a:solidFill>
              <a:srgbClr val="4FADDB"/>
            </a:solidFill>
            <a:prstDash val="solid"/>
          </a:ln>
        </p:spPr>
      </p:sp>
      <p:sp>
        <p:nvSpPr>
          <p:cNvPr id="20" name="Shape 18"/>
          <p:cNvSpPr/>
          <p:nvPr/>
        </p:nvSpPr>
        <p:spPr>
          <a:xfrm>
            <a:off x="8683228" y="1268016"/>
            <a:ext cx="0" cy="891518"/>
          </a:xfrm>
          <a:prstGeom prst="line">
            <a:avLst/>
          </a:prstGeom>
          <a:noFill/>
          <a:ln w="7144">
            <a:solidFill>
              <a:srgbClr val="222222"/>
            </a:solidFill>
            <a:prstDash val="solid"/>
          </a:ln>
        </p:spPr>
      </p:sp>
      <p:sp>
        <p:nvSpPr>
          <p:cNvPr id="21" name="Shape 19"/>
          <p:cNvSpPr/>
          <p:nvPr/>
        </p:nvSpPr>
        <p:spPr>
          <a:xfrm>
            <a:off x="6057900" y="2155961"/>
            <a:ext cx="2628900" cy="0"/>
          </a:xfrm>
          <a:prstGeom prst="line">
            <a:avLst/>
          </a:prstGeom>
          <a:noFill/>
          <a:ln w="7144">
            <a:solidFill>
              <a:srgbClr val="222222"/>
            </a:solidFill>
            <a:prstDash val="solid"/>
          </a:ln>
        </p:spPr>
      </p:sp>
      <p:sp>
        <p:nvSpPr>
          <p:cNvPr id="22" name="Shape 20"/>
          <p:cNvSpPr/>
          <p:nvPr/>
        </p:nvSpPr>
        <p:spPr>
          <a:xfrm>
            <a:off x="6061472" y="1268016"/>
            <a:ext cx="0" cy="891518"/>
          </a:xfrm>
          <a:prstGeom prst="line">
            <a:avLst/>
          </a:prstGeom>
          <a:noFill/>
          <a:ln w="7144">
            <a:solidFill>
              <a:srgbClr val="222222"/>
            </a:solidFill>
            <a:prstDash val="solid"/>
          </a:ln>
        </p:spPr>
      </p:sp>
      <p:sp>
        <p:nvSpPr>
          <p:cNvPr id="23" name="Text 21"/>
          <p:cNvSpPr/>
          <p:nvPr/>
        </p:nvSpPr>
        <p:spPr>
          <a:xfrm>
            <a:off x="6236494" y="1453753"/>
            <a:ext cx="2271712" cy="349736"/>
          </a:xfrm>
          <a:prstGeom prst="rect">
            <a:avLst/>
          </a:prstGeom>
          <a:noFill/>
          <a:ln/>
        </p:spPr>
        <p:txBody>
          <a:bodyPr wrap="none" lIns="0" tIns="0" rIns="0" bIns="0" rtlCol="0" anchor="t">
            <a:normAutofit/>
          </a:bodyPr>
          <a:lstStyle/>
          <a:p>
            <a:pPr algn="ctr" indent="0" marL="0">
              <a:lnSpc>
                <a:spcPts val="2970"/>
              </a:lnSpc>
              <a:buNone/>
            </a:pPr>
            <a:r>
              <a:rPr lang="en-US" sz="2700" b="1" dirty="0">
                <a:solidFill>
                  <a:srgbClr val="4FADDB"/>
                </a:solidFill>
                <a:latin typeface="Liberation Sans Narrow" pitchFamily="34" charset="0"/>
                <a:ea typeface="Liberation Sans Narrow" pitchFamily="34" charset="-122"/>
                <a:cs typeface="Liberation Sans Narrow" pitchFamily="34" charset="-120"/>
              </a:rPr>
              <a:t>94%</a:t>
            </a:r>
            <a:endParaRPr lang="en-US" sz="2700" dirty="0"/>
          </a:p>
        </p:txBody>
      </p:sp>
      <p:sp>
        <p:nvSpPr>
          <p:cNvPr id="24" name="Text 22"/>
          <p:cNvSpPr/>
          <p:nvPr/>
        </p:nvSpPr>
        <p:spPr>
          <a:xfrm>
            <a:off x="6236494" y="1830921"/>
            <a:ext cx="2362581" cy="150019"/>
          </a:xfrm>
          <a:prstGeom prst="rect">
            <a:avLst/>
          </a:prstGeom>
          <a:noFill/>
          <a:ln/>
        </p:spPr>
        <p:txBody>
          <a:bodyPr wrap="square" lIns="0" tIns="0" rIns="0" bIns="0" rtlCol="0" anchor="t"/>
          <a:lstStyle/>
          <a:p>
            <a:pPr algn="ctr" indent="0" marL="0">
              <a:lnSpc>
                <a:spcPts val="1181"/>
              </a:lnSpc>
              <a:buNone/>
            </a:pPr>
            <a:r>
              <a:rPr lang="en-US" sz="844" dirty="0">
                <a:solidFill>
                  <a:srgbClr val="999999"/>
                </a:solidFill>
                <a:latin typeface="Carlito" pitchFamily="34" charset="0"/>
                <a:ea typeface="Carlito" pitchFamily="34" charset="-122"/>
                <a:cs typeface="Carlito" pitchFamily="34" charset="-120"/>
              </a:rPr>
              <a:t>Of enterprises have multi-cloud environments</a:t>
            </a:r>
            <a:endParaRPr lang="en-US" sz="844" dirty="0"/>
          </a:p>
        </p:txBody>
      </p:sp>
      <p:sp>
        <p:nvSpPr>
          <p:cNvPr id="25" name="Text 23"/>
          <p:cNvSpPr/>
          <p:nvPr/>
        </p:nvSpPr>
        <p:spPr>
          <a:xfrm>
            <a:off x="460772" y="2391705"/>
            <a:ext cx="3993356" cy="1671638"/>
          </a:xfrm>
          <a:prstGeom prst="roundRect">
            <a:avLst>
              <a:gd name="adj" fmla="val 6838"/>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26" name="Text 24"/>
          <p:cNvSpPr/>
          <p:nvPr/>
        </p:nvSpPr>
        <p:spPr>
          <a:xfrm>
            <a:off x="864394" y="2588158"/>
            <a:ext cx="1363591" cy="154305"/>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Target Customers</a:t>
            </a:r>
            <a:endParaRPr lang="en-US" sz="1013" dirty="0"/>
          </a:p>
        </p:txBody>
      </p:sp>
      <p:sp>
        <p:nvSpPr>
          <p:cNvPr id="27" name="Text 25"/>
          <p:cNvSpPr/>
          <p:nvPr/>
        </p:nvSpPr>
        <p:spPr>
          <a:xfrm>
            <a:off x="635794" y="2902483"/>
            <a:ext cx="3753041" cy="185166"/>
          </a:xfrm>
          <a:prstGeom prst="rect">
            <a:avLst/>
          </a:prstGeom>
          <a:noFill/>
          <a:ln/>
        </p:spPr>
        <p:txBody>
          <a:bodyPr wrap="non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Enterprise security teams</a:t>
            </a:r>
            <a:endParaRPr lang="en-US" sz="900" dirty="0"/>
          </a:p>
        </p:txBody>
      </p:sp>
      <p:sp>
        <p:nvSpPr>
          <p:cNvPr id="28" name="Text 26"/>
          <p:cNvSpPr/>
          <p:nvPr/>
        </p:nvSpPr>
        <p:spPr>
          <a:xfrm>
            <a:off x="635794" y="3173946"/>
            <a:ext cx="3753041" cy="185166"/>
          </a:xfrm>
          <a:prstGeom prst="rect">
            <a:avLst/>
          </a:prstGeom>
          <a:noFill/>
          <a:ln/>
        </p:spPr>
        <p:txBody>
          <a:bodyPr wrap="squar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Managed Security Service Providers (MSSPs)</a:t>
            </a:r>
            <a:endParaRPr lang="en-US" sz="900" dirty="0"/>
          </a:p>
        </p:txBody>
      </p:sp>
      <p:sp>
        <p:nvSpPr>
          <p:cNvPr id="29" name="Text 27"/>
          <p:cNvSpPr/>
          <p:nvPr/>
        </p:nvSpPr>
        <p:spPr>
          <a:xfrm>
            <a:off x="635794" y="3445408"/>
            <a:ext cx="3643313" cy="185166"/>
          </a:xfrm>
          <a:prstGeom prst="rect">
            <a:avLst/>
          </a:prstGeom>
          <a:noFill/>
          <a:ln/>
        </p:spPr>
        <p:txBody>
          <a:bodyPr wrap="non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DevSecOps teams</a:t>
            </a:r>
            <a:endParaRPr lang="en-US" sz="900" dirty="0"/>
          </a:p>
        </p:txBody>
      </p:sp>
      <p:sp>
        <p:nvSpPr>
          <p:cNvPr id="30" name="Text 28"/>
          <p:cNvSpPr/>
          <p:nvPr/>
        </p:nvSpPr>
        <p:spPr>
          <a:xfrm>
            <a:off x="635794" y="3716871"/>
            <a:ext cx="3643313" cy="171450"/>
          </a:xfrm>
          <a:prstGeom prst="rect">
            <a:avLst/>
          </a:prstGeom>
          <a:noFill/>
          <a:ln/>
        </p:spPr>
        <p:txBody>
          <a:bodyPr wrap="non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Compliance officers</a:t>
            </a:r>
            <a:endParaRPr lang="en-US" sz="900" dirty="0"/>
          </a:p>
        </p:txBody>
      </p:sp>
      <p:sp>
        <p:nvSpPr>
          <p:cNvPr id="31" name="Text 29"/>
          <p:cNvSpPr/>
          <p:nvPr/>
        </p:nvSpPr>
        <p:spPr>
          <a:xfrm>
            <a:off x="4689872" y="2391705"/>
            <a:ext cx="3993356" cy="1671638"/>
          </a:xfrm>
          <a:prstGeom prst="roundRect">
            <a:avLst>
              <a:gd name="adj" fmla="val 6838"/>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32" name="Text 30"/>
          <p:cNvSpPr/>
          <p:nvPr/>
        </p:nvSpPr>
        <p:spPr>
          <a:xfrm>
            <a:off x="5093494" y="2588158"/>
            <a:ext cx="1178998" cy="154305"/>
          </a:xfrm>
          <a:prstGeom prst="rect">
            <a:avLst/>
          </a:prstGeom>
          <a:noFill/>
          <a:ln/>
        </p:spPr>
        <p:txBody>
          <a:bodyPr wrap="none" lIns="0" tIns="0" rIns="0" bIns="0" rtlCol="0" anchor="t"/>
          <a:lstStyle/>
          <a:p>
            <a:pPr algn="l" indent="0" marL="0">
              <a:lnSpc>
                <a:spcPts val="1519"/>
              </a:lnSpc>
              <a:buNone/>
            </a:pPr>
            <a:r>
              <a:rPr lang="en-US" sz="1013" dirty="0">
                <a:solidFill>
                  <a:srgbClr val="FFFFFF"/>
                </a:solidFill>
                <a:latin typeface="Carlito" pitchFamily="34" charset="0"/>
                <a:ea typeface="Carlito" pitchFamily="34" charset="-122"/>
                <a:cs typeface="Carlito" pitchFamily="34" charset="-120"/>
              </a:rPr>
              <a:t>Revenue Model</a:t>
            </a:r>
            <a:endParaRPr lang="en-US" sz="1013" dirty="0"/>
          </a:p>
        </p:txBody>
      </p:sp>
      <p:sp>
        <p:nvSpPr>
          <p:cNvPr id="33" name="Text 31"/>
          <p:cNvSpPr/>
          <p:nvPr/>
        </p:nvSpPr>
        <p:spPr>
          <a:xfrm>
            <a:off x="4864894" y="2902483"/>
            <a:ext cx="3753040" cy="185166"/>
          </a:xfrm>
          <a:prstGeom prst="rect">
            <a:avLst/>
          </a:prstGeom>
          <a:noFill/>
          <a:ln/>
        </p:spPr>
        <p:txBody>
          <a:bodyPr wrap="squar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SaaS subscription (monthly/annual)</a:t>
            </a:r>
            <a:endParaRPr lang="en-US" sz="900" dirty="0"/>
          </a:p>
        </p:txBody>
      </p:sp>
      <p:sp>
        <p:nvSpPr>
          <p:cNvPr id="34" name="Text 32"/>
          <p:cNvSpPr/>
          <p:nvPr/>
        </p:nvSpPr>
        <p:spPr>
          <a:xfrm>
            <a:off x="4864894" y="3173946"/>
            <a:ext cx="3753040" cy="185166"/>
          </a:xfrm>
          <a:prstGeom prst="rect">
            <a:avLst/>
          </a:prstGeom>
          <a:noFill/>
          <a:ln/>
        </p:spPr>
        <p:txBody>
          <a:bodyPr wrap="non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Per-organization pricing</a:t>
            </a:r>
            <a:endParaRPr lang="en-US" sz="900" dirty="0"/>
          </a:p>
        </p:txBody>
      </p:sp>
      <p:sp>
        <p:nvSpPr>
          <p:cNvPr id="35" name="Text 33"/>
          <p:cNvSpPr/>
          <p:nvPr/>
        </p:nvSpPr>
        <p:spPr>
          <a:xfrm>
            <a:off x="4864894" y="3445408"/>
            <a:ext cx="3643313" cy="185166"/>
          </a:xfrm>
          <a:prstGeom prst="rect">
            <a:avLst/>
          </a:prstGeom>
          <a:noFill/>
          <a:ln/>
        </p:spPr>
        <p:txBody>
          <a:bodyPr wrap="squar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Tiered plans: Starter / Professional / Enterprise</a:t>
            </a:r>
            <a:endParaRPr lang="en-US" sz="900" dirty="0"/>
          </a:p>
        </p:txBody>
      </p:sp>
      <p:sp>
        <p:nvSpPr>
          <p:cNvPr id="36" name="Text 34"/>
          <p:cNvSpPr/>
          <p:nvPr/>
        </p:nvSpPr>
        <p:spPr>
          <a:xfrm>
            <a:off x="4864894" y="3716871"/>
            <a:ext cx="3753040" cy="171450"/>
          </a:xfrm>
          <a:prstGeom prst="rect">
            <a:avLst/>
          </a:prstGeom>
          <a:noFill/>
          <a:ln/>
        </p:spPr>
        <p:txBody>
          <a:bodyPr wrap="square" lIns="0" tIns="0" rIns="0" bIns="0" rtlCol="0" anchor="t"/>
          <a:lstStyle/>
          <a:p>
            <a:pPr algn="l" indent="0" marL="0">
              <a:lnSpc>
                <a:spcPts val="1350"/>
              </a:lnSpc>
              <a:buNone/>
            </a:pPr>
            <a:r>
              <a:rPr lang="en-US" sz="900" dirty="0">
                <a:solidFill>
                  <a:srgbClr val="CCCCCC"/>
                </a:solidFill>
                <a:latin typeface="Carlito" pitchFamily="34" charset="0"/>
                <a:ea typeface="Carlito" pitchFamily="34" charset="-122"/>
                <a:cs typeface="Carlito" pitchFamily="34" charset="-120"/>
              </a:rPr>
              <a:t>Add-ons: Advanced scanning, custom reports</a:t>
            </a:r>
            <a:endParaRPr lang="en-US" sz="900" dirty="0"/>
          </a:p>
        </p:txBody>
      </p:sp>
      <p:sp>
        <p:nvSpPr>
          <p:cNvPr id="37" name="Text 35"/>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38" name="Text 36"/>
          <p:cNvSpPr/>
          <p:nvPr/>
        </p:nvSpPr>
        <p:spPr>
          <a:xfrm>
            <a:off x="8554083" y="4843463"/>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09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28625"/>
            <a:ext cx="8636000" cy="164592"/>
          </a:xfrm>
          <a:prstGeom prst="rect">
            <a:avLst/>
          </a:prstGeom>
          <a:noFill/>
          <a:ln/>
        </p:spPr>
        <p:txBody>
          <a:bodyPr wrap="none" lIns="0" tIns="0" rIns="0" bIns="0" rtlCol="0" anchor="t"/>
          <a:lstStyle/>
          <a:p>
            <a:pPr algn="l" indent="0" marL="0">
              <a:lnSpc>
                <a:spcPts val="1097"/>
              </a:lnSpc>
              <a:buNone/>
            </a:pPr>
            <a:r>
              <a:rPr lang="en-US" sz="800" spc="73" kern="0" dirty="0">
                <a:solidFill>
                  <a:srgbClr val="C9A96E"/>
                </a:solidFill>
                <a:latin typeface="Courier New" pitchFamily="34" charset="0"/>
                <a:ea typeface="Courier New" pitchFamily="34" charset="-122"/>
                <a:cs typeface="Courier New" pitchFamily="34" charset="-120"/>
              </a:rPr>
              <a:t>COMPETITIVE EDGE</a:t>
            </a:r>
            <a:endParaRPr lang="en-US" sz="800" dirty="0"/>
          </a:p>
        </p:txBody>
      </p:sp>
      <p:sp>
        <p:nvSpPr>
          <p:cNvPr id="3" name="Text 1"/>
          <p:cNvSpPr/>
          <p:nvPr/>
        </p:nvSpPr>
        <p:spPr>
          <a:xfrm>
            <a:off x="457200" y="653653"/>
            <a:ext cx="8636000" cy="416624"/>
          </a:xfrm>
          <a:prstGeom prst="rect">
            <a:avLst/>
          </a:prstGeom>
          <a:noFill/>
          <a:ln/>
        </p:spPr>
        <p:txBody>
          <a:bodyPr wrap="non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Why ReconPro wins</a:t>
            </a:r>
            <a:endParaRPr lang="en-US" sz="2025" dirty="0"/>
          </a:p>
        </p:txBody>
      </p:sp>
      <p:sp>
        <p:nvSpPr>
          <p:cNvPr id="4" name="Text 2"/>
          <p:cNvSpPr/>
          <p:nvPr/>
        </p:nvSpPr>
        <p:spPr>
          <a:xfrm>
            <a:off x="460772" y="1300163"/>
            <a:ext cx="8222456" cy="3375422"/>
          </a:xfrm>
          <a:prstGeom prst="roundRect">
            <a:avLst>
              <a:gd name="adj" fmla="val 3386"/>
            </a:avLst>
          </a:prstGeom>
          <a:solidFill>
            <a:srgbClr val="111111"/>
          </a:solidFill>
          <a:ln w="7144">
            <a:solidFill>
              <a:srgbClr val="222222"/>
            </a:solidFill>
            <a:prstDash val="solid"/>
          </a:ln>
        </p:spPr>
        <p:txBody>
          <a:bodyPr wrap="square" rtlCol="0" anchor="ctr"/>
          <a:lstStyle/>
          <a:p>
            <a:pPr indent="0" marL="0">
              <a:buNone/>
            </a:pPr>
            <a:endParaRPr lang="en-US"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64344" y="1303734"/>
          <a:ext cx="8215313" cy="914400"/>
        </p:xfrm>
        <a:graphic>
          <a:graphicData uri="http://schemas.openxmlformats.org/drawingml/2006/table">
            <a:tbl>
              <a:tblPr/>
              <a:tblGrid>
                <a:gridCol w="2053828"/>
                <a:gridCol w="3080742"/>
                <a:gridCol w="3080742"/>
              </a:tblGrid>
              <a:tr h="0">
                <a:tc>
                  <a:txBody>
                    <a:bodyPr/>
                    <a:lstStyle/>
                    <a:p>
                      <a:pPr algn="l" indent="0" marL="0">
                        <a:buNone/>
                      </a:pPr>
                      <a:r>
                        <a:rPr lang="en-US" sz="800" b="1" dirty="0">
                          <a:solidFill>
                            <a:srgbClr val="666666"/>
                          </a:solidFill>
                          <a:latin typeface="Carlito" pitchFamily="34" charset="0"/>
                          <a:ea typeface="Carlito" pitchFamily="34" charset="-122"/>
                          <a:cs typeface="Carlito" pitchFamily="34" charset="-120"/>
                        </a:rPr>
                        <a:t>FEATURE</a:t>
                      </a:r>
                      <a:endParaRPr lang="en-US" sz="800" dirty="0">
                        <a:latin typeface="Carlito" charset="0"/>
                        <a:ea typeface="Carlito" charset="0"/>
                        <a:cs typeface="Carlito" charset="0"/>
                      </a:endParaRPr>
                    </a:p>
                  </a:txBody>
                  <a:tcPr marL="114300" marR="142875" marT="142875" marB="114300"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00" b="1" dirty="0">
                          <a:solidFill>
                            <a:srgbClr val="C9A96E"/>
                          </a:solidFill>
                          <a:latin typeface="Carlito" pitchFamily="34" charset="0"/>
                          <a:ea typeface="Carlito" pitchFamily="34" charset="-122"/>
                          <a:cs typeface="Carlito" pitchFamily="34" charset="-120"/>
                        </a:rPr>
                        <a:t>★ RECONPRO</a:t>
                      </a:r>
                      <a:endParaRPr lang="en-US" sz="800" dirty="0">
                        <a:latin typeface="Carlito" charset="0"/>
                        <a:ea typeface="Carlito" charset="0"/>
                        <a:cs typeface="Carlito" charset="0"/>
                      </a:endParaRPr>
                    </a:p>
                  </a:txBody>
                  <a:tcPr marL="114300" marR="142875" marT="142875" marB="114300"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solidFill>
                      <a:srgbClr val="C9A96E">
                        <a:alpha val="15000"/>
                      </a:srgbClr>
                    </a:solidFill>
                  </a:tcPr>
                </a:tc>
                <a:tc>
                  <a:txBody>
                    <a:bodyPr/>
                    <a:lstStyle/>
                    <a:p>
                      <a:pPr algn="l" indent="0" marL="0">
                        <a:buNone/>
                      </a:pPr>
                      <a:r>
                        <a:rPr lang="en-US" sz="800" b="1" dirty="0">
                          <a:solidFill>
                            <a:srgbClr val="666666"/>
                          </a:solidFill>
                          <a:latin typeface="Carlito" pitchFamily="34" charset="0"/>
                          <a:ea typeface="Carlito" pitchFamily="34" charset="-122"/>
                          <a:cs typeface="Carlito" pitchFamily="34" charset="-120"/>
                        </a:rPr>
                        <a:t>LEGACY TOOLS</a:t>
                      </a:r>
                      <a:endParaRPr lang="en-US" sz="800" dirty="0">
                        <a:latin typeface="Carlito" charset="0"/>
                        <a:ea typeface="Carlito" charset="0"/>
                        <a:cs typeface="Carlito" charset="0"/>
                      </a:endParaRPr>
                    </a:p>
                  </a:txBody>
                  <a:tcPr marL="114300" marR="142875" marT="142875" marB="114300"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Scanning Frequency</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✓Continuous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Point-in-time</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Scanner Modules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✓15 modules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3–5 modules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Real-Time Updates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✓SSE streaming</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Poll-based</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Compliance Reports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✓5 frameworks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Manual</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Deployment</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✓Cloud or Self-hosted</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Cloud only</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API Access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✓54 endpoints</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Limited REST</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r h="0">
                <a:tc>
                  <a:txBody>
                    <a:bodyPr/>
                    <a:lstStyle/>
                    <a:p>
                      <a:pPr algn="l" indent="0" marL="0">
                        <a:buNone/>
                      </a:pPr>
                      <a:r>
                        <a:rPr lang="en-US" sz="844" dirty="0">
                          <a:solidFill>
                            <a:srgbClr val="999999"/>
                          </a:solidFill>
                          <a:latin typeface="Carlito" pitchFamily="34" charset="0"/>
                          <a:ea typeface="Carlito" pitchFamily="34" charset="-122"/>
                          <a:cs typeface="Carlito" pitchFamily="34" charset="-120"/>
                        </a:rPr>
                        <a:t>Price</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FFFFFF"/>
                          </a:solidFill>
                          <a:latin typeface="Carlito" pitchFamily="34" charset="0"/>
                          <a:ea typeface="Carlito" pitchFamily="34" charset="-122"/>
                          <a:cs typeface="Carlito" pitchFamily="34" charset="-120"/>
                        </a:rPr>
                        <a:t>✓Fraction of cost</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c>
                  <a:txBody>
                    <a:bodyPr/>
                    <a:lstStyle/>
                    <a:p>
                      <a:pPr algn="l" indent="0" marL="0">
                        <a:buNone/>
                      </a:pPr>
                      <a:r>
                        <a:rPr lang="en-US" sz="844" dirty="0">
                          <a:solidFill>
                            <a:srgbClr val="666666"/>
                          </a:solidFill>
                          <a:latin typeface="Carlito" pitchFamily="34" charset="0"/>
                          <a:ea typeface="Carlito" pitchFamily="34" charset="-122"/>
                          <a:cs typeface="Carlito" pitchFamily="34" charset="-120"/>
                        </a:rPr>
                        <a:t>$50K+/year</a:t>
                      </a:r>
                      <a:endParaRPr lang="en-US" sz="844" dirty="0">
                        <a:latin typeface="Carlito" charset="0"/>
                        <a:ea typeface="Carlito" charset="0"/>
                        <a:cs typeface="Carlito" charset="0"/>
                      </a:endParaRPr>
                    </a:p>
                  </a:txBody>
                  <a:tcPr marL="128588" marR="142875" marT="142875" marB="128588" anchor="ctr">
                    <a:lnL w="6350" cap="flat" cmpd="sng" algn="ctr">
                      <a:solidFill>
                        <a:srgbClr val="222222"/>
                      </a:solidFill>
                      <a:prstDash val="solid"/>
                      <a:round/>
                      <a:headEnd type="none" w="med" len="med"/>
                      <a:tailEnd type="none" w="med" len="med"/>
                    </a:lnL>
                    <a:lnR w="6350" cap="flat" cmpd="sng" algn="ctr">
                      <a:solidFill>
                        <a:srgbClr val="222222"/>
                      </a:solidFill>
                      <a:prstDash val="solid"/>
                      <a:round/>
                      <a:headEnd type="none" w="med" len="med"/>
                      <a:tailEnd type="none" w="med" len="med"/>
                    </a:lnR>
                    <a:lnT w="6350" cap="flat" cmpd="sng" algn="ctr">
                      <a:solidFill>
                        <a:srgbClr val="222222"/>
                      </a:solidFill>
                      <a:prstDash val="solid"/>
                      <a:round/>
                      <a:headEnd type="none" w="med" len="med"/>
                      <a:tailEnd type="none" w="med" len="med"/>
                    </a:lnT>
                    <a:lnB w="6350" cap="flat" cmpd="sng" algn="ctr">
                      <a:solidFill>
                        <a:srgbClr val="222222"/>
                      </a:solidFill>
                      <a:prstDash val="solid"/>
                      <a:round/>
                      <a:headEnd type="none" w="med" len="med"/>
                      <a:tailEnd type="none" w="med" len="med"/>
                    </a:lnB>
                  </a:tcPr>
                </a:tc>
              </a:tr>
            </a:tbl>
          </a:graphicData>
        </a:graphic>
      </p:graphicFrame>
      <p:sp>
        <p:nvSpPr>
          <p:cNvPr id="6" name="Text 3"/>
          <p:cNvSpPr/>
          <p:nvPr/>
        </p:nvSpPr>
        <p:spPr>
          <a:xfrm>
            <a:off x="203925" y="4893469"/>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7" name="Text 4"/>
          <p:cNvSpPr/>
          <p:nvPr/>
        </p:nvSpPr>
        <p:spPr>
          <a:xfrm>
            <a:off x="8554083" y="4893469"/>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28625"/>
            <a:ext cx="8636000" cy="164592"/>
          </a:xfrm>
          <a:prstGeom prst="rect">
            <a:avLst/>
          </a:prstGeom>
          <a:noFill/>
          <a:ln/>
        </p:spPr>
        <p:txBody>
          <a:bodyPr wrap="none" lIns="0" tIns="0" rIns="0" bIns="0" rtlCol="0" anchor="t"/>
          <a:lstStyle/>
          <a:p>
            <a:pPr algn="l" indent="0" marL="0">
              <a:lnSpc>
                <a:spcPts val="1097"/>
              </a:lnSpc>
              <a:buNone/>
            </a:pPr>
            <a:r>
              <a:rPr lang="en-US" sz="800" spc="73" kern="0" dirty="0">
                <a:solidFill>
                  <a:srgbClr val="C9A96E"/>
                </a:solidFill>
                <a:latin typeface="Courier New" pitchFamily="34" charset="0"/>
                <a:ea typeface="Courier New" pitchFamily="34" charset="-122"/>
                <a:cs typeface="Courier New" pitchFamily="34" charset="-120"/>
              </a:rPr>
              <a:t>ROADMAP</a:t>
            </a:r>
            <a:endParaRPr lang="en-US" sz="800" dirty="0"/>
          </a:p>
        </p:txBody>
      </p:sp>
      <p:sp>
        <p:nvSpPr>
          <p:cNvPr id="3" name="Text 1"/>
          <p:cNvSpPr/>
          <p:nvPr/>
        </p:nvSpPr>
        <p:spPr>
          <a:xfrm>
            <a:off x="457200" y="653653"/>
            <a:ext cx="8636000" cy="415481"/>
          </a:xfrm>
          <a:prstGeom prst="rect">
            <a:avLst/>
          </a:prstGeom>
          <a:noFill/>
          <a:ln/>
        </p:spPr>
        <p:txBody>
          <a:bodyPr wrap="none" lIns="0" tIns="0" rIns="0" bIns="0" rtlCol="0" anchor="t">
            <a:normAutofit/>
          </a:bodyPr>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From strength to strength</a:t>
            </a:r>
            <a:endParaRPr lang="en-US" sz="2025" dirty="0"/>
          </a:p>
        </p:txBody>
      </p:sp>
      <p:sp>
        <p:nvSpPr>
          <p:cNvPr id="4" name="Text 2"/>
          <p:cNvSpPr/>
          <p:nvPr/>
        </p:nvSpPr>
        <p:spPr>
          <a:xfrm>
            <a:off x="457200" y="1096566"/>
            <a:ext cx="8229600" cy="185166"/>
          </a:xfrm>
          <a:prstGeom prst="rect">
            <a:avLst/>
          </a:prstGeom>
          <a:noFill/>
          <a:ln/>
        </p:spPr>
        <p:txBody>
          <a:bodyPr wrap="square" lIns="0" tIns="0" rIns="0" bIns="0" rtlCol="0" anchor="t"/>
          <a:lstStyle/>
          <a:p>
            <a:pPr algn="l" indent="0" marL="0">
              <a:lnSpc>
                <a:spcPts val="1350"/>
              </a:lnSpc>
              <a:buNone/>
            </a:pPr>
            <a:r>
              <a:rPr lang="en-US" sz="900" dirty="0">
                <a:solidFill>
                  <a:srgbClr val="999999"/>
                </a:solidFill>
                <a:latin typeface="Carlito" pitchFamily="34" charset="0"/>
                <a:ea typeface="Carlito" pitchFamily="34" charset="-122"/>
                <a:cs typeface="Carlito" pitchFamily="34" charset="-120"/>
              </a:rPr>
              <a:t>A clear, achievable product evolution with regular releases.</a:t>
            </a:r>
            <a:endParaRPr lang="en-US" sz="900" dirty="0"/>
          </a:p>
        </p:txBody>
      </p:sp>
      <p:pic>
        <p:nvPicPr>
          <p:cNvPr id="5" name="Image 0" descr="preencoded.png">    </p:cNvPr>
          <p:cNvPicPr>
            <a:picLocks noChangeAspect="1"/>
          </p:cNvPicPr>
          <p:nvPr/>
        </p:nvPicPr>
        <p:blipFill>
          <a:blip r:embed="rId1"/>
          <a:stretch>
            <a:fillRect/>
          </a:stretch>
        </p:blipFill>
        <p:spPr>
          <a:xfrm>
            <a:off x="457200" y="2153841"/>
            <a:ext cx="8229600" cy="14288"/>
          </a:xfrm>
          <a:prstGeom prst="rect">
            <a:avLst/>
          </a:prstGeom>
        </p:spPr>
      </p:pic>
      <p:sp>
        <p:nvSpPr>
          <p:cNvPr id="6" name="Shape 3"/>
          <p:cNvSpPr/>
          <p:nvPr/>
        </p:nvSpPr>
        <p:spPr>
          <a:xfrm>
            <a:off x="414338" y="1732359"/>
            <a:ext cx="2132409" cy="0"/>
          </a:xfrm>
          <a:prstGeom prst="line">
            <a:avLst/>
          </a:prstGeom>
          <a:noFill/>
          <a:ln w="14288">
            <a:solidFill>
              <a:srgbClr val="00FF88"/>
            </a:solidFill>
            <a:prstDash val="solid"/>
          </a:ln>
        </p:spPr>
      </p:sp>
      <p:sp>
        <p:nvSpPr>
          <p:cNvPr id="7" name="Shape 4"/>
          <p:cNvSpPr/>
          <p:nvPr/>
        </p:nvSpPr>
        <p:spPr>
          <a:xfrm>
            <a:off x="2543175" y="1725216"/>
            <a:ext cx="0" cy="1597856"/>
          </a:xfrm>
          <a:prstGeom prst="line">
            <a:avLst/>
          </a:prstGeom>
          <a:noFill/>
          <a:ln w="7144">
            <a:solidFill>
              <a:srgbClr val="222222"/>
            </a:solidFill>
            <a:prstDash val="solid"/>
          </a:ln>
        </p:spPr>
      </p:sp>
      <p:sp>
        <p:nvSpPr>
          <p:cNvPr id="8" name="Shape 5"/>
          <p:cNvSpPr/>
          <p:nvPr/>
        </p:nvSpPr>
        <p:spPr>
          <a:xfrm>
            <a:off x="414338" y="3319500"/>
            <a:ext cx="2132409" cy="0"/>
          </a:xfrm>
          <a:prstGeom prst="line">
            <a:avLst/>
          </a:prstGeom>
          <a:noFill/>
          <a:ln w="7144">
            <a:solidFill>
              <a:srgbClr val="222222"/>
            </a:solidFill>
            <a:prstDash val="solid"/>
          </a:ln>
        </p:spPr>
      </p:sp>
      <p:sp>
        <p:nvSpPr>
          <p:cNvPr id="9" name="Shape 6"/>
          <p:cNvSpPr/>
          <p:nvPr/>
        </p:nvSpPr>
        <p:spPr>
          <a:xfrm>
            <a:off x="417909" y="1725216"/>
            <a:ext cx="0" cy="1597856"/>
          </a:xfrm>
          <a:prstGeom prst="line">
            <a:avLst/>
          </a:prstGeom>
          <a:noFill/>
          <a:ln w="7144">
            <a:solidFill>
              <a:srgbClr val="222222"/>
            </a:solidFill>
            <a:prstDash val="solid"/>
          </a:ln>
        </p:spPr>
      </p:sp>
      <p:sp>
        <p:nvSpPr>
          <p:cNvPr id="10" name="Shape 7"/>
          <p:cNvSpPr/>
          <p:nvPr/>
        </p:nvSpPr>
        <p:spPr>
          <a:xfrm>
            <a:off x="2461022" y="1732359"/>
            <a:ext cx="2132409" cy="0"/>
          </a:xfrm>
          <a:prstGeom prst="line">
            <a:avLst/>
          </a:prstGeom>
          <a:noFill/>
          <a:ln w="14288">
            <a:solidFill>
              <a:srgbClr val="C9A96E"/>
            </a:solidFill>
            <a:prstDash val="solid"/>
          </a:ln>
        </p:spPr>
      </p:sp>
      <p:sp>
        <p:nvSpPr>
          <p:cNvPr id="11" name="Shape 8"/>
          <p:cNvSpPr/>
          <p:nvPr/>
        </p:nvSpPr>
        <p:spPr>
          <a:xfrm>
            <a:off x="4589859" y="1725216"/>
            <a:ext cx="0" cy="1757809"/>
          </a:xfrm>
          <a:prstGeom prst="line">
            <a:avLst/>
          </a:prstGeom>
          <a:noFill/>
          <a:ln w="7144">
            <a:solidFill>
              <a:srgbClr val="222222"/>
            </a:solidFill>
            <a:prstDash val="solid"/>
          </a:ln>
        </p:spPr>
      </p:sp>
      <p:sp>
        <p:nvSpPr>
          <p:cNvPr id="12" name="Shape 9"/>
          <p:cNvSpPr/>
          <p:nvPr/>
        </p:nvSpPr>
        <p:spPr>
          <a:xfrm>
            <a:off x="2461022" y="3479453"/>
            <a:ext cx="2132409" cy="0"/>
          </a:xfrm>
          <a:prstGeom prst="line">
            <a:avLst/>
          </a:prstGeom>
          <a:noFill/>
          <a:ln w="7144">
            <a:solidFill>
              <a:srgbClr val="222222"/>
            </a:solidFill>
            <a:prstDash val="solid"/>
          </a:ln>
        </p:spPr>
      </p:sp>
      <p:sp>
        <p:nvSpPr>
          <p:cNvPr id="13" name="Shape 10"/>
          <p:cNvSpPr/>
          <p:nvPr/>
        </p:nvSpPr>
        <p:spPr>
          <a:xfrm>
            <a:off x="2464594" y="1725216"/>
            <a:ext cx="0" cy="1757809"/>
          </a:xfrm>
          <a:prstGeom prst="line">
            <a:avLst/>
          </a:prstGeom>
          <a:noFill/>
          <a:ln w="7144">
            <a:solidFill>
              <a:srgbClr val="222222"/>
            </a:solidFill>
            <a:prstDash val="solid"/>
          </a:ln>
        </p:spPr>
      </p:sp>
      <p:sp>
        <p:nvSpPr>
          <p:cNvPr id="14" name="Shape 11"/>
          <p:cNvSpPr/>
          <p:nvPr/>
        </p:nvSpPr>
        <p:spPr>
          <a:xfrm>
            <a:off x="4507706" y="1732359"/>
            <a:ext cx="2132409" cy="0"/>
          </a:xfrm>
          <a:prstGeom prst="line">
            <a:avLst/>
          </a:prstGeom>
          <a:noFill/>
          <a:ln w="14288">
            <a:solidFill>
              <a:srgbClr val="4FADDB"/>
            </a:solidFill>
            <a:prstDash val="solid"/>
          </a:ln>
        </p:spPr>
      </p:sp>
      <p:sp>
        <p:nvSpPr>
          <p:cNvPr id="15" name="Shape 12"/>
          <p:cNvSpPr/>
          <p:nvPr/>
        </p:nvSpPr>
        <p:spPr>
          <a:xfrm>
            <a:off x="6636544" y="1725216"/>
            <a:ext cx="0" cy="1597856"/>
          </a:xfrm>
          <a:prstGeom prst="line">
            <a:avLst/>
          </a:prstGeom>
          <a:noFill/>
          <a:ln w="7144">
            <a:solidFill>
              <a:srgbClr val="222222"/>
            </a:solidFill>
            <a:prstDash val="solid"/>
          </a:ln>
        </p:spPr>
      </p:sp>
      <p:sp>
        <p:nvSpPr>
          <p:cNvPr id="16" name="Shape 13"/>
          <p:cNvSpPr/>
          <p:nvPr/>
        </p:nvSpPr>
        <p:spPr>
          <a:xfrm>
            <a:off x="4507706" y="3319500"/>
            <a:ext cx="2132409" cy="0"/>
          </a:xfrm>
          <a:prstGeom prst="line">
            <a:avLst/>
          </a:prstGeom>
          <a:noFill/>
          <a:ln w="7144">
            <a:solidFill>
              <a:srgbClr val="222222"/>
            </a:solidFill>
            <a:prstDash val="solid"/>
          </a:ln>
        </p:spPr>
      </p:sp>
      <p:sp>
        <p:nvSpPr>
          <p:cNvPr id="17" name="Shape 14"/>
          <p:cNvSpPr/>
          <p:nvPr/>
        </p:nvSpPr>
        <p:spPr>
          <a:xfrm>
            <a:off x="4511278" y="1725216"/>
            <a:ext cx="0" cy="1597856"/>
          </a:xfrm>
          <a:prstGeom prst="line">
            <a:avLst/>
          </a:prstGeom>
          <a:noFill/>
          <a:ln w="7144">
            <a:solidFill>
              <a:srgbClr val="222222"/>
            </a:solidFill>
            <a:prstDash val="solid"/>
          </a:ln>
        </p:spPr>
      </p:sp>
      <p:sp>
        <p:nvSpPr>
          <p:cNvPr id="18" name="Shape 15"/>
          <p:cNvSpPr/>
          <p:nvPr/>
        </p:nvSpPr>
        <p:spPr>
          <a:xfrm>
            <a:off x="6554391" y="1732359"/>
            <a:ext cx="2132409" cy="0"/>
          </a:xfrm>
          <a:prstGeom prst="line">
            <a:avLst/>
          </a:prstGeom>
          <a:noFill/>
          <a:ln w="14288">
            <a:solidFill>
              <a:srgbClr val="444444"/>
            </a:solidFill>
            <a:prstDash val="solid"/>
          </a:ln>
        </p:spPr>
      </p:sp>
      <p:sp>
        <p:nvSpPr>
          <p:cNvPr id="19" name="Shape 16"/>
          <p:cNvSpPr/>
          <p:nvPr/>
        </p:nvSpPr>
        <p:spPr>
          <a:xfrm>
            <a:off x="8683228" y="1725216"/>
            <a:ext cx="0" cy="1597856"/>
          </a:xfrm>
          <a:prstGeom prst="line">
            <a:avLst/>
          </a:prstGeom>
          <a:noFill/>
          <a:ln w="7144">
            <a:solidFill>
              <a:srgbClr val="222222"/>
            </a:solidFill>
            <a:prstDash val="solid"/>
          </a:ln>
        </p:spPr>
      </p:sp>
      <p:sp>
        <p:nvSpPr>
          <p:cNvPr id="20" name="Shape 17"/>
          <p:cNvSpPr/>
          <p:nvPr/>
        </p:nvSpPr>
        <p:spPr>
          <a:xfrm>
            <a:off x="6554391" y="3319500"/>
            <a:ext cx="2132409" cy="0"/>
          </a:xfrm>
          <a:prstGeom prst="line">
            <a:avLst/>
          </a:prstGeom>
          <a:noFill/>
          <a:ln w="7144">
            <a:solidFill>
              <a:srgbClr val="222222"/>
            </a:solidFill>
            <a:prstDash val="solid"/>
          </a:ln>
        </p:spPr>
      </p:sp>
      <p:sp>
        <p:nvSpPr>
          <p:cNvPr id="21" name="Shape 18"/>
          <p:cNvSpPr/>
          <p:nvPr/>
        </p:nvSpPr>
        <p:spPr>
          <a:xfrm>
            <a:off x="6557963" y="1725216"/>
            <a:ext cx="0" cy="1597856"/>
          </a:xfrm>
          <a:prstGeom prst="line">
            <a:avLst/>
          </a:prstGeom>
          <a:noFill/>
          <a:ln w="7144">
            <a:solidFill>
              <a:srgbClr val="222222"/>
            </a:solidFill>
            <a:prstDash val="solid"/>
          </a:ln>
        </p:spPr>
      </p:sp>
      <p:sp>
        <p:nvSpPr>
          <p:cNvPr id="22" name="Text 19"/>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23" name="Text 20"/>
          <p:cNvSpPr/>
          <p:nvPr/>
        </p:nvSpPr>
        <p:spPr>
          <a:xfrm>
            <a:off x="8554083" y="4843463"/>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11 / 12</a:t>
            </a:r>
            <a:endParaRPr lang="en-US" sz="800" dirty="0"/>
          </a:p>
        </p:txBody>
      </p:sp>
      <p:sp>
        <p:nvSpPr>
          <p:cNvPr id="24" name="Text 21"/>
          <p:cNvSpPr/>
          <p:nvPr/>
        </p:nvSpPr>
        <p:spPr>
          <a:xfrm>
            <a:off x="414338" y="1725216"/>
            <a:ext cx="2132409" cy="1597856"/>
          </a:xfrm>
          <a:prstGeom prst="roundRect">
            <a:avLst>
              <a:gd name="adj" fmla="val 7153"/>
            </a:avLst>
          </a:prstGeom>
          <a:solidFill>
            <a:srgbClr val="111111"/>
          </a:solidFill>
          <a:ln/>
        </p:spPr>
        <p:txBody>
          <a:bodyPr wrap="square" rtlCol="0" anchor="ctr"/>
          <a:lstStyle/>
          <a:p>
            <a:pPr indent="0" marL="0">
              <a:buNone/>
            </a:pPr>
            <a:endParaRPr lang="en-US" dirty="0"/>
          </a:p>
        </p:txBody>
      </p:sp>
      <p:sp>
        <p:nvSpPr>
          <p:cNvPr id="25" name="Text 22"/>
          <p:cNvSpPr/>
          <p:nvPr/>
        </p:nvSpPr>
        <p:spPr>
          <a:xfrm>
            <a:off x="564356" y="1910953"/>
            <a:ext cx="1832372" cy="144018"/>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Q3 2026</a:t>
            </a:r>
            <a:endParaRPr lang="en-US" sz="800" dirty="0"/>
          </a:p>
        </p:txBody>
      </p:sp>
      <p:sp>
        <p:nvSpPr>
          <p:cNvPr id="26" name="Text 23"/>
          <p:cNvSpPr/>
          <p:nvPr/>
        </p:nvSpPr>
        <p:spPr>
          <a:xfrm>
            <a:off x="564356" y="2082403"/>
            <a:ext cx="1832372"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v0.2.0 — Current</a:t>
            </a:r>
            <a:endParaRPr lang="en-US" sz="1013" dirty="0"/>
          </a:p>
        </p:txBody>
      </p:sp>
      <p:sp>
        <p:nvSpPr>
          <p:cNvPr id="27" name="Text 24"/>
          <p:cNvSpPr/>
          <p:nvPr/>
        </p:nvSpPr>
        <p:spPr>
          <a:xfrm>
            <a:off x="564356" y="2375297"/>
            <a:ext cx="1832372" cy="526474"/>
          </a:xfrm>
          <a:prstGeom prst="rect">
            <a:avLst/>
          </a:prstGeom>
          <a:noFill/>
          <a:ln/>
        </p:spPr>
        <p:txBody>
          <a:bodyPr wrap="square" lIns="0" tIns="0" rIns="0" bIns="0" rtlCol="0" anchor="t"/>
          <a:lstStyle/>
          <a:p>
            <a:pPr algn="l" indent="0" marL="0">
              <a:lnSpc>
                <a:spcPts val="1260"/>
              </a:lnSpc>
              <a:buNone/>
            </a:pPr>
            <a:r>
              <a:rPr lang="en-US" sz="800" dirty="0">
                <a:solidFill>
                  <a:srgbClr val="999999"/>
                </a:solidFill>
                <a:latin typeface="Carlito" pitchFamily="34" charset="0"/>
                <a:ea typeface="Carlito" pitchFamily="34" charset="-122"/>
                <a:cs typeface="Carlito" pitchFamily="34" charset="-120"/>
              </a:rPr>
              <a:t>Production launch, 15 scanner modules, team management, compliance engine, enterprise security architecture</a:t>
            </a:r>
            <a:endParaRPr lang="en-US" sz="800" dirty="0"/>
          </a:p>
        </p:txBody>
      </p:sp>
      <p:sp>
        <p:nvSpPr>
          <p:cNvPr id="28" name="Text 25"/>
          <p:cNvSpPr/>
          <p:nvPr/>
        </p:nvSpPr>
        <p:spPr>
          <a:xfrm>
            <a:off x="541938" y="2958955"/>
            <a:ext cx="605285" cy="196025"/>
          </a:xfrm>
          <a:prstGeom prst="roundRect">
            <a:avLst>
              <a:gd name="adj" fmla="val 4854215"/>
            </a:avLst>
          </a:prstGeom>
          <a:solidFill>
            <a:srgbClr val="00FF88">
              <a:alpha val="13000"/>
            </a:srgbClr>
          </a:solidFill>
          <a:ln/>
        </p:spPr>
        <p:txBody>
          <a:bodyPr wrap="square" rtlCol="0" anchor="ctr"/>
          <a:lstStyle/>
          <a:p>
            <a:pPr indent="0" marL="0">
              <a:buNone/>
            </a:pPr>
            <a:endParaRPr lang="en-US" dirty="0"/>
          </a:p>
        </p:txBody>
      </p:sp>
      <p:sp>
        <p:nvSpPr>
          <p:cNvPr id="29" name="Text 26"/>
          <p:cNvSpPr/>
          <p:nvPr/>
        </p:nvSpPr>
        <p:spPr>
          <a:xfrm>
            <a:off x="564356" y="2969456"/>
            <a:ext cx="560450" cy="175022"/>
          </a:xfrm>
          <a:prstGeom prst="rect">
            <a:avLst/>
          </a:prstGeom>
          <a:noFill/>
          <a:ln/>
        </p:spPr>
        <p:txBody>
          <a:bodyPr wrap="none" lIns="0" tIns="0" rIns="0" bIns="0" rtlCol="0" anchor="ctr"/>
          <a:lstStyle/>
          <a:p>
            <a:pPr algn="ctr" indent="0" marL="0">
              <a:lnSpc>
                <a:spcPts val="928"/>
              </a:lnSpc>
              <a:buNone/>
            </a:pPr>
            <a:r>
              <a:rPr lang="en-US" sz="800" spc="50" kern="0" dirty="0">
                <a:solidFill>
                  <a:srgbClr val="00FF88"/>
                </a:solidFill>
                <a:latin typeface="Carlito" pitchFamily="34" charset="0"/>
                <a:ea typeface="Carlito" pitchFamily="34" charset="-122"/>
                <a:cs typeface="Carlito" pitchFamily="34" charset="-120"/>
              </a:rPr>
              <a:t>SHIPPED</a:t>
            </a:r>
            <a:endParaRPr lang="en-US" sz="800" dirty="0"/>
          </a:p>
        </p:txBody>
      </p:sp>
      <p:sp>
        <p:nvSpPr>
          <p:cNvPr id="30" name="Text 27"/>
          <p:cNvSpPr/>
          <p:nvPr/>
        </p:nvSpPr>
        <p:spPr>
          <a:xfrm>
            <a:off x="2461022" y="1725216"/>
            <a:ext cx="2132409" cy="1757809"/>
          </a:xfrm>
          <a:prstGeom prst="roundRect">
            <a:avLst>
              <a:gd name="adj" fmla="val 6502"/>
            </a:avLst>
          </a:prstGeom>
          <a:solidFill>
            <a:srgbClr val="111111"/>
          </a:solidFill>
          <a:ln/>
        </p:spPr>
        <p:txBody>
          <a:bodyPr wrap="square" rtlCol="0" anchor="ctr"/>
          <a:lstStyle/>
          <a:p>
            <a:pPr indent="0" marL="0">
              <a:buNone/>
            </a:pPr>
            <a:endParaRPr lang="en-US" dirty="0"/>
          </a:p>
        </p:txBody>
      </p:sp>
      <p:sp>
        <p:nvSpPr>
          <p:cNvPr id="31" name="Text 28"/>
          <p:cNvSpPr/>
          <p:nvPr/>
        </p:nvSpPr>
        <p:spPr>
          <a:xfrm>
            <a:off x="2611041" y="1910953"/>
            <a:ext cx="1832372" cy="144018"/>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Q4 2026</a:t>
            </a:r>
            <a:endParaRPr lang="en-US" sz="800" dirty="0"/>
          </a:p>
        </p:txBody>
      </p:sp>
      <p:sp>
        <p:nvSpPr>
          <p:cNvPr id="32" name="Text 29"/>
          <p:cNvSpPr/>
          <p:nvPr/>
        </p:nvSpPr>
        <p:spPr>
          <a:xfrm>
            <a:off x="2611041" y="2082403"/>
            <a:ext cx="1832372"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v0.3.0</a:t>
            </a:r>
            <a:endParaRPr lang="en-US" sz="1013" dirty="0"/>
          </a:p>
        </p:txBody>
      </p:sp>
      <p:sp>
        <p:nvSpPr>
          <p:cNvPr id="33" name="Text 30"/>
          <p:cNvSpPr/>
          <p:nvPr/>
        </p:nvSpPr>
        <p:spPr>
          <a:xfrm>
            <a:off x="2611041" y="2375297"/>
            <a:ext cx="1832372" cy="701965"/>
          </a:xfrm>
          <a:prstGeom prst="rect">
            <a:avLst/>
          </a:prstGeom>
          <a:noFill/>
          <a:ln/>
        </p:spPr>
        <p:txBody>
          <a:bodyPr wrap="square" lIns="0" tIns="0" rIns="0" bIns="0" rtlCol="0" anchor="t"/>
          <a:lstStyle/>
          <a:p>
            <a:pPr algn="l" indent="0" marL="0">
              <a:lnSpc>
                <a:spcPts val="1260"/>
              </a:lnSpc>
              <a:buNone/>
            </a:pPr>
            <a:r>
              <a:rPr lang="en-US" sz="800" dirty="0">
                <a:solidFill>
                  <a:srgbClr val="999999"/>
                </a:solidFill>
                <a:latin typeface="Carlito" pitchFamily="34" charset="0"/>
                <a:ea typeface="Carlito" pitchFamily="34" charset="-122"/>
                <a:cs typeface="Carlito" pitchFamily="34" charset="-120"/>
              </a:rPr>
              <a:t>MFA support, email verification, enhanced scanning (WAF fingerprint, JS analysis), API pagination, advanced reporting</a:t>
            </a:r>
            <a:endParaRPr lang="en-US" sz="800" dirty="0"/>
          </a:p>
        </p:txBody>
      </p:sp>
      <p:sp>
        <p:nvSpPr>
          <p:cNvPr id="34" name="Text 31"/>
          <p:cNvSpPr/>
          <p:nvPr/>
        </p:nvSpPr>
        <p:spPr>
          <a:xfrm>
            <a:off x="2588181" y="3118908"/>
            <a:ext cx="832202" cy="196025"/>
          </a:xfrm>
          <a:prstGeom prst="roundRect">
            <a:avLst>
              <a:gd name="adj" fmla="val 4854215"/>
            </a:avLst>
          </a:prstGeom>
          <a:solidFill>
            <a:srgbClr val="C9A96E">
              <a:alpha val="20000"/>
            </a:srgbClr>
          </a:solidFill>
          <a:ln/>
        </p:spPr>
        <p:txBody>
          <a:bodyPr wrap="square" rtlCol="0" anchor="ctr"/>
          <a:lstStyle/>
          <a:p>
            <a:pPr indent="0" marL="0">
              <a:buNone/>
            </a:pPr>
            <a:endParaRPr lang="en-US" dirty="0"/>
          </a:p>
        </p:txBody>
      </p:sp>
      <p:sp>
        <p:nvSpPr>
          <p:cNvPr id="35" name="Text 32"/>
          <p:cNvSpPr/>
          <p:nvPr/>
        </p:nvSpPr>
        <p:spPr>
          <a:xfrm>
            <a:off x="2598065" y="3129409"/>
            <a:ext cx="812434" cy="175022"/>
          </a:xfrm>
          <a:prstGeom prst="rect">
            <a:avLst/>
          </a:prstGeom>
          <a:noFill/>
          <a:ln/>
        </p:spPr>
        <p:txBody>
          <a:bodyPr wrap="none" lIns="0" tIns="0" rIns="0" bIns="0" rtlCol="0" anchor="ctr"/>
          <a:lstStyle/>
          <a:p>
            <a:pPr algn="ctr" indent="0" marL="0">
              <a:lnSpc>
                <a:spcPts val="928"/>
              </a:lnSpc>
              <a:buNone/>
            </a:pPr>
            <a:r>
              <a:rPr lang="en-US" sz="800" spc="50" kern="0" dirty="0">
                <a:solidFill>
                  <a:srgbClr val="C9A96E"/>
                </a:solidFill>
                <a:latin typeface="Carlito" pitchFamily="34" charset="0"/>
                <a:ea typeface="Carlito" pitchFamily="34" charset="-122"/>
                <a:cs typeface="Carlito" pitchFamily="34" charset="-120"/>
              </a:rPr>
              <a:t>IN PROGRESS</a:t>
            </a:r>
            <a:endParaRPr lang="en-US" sz="800" dirty="0"/>
          </a:p>
        </p:txBody>
      </p:sp>
      <p:sp>
        <p:nvSpPr>
          <p:cNvPr id="36" name="Text 33"/>
          <p:cNvSpPr/>
          <p:nvPr/>
        </p:nvSpPr>
        <p:spPr>
          <a:xfrm>
            <a:off x="4507706" y="1725216"/>
            <a:ext cx="2132409" cy="1597856"/>
          </a:xfrm>
          <a:prstGeom prst="roundRect">
            <a:avLst>
              <a:gd name="adj" fmla="val 7153"/>
            </a:avLst>
          </a:prstGeom>
          <a:solidFill>
            <a:srgbClr val="111111"/>
          </a:solidFill>
          <a:ln/>
        </p:spPr>
        <p:txBody>
          <a:bodyPr wrap="square" rtlCol="0" anchor="ctr"/>
          <a:lstStyle/>
          <a:p>
            <a:pPr indent="0" marL="0">
              <a:buNone/>
            </a:pPr>
            <a:endParaRPr lang="en-US" dirty="0"/>
          </a:p>
        </p:txBody>
      </p:sp>
      <p:sp>
        <p:nvSpPr>
          <p:cNvPr id="37" name="Text 34"/>
          <p:cNvSpPr/>
          <p:nvPr/>
        </p:nvSpPr>
        <p:spPr>
          <a:xfrm>
            <a:off x="4657725" y="1910953"/>
            <a:ext cx="1832372" cy="144018"/>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Q1 2027</a:t>
            </a:r>
            <a:endParaRPr lang="en-US" sz="800" dirty="0"/>
          </a:p>
        </p:txBody>
      </p:sp>
      <p:sp>
        <p:nvSpPr>
          <p:cNvPr id="38" name="Text 35"/>
          <p:cNvSpPr/>
          <p:nvPr/>
        </p:nvSpPr>
        <p:spPr>
          <a:xfrm>
            <a:off x="4657725" y="2082403"/>
            <a:ext cx="1832372"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v0.4.0</a:t>
            </a:r>
            <a:endParaRPr lang="en-US" sz="1013" dirty="0"/>
          </a:p>
        </p:txBody>
      </p:sp>
      <p:sp>
        <p:nvSpPr>
          <p:cNvPr id="39" name="Text 36"/>
          <p:cNvSpPr/>
          <p:nvPr/>
        </p:nvSpPr>
        <p:spPr>
          <a:xfrm>
            <a:off x="4657725" y="2375297"/>
            <a:ext cx="1832372" cy="526474"/>
          </a:xfrm>
          <a:prstGeom prst="rect">
            <a:avLst/>
          </a:prstGeom>
          <a:noFill/>
          <a:ln/>
        </p:spPr>
        <p:txBody>
          <a:bodyPr wrap="square" lIns="0" tIns="0" rIns="0" bIns="0" rtlCol="0" anchor="t"/>
          <a:lstStyle/>
          <a:p>
            <a:pPr algn="l" indent="0" marL="0">
              <a:lnSpc>
                <a:spcPts val="1260"/>
              </a:lnSpc>
              <a:buNone/>
            </a:pPr>
            <a:r>
              <a:rPr lang="en-US" sz="800" dirty="0">
                <a:solidFill>
                  <a:srgbClr val="999999"/>
                </a:solidFill>
                <a:latin typeface="Carlito" pitchFamily="34" charset="0"/>
                <a:ea typeface="Carlito" pitchFamily="34" charset="-122"/>
                <a:cs typeface="Carlito" pitchFamily="34" charset="-120"/>
              </a:rPr>
              <a:t>Network topology mapping, AI-powered triage, Jira/Splunk bidirectional sync, custom scanner plugins</a:t>
            </a:r>
            <a:endParaRPr lang="en-US" sz="800" dirty="0"/>
          </a:p>
        </p:txBody>
      </p:sp>
      <p:sp>
        <p:nvSpPr>
          <p:cNvPr id="40" name="Text 37"/>
          <p:cNvSpPr/>
          <p:nvPr/>
        </p:nvSpPr>
        <p:spPr>
          <a:xfrm>
            <a:off x="4634865" y="2958955"/>
            <a:ext cx="641107" cy="196025"/>
          </a:xfrm>
          <a:prstGeom prst="roundRect">
            <a:avLst>
              <a:gd name="adj" fmla="val 4854215"/>
            </a:avLst>
          </a:prstGeom>
          <a:solidFill>
            <a:srgbClr val="4FADDB">
              <a:alpha val="20000"/>
            </a:srgbClr>
          </a:solidFill>
          <a:ln/>
        </p:spPr>
        <p:txBody>
          <a:bodyPr wrap="square" rtlCol="0" anchor="ctr"/>
          <a:lstStyle/>
          <a:p>
            <a:pPr indent="0" marL="0">
              <a:buNone/>
            </a:pPr>
            <a:endParaRPr lang="en-US" dirty="0"/>
          </a:p>
        </p:txBody>
      </p:sp>
      <p:sp>
        <p:nvSpPr>
          <p:cNvPr id="41" name="Text 38"/>
          <p:cNvSpPr/>
          <p:nvPr/>
        </p:nvSpPr>
        <p:spPr>
          <a:xfrm>
            <a:off x="4657725" y="2969456"/>
            <a:ext cx="595387" cy="175022"/>
          </a:xfrm>
          <a:prstGeom prst="rect">
            <a:avLst/>
          </a:prstGeom>
          <a:noFill/>
          <a:ln/>
        </p:spPr>
        <p:txBody>
          <a:bodyPr wrap="none" lIns="0" tIns="0" rIns="0" bIns="0" rtlCol="0" anchor="ctr"/>
          <a:lstStyle/>
          <a:p>
            <a:pPr algn="ctr" indent="0" marL="0">
              <a:lnSpc>
                <a:spcPts val="928"/>
              </a:lnSpc>
              <a:buNone/>
            </a:pPr>
            <a:r>
              <a:rPr lang="en-US" sz="800" spc="50" kern="0" dirty="0">
                <a:solidFill>
                  <a:srgbClr val="4FADDB"/>
                </a:solidFill>
                <a:latin typeface="Carlito" pitchFamily="34" charset="0"/>
                <a:ea typeface="Carlito" pitchFamily="34" charset="-122"/>
                <a:cs typeface="Carlito" pitchFamily="34" charset="-120"/>
              </a:rPr>
              <a:t>PLANNED</a:t>
            </a:r>
            <a:endParaRPr lang="en-US" sz="800" dirty="0"/>
          </a:p>
        </p:txBody>
      </p:sp>
      <p:sp>
        <p:nvSpPr>
          <p:cNvPr id="42" name="Text 39"/>
          <p:cNvSpPr/>
          <p:nvPr/>
        </p:nvSpPr>
        <p:spPr>
          <a:xfrm>
            <a:off x="6554391" y="1725216"/>
            <a:ext cx="2132409" cy="1597856"/>
          </a:xfrm>
          <a:prstGeom prst="roundRect">
            <a:avLst>
              <a:gd name="adj" fmla="val 7153"/>
            </a:avLst>
          </a:prstGeom>
          <a:solidFill>
            <a:srgbClr val="111111"/>
          </a:solidFill>
          <a:ln/>
        </p:spPr>
        <p:txBody>
          <a:bodyPr wrap="square" rtlCol="0" anchor="ctr"/>
          <a:lstStyle/>
          <a:p>
            <a:pPr indent="0" marL="0">
              <a:buNone/>
            </a:pPr>
            <a:endParaRPr lang="en-US" dirty="0"/>
          </a:p>
        </p:txBody>
      </p:sp>
      <p:sp>
        <p:nvSpPr>
          <p:cNvPr id="43" name="Text 40"/>
          <p:cNvSpPr/>
          <p:nvPr/>
        </p:nvSpPr>
        <p:spPr>
          <a:xfrm>
            <a:off x="6704409" y="1910953"/>
            <a:ext cx="1832372" cy="144018"/>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Q2 2027</a:t>
            </a:r>
            <a:endParaRPr lang="en-US" sz="800" dirty="0"/>
          </a:p>
        </p:txBody>
      </p:sp>
      <p:sp>
        <p:nvSpPr>
          <p:cNvPr id="44" name="Text 41"/>
          <p:cNvSpPr/>
          <p:nvPr/>
        </p:nvSpPr>
        <p:spPr>
          <a:xfrm>
            <a:off x="6704409" y="2082403"/>
            <a:ext cx="1832372" cy="208312"/>
          </a:xfrm>
          <a:prstGeom prst="rect">
            <a:avLst/>
          </a:prstGeom>
          <a:noFill/>
          <a:ln/>
        </p:spPr>
        <p:txBody>
          <a:bodyPr wrap="none" lIns="0" tIns="0" rIns="0" bIns="0" rtlCol="0" anchor="t"/>
          <a:lstStyle/>
          <a:p>
            <a:pPr algn="l" indent="0" marL="0">
              <a:lnSpc>
                <a:spcPts val="1519"/>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v0.5.0</a:t>
            </a:r>
            <a:endParaRPr lang="en-US" sz="1013" dirty="0"/>
          </a:p>
        </p:txBody>
      </p:sp>
      <p:sp>
        <p:nvSpPr>
          <p:cNvPr id="45" name="Text 42"/>
          <p:cNvSpPr/>
          <p:nvPr/>
        </p:nvSpPr>
        <p:spPr>
          <a:xfrm>
            <a:off x="6704409" y="2375297"/>
            <a:ext cx="1832372" cy="526474"/>
          </a:xfrm>
          <a:prstGeom prst="rect">
            <a:avLst/>
          </a:prstGeom>
          <a:noFill/>
          <a:ln/>
        </p:spPr>
        <p:txBody>
          <a:bodyPr wrap="square" lIns="0" tIns="0" rIns="0" bIns="0" rtlCol="0" anchor="t"/>
          <a:lstStyle/>
          <a:p>
            <a:pPr algn="l" indent="0" marL="0">
              <a:lnSpc>
                <a:spcPts val="1260"/>
              </a:lnSpc>
              <a:buNone/>
            </a:pPr>
            <a:r>
              <a:rPr lang="en-US" sz="800" dirty="0">
                <a:solidFill>
                  <a:srgbClr val="999999"/>
                </a:solidFill>
                <a:latin typeface="Carlito" pitchFamily="34" charset="0"/>
                <a:ea typeface="Carlito" pitchFamily="34" charset="-122"/>
                <a:cs typeface="Carlito" pitchFamily="34" charset="-120"/>
              </a:rPr>
              <a:t>Multi-cloud scanning (AWS/GCP/Azure), attack path analysis, mobile companion app, RBAC v2</a:t>
            </a:r>
            <a:endParaRPr lang="en-US" sz="800" dirty="0"/>
          </a:p>
        </p:txBody>
      </p:sp>
      <p:sp>
        <p:nvSpPr>
          <p:cNvPr id="46" name="Text 43"/>
          <p:cNvSpPr/>
          <p:nvPr/>
        </p:nvSpPr>
        <p:spPr>
          <a:xfrm>
            <a:off x="6683295" y="2958955"/>
            <a:ext cx="570085" cy="196025"/>
          </a:xfrm>
          <a:prstGeom prst="roundRect">
            <a:avLst>
              <a:gd name="adj" fmla="val 4854215"/>
            </a:avLst>
          </a:prstGeom>
          <a:solidFill>
            <a:srgbClr val="222222"/>
          </a:solidFill>
          <a:ln/>
        </p:spPr>
        <p:txBody>
          <a:bodyPr wrap="square" rtlCol="0" anchor="ctr"/>
          <a:lstStyle/>
          <a:p>
            <a:pPr indent="0" marL="0">
              <a:buNone/>
            </a:pPr>
            <a:endParaRPr lang="en-US" dirty="0"/>
          </a:p>
        </p:txBody>
      </p:sp>
      <p:sp>
        <p:nvSpPr>
          <p:cNvPr id="47" name="Text 44"/>
          <p:cNvSpPr/>
          <p:nvPr/>
        </p:nvSpPr>
        <p:spPr>
          <a:xfrm>
            <a:off x="6704409" y="2969456"/>
            <a:ext cx="527856" cy="175022"/>
          </a:xfrm>
          <a:prstGeom prst="rect">
            <a:avLst/>
          </a:prstGeom>
          <a:noFill/>
          <a:ln/>
        </p:spPr>
        <p:txBody>
          <a:bodyPr wrap="none" lIns="0" tIns="0" rIns="0" bIns="0" rtlCol="0" anchor="ctr"/>
          <a:lstStyle/>
          <a:p>
            <a:pPr algn="ctr" indent="0" marL="0">
              <a:lnSpc>
                <a:spcPts val="928"/>
              </a:lnSpc>
              <a:buNone/>
            </a:pPr>
            <a:r>
              <a:rPr lang="en-US" sz="800" spc="50" kern="0" dirty="0">
                <a:solidFill>
                  <a:srgbClr val="666666"/>
                </a:solidFill>
                <a:latin typeface="Carlito" pitchFamily="34" charset="0"/>
                <a:ea typeface="Carlito" pitchFamily="34" charset="-122"/>
                <a:cs typeface="Carlito" pitchFamily="34" charset="-120"/>
              </a:rPr>
              <a:t>FUTURE</a:t>
            </a:r>
            <a:endParaRPr lang="en-US" sz="800" dirty="0"/>
          </a:p>
        </p:txBody>
      </p:sp>
      <p:sp>
        <p:nvSpPr>
          <p:cNvPr id="48" name="Text 45"/>
          <p:cNvSpPr/>
          <p:nvPr/>
        </p:nvSpPr>
        <p:spPr>
          <a:xfrm>
            <a:off x="1437680" y="1696641"/>
            <a:ext cx="85725" cy="85725"/>
          </a:xfrm>
          <a:prstGeom prst="ellipse">
            <a:avLst/>
          </a:prstGeom>
          <a:solidFill>
            <a:srgbClr val="C9A96E"/>
          </a:solidFill>
          <a:ln w="14288">
            <a:solidFill>
              <a:srgbClr val="C9A96E"/>
            </a:solidFill>
            <a:prstDash val="solid"/>
          </a:ln>
        </p:spPr>
        <p:txBody>
          <a:bodyPr wrap="square" rtlCol="0" anchor="ctr"/>
          <a:lstStyle/>
          <a:p>
            <a:pPr indent="0" marL="0">
              <a:buNone/>
            </a:pPr>
            <a:endParaRPr lang="en-US" dirty="0"/>
          </a:p>
        </p:txBody>
      </p:sp>
      <p:sp>
        <p:nvSpPr>
          <p:cNvPr id="49" name="Text 46"/>
          <p:cNvSpPr/>
          <p:nvPr/>
        </p:nvSpPr>
        <p:spPr>
          <a:xfrm>
            <a:off x="3484364" y="1696641"/>
            <a:ext cx="85725" cy="85725"/>
          </a:xfrm>
          <a:prstGeom prst="ellipse">
            <a:avLst/>
          </a:prstGeom>
          <a:solidFill>
            <a:srgbClr val="C9A96E"/>
          </a:solidFill>
          <a:ln w="14288">
            <a:solidFill>
              <a:srgbClr val="C9A96E"/>
            </a:solidFill>
            <a:prstDash val="solid"/>
          </a:ln>
        </p:spPr>
        <p:txBody>
          <a:bodyPr wrap="square" rtlCol="0" anchor="ctr"/>
          <a:lstStyle/>
          <a:p>
            <a:pPr indent="0" marL="0">
              <a:buNone/>
            </a:pPr>
            <a:endParaRPr lang="en-US" dirty="0"/>
          </a:p>
        </p:txBody>
      </p:sp>
      <p:sp>
        <p:nvSpPr>
          <p:cNvPr id="50" name="Text 47"/>
          <p:cNvSpPr/>
          <p:nvPr/>
        </p:nvSpPr>
        <p:spPr>
          <a:xfrm>
            <a:off x="5531048" y="1696641"/>
            <a:ext cx="85725" cy="85725"/>
          </a:xfrm>
          <a:prstGeom prst="ellipse">
            <a:avLst/>
          </a:prstGeom>
          <a:solidFill>
            <a:srgbClr val="000000"/>
          </a:solidFill>
          <a:ln w="14288">
            <a:solidFill>
              <a:srgbClr val="C9A96E"/>
            </a:solidFill>
            <a:prstDash val="solid"/>
          </a:ln>
        </p:spPr>
        <p:txBody>
          <a:bodyPr wrap="square" rtlCol="0" anchor="ctr"/>
          <a:lstStyle/>
          <a:p>
            <a:pPr indent="0" marL="0">
              <a:buNone/>
            </a:pPr>
            <a:endParaRPr lang="en-US" dirty="0"/>
          </a:p>
        </p:txBody>
      </p:sp>
      <p:sp>
        <p:nvSpPr>
          <p:cNvPr id="51" name="Text 48"/>
          <p:cNvSpPr/>
          <p:nvPr/>
        </p:nvSpPr>
        <p:spPr>
          <a:xfrm>
            <a:off x="7577733" y="1696641"/>
            <a:ext cx="85725" cy="85725"/>
          </a:xfrm>
          <a:prstGeom prst="ellipse">
            <a:avLst/>
          </a:prstGeom>
          <a:solidFill>
            <a:srgbClr val="000000"/>
          </a:solidFill>
          <a:ln w="14288">
            <a:solidFill>
              <a:srgbClr val="C9A96E"/>
            </a:solidFill>
            <a:prstDash val="solid"/>
          </a:ln>
        </p:spPr>
        <p:txBody>
          <a:bodyPr wrap="square" rtlCol="0" anchor="ct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28625"/>
            <a:ext cx="8636000" cy="164592"/>
          </a:xfrm>
          <a:prstGeom prst="rect">
            <a:avLst/>
          </a:prstGeom>
          <a:noFill/>
          <a:ln/>
        </p:spPr>
        <p:txBody>
          <a:bodyPr wrap="none" lIns="0" tIns="0" rIns="0" bIns="0" rtlCol="0" anchor="t"/>
          <a:lstStyle/>
          <a:p>
            <a:pPr algn="l" indent="0" marL="0">
              <a:lnSpc>
                <a:spcPts val="1097"/>
              </a:lnSpc>
              <a:buNone/>
            </a:pPr>
            <a:r>
              <a:rPr lang="en-US" sz="800" spc="73" kern="0" dirty="0">
                <a:solidFill>
                  <a:srgbClr val="C9A96E"/>
                </a:solidFill>
                <a:latin typeface="Courier New" pitchFamily="34" charset="0"/>
                <a:ea typeface="Courier New" pitchFamily="34" charset="-122"/>
                <a:cs typeface="Courier New" pitchFamily="34" charset="-120"/>
              </a:rPr>
              <a:t>DEPLOYMENT</a:t>
            </a:r>
            <a:endParaRPr lang="en-US" sz="800" dirty="0"/>
          </a:p>
        </p:txBody>
      </p:sp>
      <p:sp>
        <p:nvSpPr>
          <p:cNvPr id="3" name="Text 1"/>
          <p:cNvSpPr/>
          <p:nvPr/>
        </p:nvSpPr>
        <p:spPr>
          <a:xfrm>
            <a:off x="457200" y="653653"/>
            <a:ext cx="8636000" cy="416624"/>
          </a:xfrm>
          <a:prstGeom prst="rect">
            <a:avLst/>
          </a:prstGeom>
          <a:noFill/>
          <a:ln/>
        </p:spPr>
        <p:txBody>
          <a:bodyPr wrap="square" lIns="0" tIns="0" rIns="0" bIns="0" rtlCol="0" anchor="t"/>
          <a:lstStyle/>
          <a:p>
            <a:pPr algn="l" indent="0" marL="0">
              <a:lnSpc>
                <a:spcPts val="3038"/>
              </a:lnSpc>
              <a:buNone/>
            </a:pPr>
            <a:r>
              <a:rPr lang="en-US" sz="2025" b="1" dirty="0">
                <a:solidFill>
                  <a:srgbClr val="FFFFFF"/>
                </a:solidFill>
                <a:latin typeface="Carlito" pitchFamily="34" charset="0"/>
                <a:ea typeface="Carlito" pitchFamily="34" charset="-122"/>
                <a:cs typeface="Carlito" pitchFamily="34" charset="-120"/>
              </a:rPr>
              <a:t>Deploy in minutes. Anywhere.</a:t>
            </a:r>
            <a:endParaRPr lang="en-US" sz="2025" dirty="0"/>
          </a:p>
        </p:txBody>
      </p:sp>
      <p:sp>
        <p:nvSpPr>
          <p:cNvPr id="4" name="Text 2"/>
          <p:cNvSpPr/>
          <p:nvPr/>
        </p:nvSpPr>
        <p:spPr>
          <a:xfrm>
            <a:off x="457200" y="1153716"/>
            <a:ext cx="5143500" cy="419517"/>
          </a:xfrm>
          <a:prstGeom prst="rect">
            <a:avLst/>
          </a:prstGeom>
          <a:noFill/>
          <a:ln/>
        </p:spPr>
        <p:txBody>
          <a:bodyPr wrap="square" lIns="0" tIns="0" rIns="0" bIns="0" rtlCol="0" anchor="t"/>
          <a:lstStyle/>
          <a:p>
            <a:pPr algn="l" indent="0" marL="0">
              <a:lnSpc>
                <a:spcPts val="1530"/>
              </a:lnSpc>
              <a:buNone/>
            </a:pPr>
            <a:r>
              <a:rPr lang="en-US" sz="900" dirty="0">
                <a:solidFill>
                  <a:srgbClr val="999999"/>
                </a:solidFill>
                <a:latin typeface="Carlito" pitchFamily="34" charset="0"/>
                <a:ea typeface="Carlito" pitchFamily="34" charset="-122"/>
                <a:cs typeface="Carlito" pitchFamily="34" charset="-120"/>
              </a:rPr>
              <a:t>ReconPro runs on any infrastructure — from a single Docker container to a full Kubernetes cluster. One command to deploy. Zero external dependencies required for the default SQLite configuration.</a:t>
            </a:r>
            <a:endParaRPr lang="en-US" sz="900" dirty="0"/>
          </a:p>
        </p:txBody>
      </p:sp>
      <p:sp>
        <p:nvSpPr>
          <p:cNvPr id="5" name="Text 3"/>
          <p:cNvSpPr/>
          <p:nvPr/>
        </p:nvSpPr>
        <p:spPr>
          <a:xfrm>
            <a:off x="457200" y="1770757"/>
            <a:ext cx="8636000" cy="164592"/>
          </a:xfrm>
          <a:prstGeom prst="rect">
            <a:avLst/>
          </a:prstGeom>
          <a:noFill/>
          <a:ln/>
        </p:spPr>
        <p:txBody>
          <a:bodyPr wrap="none" lIns="0" tIns="0" rIns="0" bIns="0" rtlCol="0" anchor="t"/>
          <a:lstStyle/>
          <a:p>
            <a:pPr algn="l" indent="0" marL="0">
              <a:lnSpc>
                <a:spcPts val="1097"/>
              </a:lnSpc>
              <a:buNone/>
            </a:pPr>
            <a:r>
              <a:rPr lang="en-US" sz="800" spc="59" kern="0" dirty="0">
                <a:solidFill>
                  <a:srgbClr val="666666"/>
                </a:solidFill>
                <a:latin typeface="Carlito" pitchFamily="34" charset="0"/>
                <a:ea typeface="Carlito" pitchFamily="34" charset="-122"/>
                <a:cs typeface="Carlito" pitchFamily="34" charset="-120"/>
              </a:rPr>
              <a:t>DEPLOYMENT TARGETS</a:t>
            </a:r>
            <a:endParaRPr lang="en-US" sz="800" dirty="0"/>
          </a:p>
        </p:txBody>
      </p:sp>
      <p:sp>
        <p:nvSpPr>
          <p:cNvPr id="6" name="Text 4"/>
          <p:cNvSpPr/>
          <p:nvPr/>
        </p:nvSpPr>
        <p:spPr>
          <a:xfrm>
            <a:off x="460772"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7" name="Text 5"/>
          <p:cNvSpPr/>
          <p:nvPr/>
        </p:nvSpPr>
        <p:spPr>
          <a:xfrm>
            <a:off x="1021556"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550069"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Docker</a:t>
            </a:r>
            <a:endParaRPr lang="en-US" sz="800" dirty="0"/>
          </a:p>
        </p:txBody>
      </p:sp>
      <p:sp>
        <p:nvSpPr>
          <p:cNvPr id="9" name="Text 7"/>
          <p:cNvSpPr/>
          <p:nvPr/>
        </p:nvSpPr>
        <p:spPr>
          <a:xfrm>
            <a:off x="1846659"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10" name="Text 8"/>
          <p:cNvSpPr/>
          <p:nvPr/>
        </p:nvSpPr>
        <p:spPr>
          <a:xfrm>
            <a:off x="2407444"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11" name="Text 9"/>
          <p:cNvSpPr/>
          <p:nvPr/>
        </p:nvSpPr>
        <p:spPr>
          <a:xfrm>
            <a:off x="1935956"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Railway</a:t>
            </a:r>
            <a:endParaRPr lang="en-US" sz="800" dirty="0"/>
          </a:p>
        </p:txBody>
      </p:sp>
      <p:sp>
        <p:nvSpPr>
          <p:cNvPr id="12" name="Text 10"/>
          <p:cNvSpPr/>
          <p:nvPr/>
        </p:nvSpPr>
        <p:spPr>
          <a:xfrm>
            <a:off x="3232547"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13" name="Text 11"/>
          <p:cNvSpPr/>
          <p:nvPr/>
        </p:nvSpPr>
        <p:spPr>
          <a:xfrm>
            <a:off x="3793331"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3321844"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Render</a:t>
            </a:r>
            <a:endParaRPr lang="en-US" sz="800" dirty="0"/>
          </a:p>
        </p:txBody>
      </p:sp>
      <p:sp>
        <p:nvSpPr>
          <p:cNvPr id="15" name="Text 13"/>
          <p:cNvSpPr/>
          <p:nvPr/>
        </p:nvSpPr>
        <p:spPr>
          <a:xfrm>
            <a:off x="4618434"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16" name="Text 14"/>
          <p:cNvSpPr/>
          <p:nvPr/>
        </p:nvSpPr>
        <p:spPr>
          <a:xfrm>
            <a:off x="5179219"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4707731"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Fly.io</a:t>
            </a:r>
            <a:endParaRPr lang="en-US" sz="800" dirty="0"/>
          </a:p>
        </p:txBody>
      </p:sp>
      <p:sp>
        <p:nvSpPr>
          <p:cNvPr id="18" name="Text 16"/>
          <p:cNvSpPr/>
          <p:nvPr/>
        </p:nvSpPr>
        <p:spPr>
          <a:xfrm>
            <a:off x="6004322"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19" name="Text 17"/>
          <p:cNvSpPr/>
          <p:nvPr/>
        </p:nvSpPr>
        <p:spPr>
          <a:xfrm>
            <a:off x="6565106"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6093619"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Liberation Sans Narrow" pitchFamily="34" charset="0"/>
                <a:ea typeface="Liberation Sans Narrow" pitchFamily="34" charset="-122"/>
                <a:cs typeface="Liberation Sans Narrow" pitchFamily="34" charset="-120"/>
              </a:rPr>
              <a:t>AWS EC2</a:t>
            </a:r>
            <a:endParaRPr lang="en-US" sz="800" dirty="0"/>
          </a:p>
        </p:txBody>
      </p:sp>
      <p:sp>
        <p:nvSpPr>
          <p:cNvPr id="21" name="Text 19"/>
          <p:cNvSpPr/>
          <p:nvPr/>
        </p:nvSpPr>
        <p:spPr>
          <a:xfrm>
            <a:off x="7390209" y="19993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22" name="Text 20"/>
          <p:cNvSpPr/>
          <p:nvPr/>
        </p:nvSpPr>
        <p:spPr>
          <a:xfrm>
            <a:off x="7950994" y="21172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23" name="Text 21"/>
          <p:cNvSpPr/>
          <p:nvPr/>
        </p:nvSpPr>
        <p:spPr>
          <a:xfrm>
            <a:off x="7479506" y="23458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Azure VM</a:t>
            </a:r>
            <a:endParaRPr lang="en-US" sz="800" dirty="0"/>
          </a:p>
        </p:txBody>
      </p:sp>
      <p:sp>
        <p:nvSpPr>
          <p:cNvPr id="24" name="Text 22"/>
          <p:cNvSpPr/>
          <p:nvPr/>
        </p:nvSpPr>
        <p:spPr>
          <a:xfrm>
            <a:off x="460772" y="26851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25" name="Text 23"/>
          <p:cNvSpPr/>
          <p:nvPr/>
        </p:nvSpPr>
        <p:spPr>
          <a:xfrm>
            <a:off x="1021556" y="28030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26" name="Text 24"/>
          <p:cNvSpPr/>
          <p:nvPr/>
        </p:nvSpPr>
        <p:spPr>
          <a:xfrm>
            <a:off x="550069" y="30316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GCP</a:t>
            </a:r>
            <a:endParaRPr lang="en-US" sz="800" dirty="0"/>
          </a:p>
        </p:txBody>
      </p:sp>
      <p:sp>
        <p:nvSpPr>
          <p:cNvPr id="27" name="Text 25"/>
          <p:cNvSpPr/>
          <p:nvPr/>
        </p:nvSpPr>
        <p:spPr>
          <a:xfrm>
            <a:off x="1846659" y="26851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28" name="Text 26"/>
          <p:cNvSpPr/>
          <p:nvPr/>
        </p:nvSpPr>
        <p:spPr>
          <a:xfrm>
            <a:off x="2407444" y="28030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1935956" y="30316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DigitalOcean</a:t>
            </a:r>
            <a:endParaRPr lang="en-US" sz="800" dirty="0"/>
          </a:p>
        </p:txBody>
      </p:sp>
      <p:sp>
        <p:nvSpPr>
          <p:cNvPr id="30" name="Text 28"/>
          <p:cNvSpPr/>
          <p:nvPr/>
        </p:nvSpPr>
        <p:spPr>
          <a:xfrm>
            <a:off x="3232547" y="26851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31" name="Text 29"/>
          <p:cNvSpPr/>
          <p:nvPr/>
        </p:nvSpPr>
        <p:spPr>
          <a:xfrm>
            <a:off x="3793331" y="28030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32" name="Text 30"/>
          <p:cNvSpPr/>
          <p:nvPr/>
        </p:nvSpPr>
        <p:spPr>
          <a:xfrm>
            <a:off x="3321844" y="30316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VPS (Ubuntu)</a:t>
            </a:r>
            <a:endParaRPr lang="en-US" sz="800" dirty="0"/>
          </a:p>
        </p:txBody>
      </p:sp>
      <p:sp>
        <p:nvSpPr>
          <p:cNvPr id="33" name="Text 31"/>
          <p:cNvSpPr/>
          <p:nvPr/>
        </p:nvSpPr>
        <p:spPr>
          <a:xfrm>
            <a:off x="4618434" y="26851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34" name="Text 32"/>
          <p:cNvSpPr/>
          <p:nvPr/>
        </p:nvSpPr>
        <p:spPr>
          <a:xfrm>
            <a:off x="5179219" y="28030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4707731" y="30316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Kubernetes</a:t>
            </a:r>
            <a:endParaRPr lang="en-US" sz="800" dirty="0"/>
          </a:p>
        </p:txBody>
      </p:sp>
      <p:sp>
        <p:nvSpPr>
          <p:cNvPr id="36" name="Text 34"/>
          <p:cNvSpPr/>
          <p:nvPr/>
        </p:nvSpPr>
        <p:spPr>
          <a:xfrm>
            <a:off x="6004322" y="2685157"/>
            <a:ext cx="1293019" cy="592931"/>
          </a:xfrm>
          <a:prstGeom prst="roundRect">
            <a:avLst>
              <a:gd name="adj" fmla="val 12851"/>
            </a:avLst>
          </a:prstGeom>
          <a:solidFill>
            <a:srgbClr val="111111"/>
          </a:solidFill>
          <a:ln w="7144">
            <a:solidFill>
              <a:srgbClr val="222222"/>
            </a:solidFill>
            <a:prstDash val="solid"/>
          </a:ln>
        </p:spPr>
        <p:txBody>
          <a:bodyPr wrap="square" rtlCol="0" anchor="ctr"/>
          <a:lstStyle/>
          <a:p>
            <a:pPr indent="0" marL="0">
              <a:buNone/>
            </a:pPr>
            <a:endParaRPr lang="en-US" dirty="0"/>
          </a:p>
        </p:txBody>
      </p:sp>
      <p:sp>
        <p:nvSpPr>
          <p:cNvPr id="37" name="Text 35"/>
          <p:cNvSpPr/>
          <p:nvPr/>
        </p:nvSpPr>
        <p:spPr>
          <a:xfrm>
            <a:off x="6565106" y="2803029"/>
            <a:ext cx="171450" cy="171450"/>
          </a:xfrm>
          <a:prstGeom prst="rect">
            <a:avLst/>
          </a:prstGeom>
          <a:noFill/>
          <a:ln/>
        </p:spPr>
        <p:txBody>
          <a:bodyPr wrap="none" lIns="0" tIns="0" rIns="0" bIns="0" rtlCol="0" anchor="ctr"/>
          <a:lstStyle/>
          <a:p>
            <a:pPr algn="ctr" indent="0" marL="0">
              <a:buNone/>
            </a:pPr>
            <a:r>
              <a:rPr lang="en-US" sz="1688" dirty="0">
                <a:solidFill>
                  <a:srgbClr val="C9A96E"/>
                </a:solidFill>
                <a:latin typeface="Segoe UI Symbol" pitchFamily="34" charset="0"/>
                <a:ea typeface="Segoe UI Symbol" pitchFamily="34" charset="-122"/>
                <a:cs typeface="Segoe UI Symbol" pitchFamily="34" charset="-120"/>
              </a:rPr>
              <a:t>❄</a:t>
            </a:r>
            <a:endParaRPr lang="en-US" sz="1688" dirty="0"/>
          </a:p>
        </p:txBody>
      </p:sp>
      <p:sp>
        <p:nvSpPr>
          <p:cNvPr id="38" name="Text 36"/>
          <p:cNvSpPr/>
          <p:nvPr/>
        </p:nvSpPr>
        <p:spPr>
          <a:xfrm>
            <a:off x="6093619" y="3031629"/>
            <a:ext cx="1114425" cy="128588"/>
          </a:xfrm>
          <a:prstGeom prst="rect">
            <a:avLst/>
          </a:prstGeom>
          <a:noFill/>
          <a:ln/>
        </p:spPr>
        <p:txBody>
          <a:bodyPr wrap="none" lIns="0" tIns="0" rIns="0" bIns="0" rtlCol="0" anchor="t"/>
          <a:lstStyle/>
          <a:p>
            <a:pPr algn="ctr" indent="0" marL="0">
              <a:lnSpc>
                <a:spcPts val="1013"/>
              </a:lnSpc>
              <a:buNone/>
            </a:pPr>
            <a:r>
              <a:rPr lang="en-US" sz="800" dirty="0">
                <a:solidFill>
                  <a:srgbClr val="CCCCCC"/>
                </a:solidFill>
                <a:latin typeface="Carlito" pitchFamily="34" charset="0"/>
                <a:ea typeface="Carlito" pitchFamily="34" charset="-122"/>
                <a:cs typeface="Carlito" pitchFamily="34" charset="-120"/>
              </a:rPr>
              <a:t>Coolify</a:t>
            </a:r>
            <a:endParaRPr lang="en-US" sz="800" dirty="0"/>
          </a:p>
        </p:txBody>
      </p:sp>
      <p:sp>
        <p:nvSpPr>
          <p:cNvPr id="39" name="Text 37"/>
          <p:cNvSpPr/>
          <p:nvPr/>
        </p:nvSpPr>
        <p:spPr>
          <a:xfrm>
            <a:off x="460772" y="3513832"/>
            <a:ext cx="3993356" cy="864394"/>
          </a:xfrm>
          <a:prstGeom prst="roundRect">
            <a:avLst>
              <a:gd name="adj" fmla="val 11019"/>
            </a:avLst>
          </a:prstGeom>
          <a:solidFill>
            <a:srgbClr val="0A0A0A"/>
          </a:solidFill>
          <a:ln w="7144">
            <a:solidFill>
              <a:srgbClr val="222222"/>
            </a:solidFill>
            <a:prstDash val="solid"/>
          </a:ln>
        </p:spPr>
        <p:txBody>
          <a:bodyPr wrap="square" rtlCol="0" anchor="ctr"/>
          <a:lstStyle/>
          <a:p>
            <a:pPr indent="0" marL="0">
              <a:buNone/>
            </a:pPr>
            <a:endParaRPr lang="en-US" dirty="0"/>
          </a:p>
        </p:txBody>
      </p:sp>
      <p:sp>
        <p:nvSpPr>
          <p:cNvPr id="40" name="Text 38"/>
          <p:cNvSpPr/>
          <p:nvPr/>
        </p:nvSpPr>
        <p:spPr>
          <a:xfrm>
            <a:off x="635794" y="3660279"/>
            <a:ext cx="71438" cy="71438"/>
          </a:xfrm>
          <a:prstGeom prst="ellipse">
            <a:avLst/>
          </a:prstGeom>
          <a:solidFill>
            <a:srgbClr val="FF5F56"/>
          </a:solidFill>
          <a:ln/>
        </p:spPr>
        <p:txBody>
          <a:bodyPr wrap="square" rtlCol="0" anchor="ctr"/>
          <a:lstStyle/>
          <a:p>
            <a:pPr indent="0" marL="0">
              <a:buNone/>
            </a:pPr>
            <a:endParaRPr lang="en-US" dirty="0"/>
          </a:p>
        </p:txBody>
      </p:sp>
      <p:sp>
        <p:nvSpPr>
          <p:cNvPr id="41" name="Text 39"/>
          <p:cNvSpPr/>
          <p:nvPr/>
        </p:nvSpPr>
        <p:spPr>
          <a:xfrm>
            <a:off x="750094" y="3660279"/>
            <a:ext cx="71438" cy="71438"/>
          </a:xfrm>
          <a:prstGeom prst="ellipse">
            <a:avLst/>
          </a:prstGeom>
          <a:solidFill>
            <a:srgbClr val="FFBD2E"/>
          </a:solidFill>
          <a:ln/>
        </p:spPr>
        <p:txBody>
          <a:bodyPr wrap="square" rtlCol="0" anchor="ctr"/>
          <a:lstStyle/>
          <a:p>
            <a:pPr indent="0" marL="0">
              <a:buNone/>
            </a:pPr>
            <a:endParaRPr lang="en-US" dirty="0"/>
          </a:p>
        </p:txBody>
      </p:sp>
      <p:sp>
        <p:nvSpPr>
          <p:cNvPr id="42" name="Text 40"/>
          <p:cNvSpPr/>
          <p:nvPr/>
        </p:nvSpPr>
        <p:spPr>
          <a:xfrm>
            <a:off x="864394" y="3660279"/>
            <a:ext cx="71438" cy="71438"/>
          </a:xfrm>
          <a:prstGeom prst="ellipse">
            <a:avLst/>
          </a:prstGeom>
          <a:solidFill>
            <a:srgbClr val="27C93F"/>
          </a:solidFill>
          <a:ln/>
        </p:spPr>
        <p:txBody>
          <a:bodyPr wrap="square" rtlCol="0" anchor="ctr"/>
          <a:lstStyle/>
          <a:p>
            <a:pPr indent="0" marL="0">
              <a:buNone/>
            </a:pPr>
            <a:endParaRPr lang="en-US" dirty="0"/>
          </a:p>
        </p:txBody>
      </p:sp>
      <p:sp>
        <p:nvSpPr>
          <p:cNvPr id="43" name="Text 41"/>
          <p:cNvSpPr/>
          <p:nvPr/>
        </p:nvSpPr>
        <p:spPr>
          <a:xfrm>
            <a:off x="635794" y="3860304"/>
            <a:ext cx="103227" cy="138875"/>
          </a:xfrm>
          <a:prstGeom prst="rect">
            <a:avLst/>
          </a:prstGeom>
          <a:noFill/>
          <a:ln/>
        </p:spPr>
        <p:txBody>
          <a:bodyPr wrap="none" lIns="0" tIns="0" rIns="0" bIns="0" rtlCol="0" anchor="t"/>
          <a:lstStyle/>
          <a:p>
            <a:pPr algn="l" indent="0" marL="0">
              <a:lnSpc>
                <a:spcPts val="1266"/>
              </a:lnSpc>
              <a:buNone/>
            </a:pPr>
            <a:r>
              <a:rPr lang="en-US" sz="844" dirty="0">
                <a:solidFill>
                  <a:srgbClr val="00FF88"/>
                </a:solidFill>
                <a:latin typeface="Courier New" pitchFamily="34" charset="0"/>
                <a:ea typeface="Courier New" pitchFamily="34" charset="-122"/>
                <a:cs typeface="Courier New" pitchFamily="34" charset="-120"/>
              </a:rPr>
              <a:t>$</a:t>
            </a:r>
            <a:endParaRPr lang="en-US" sz="844" dirty="0"/>
          </a:p>
        </p:txBody>
      </p:sp>
      <p:sp>
        <p:nvSpPr>
          <p:cNvPr id="44" name="Text 42"/>
          <p:cNvSpPr/>
          <p:nvPr/>
        </p:nvSpPr>
        <p:spPr>
          <a:xfrm>
            <a:off x="764828" y="3860304"/>
            <a:ext cx="1512278" cy="138875"/>
          </a:xfrm>
          <a:prstGeom prst="rect">
            <a:avLst/>
          </a:prstGeom>
          <a:noFill/>
          <a:ln/>
        </p:spPr>
        <p:txBody>
          <a:bodyPr wrap="none" lIns="0" tIns="0" rIns="0" bIns="0" rtlCol="0" anchor="t"/>
          <a:lstStyle/>
          <a:p>
            <a:pPr algn="l" indent="0" marL="0">
              <a:lnSpc>
                <a:spcPts val="1266"/>
              </a:lnSpc>
              <a:buNone/>
            </a:pPr>
            <a:r>
              <a:rPr lang="en-US" sz="844" dirty="0">
                <a:solidFill>
                  <a:srgbClr val="FFFFFF"/>
                </a:solidFill>
                <a:latin typeface="Courier New" pitchFamily="34" charset="0"/>
                <a:ea typeface="Courier New" pitchFamily="34" charset="-122"/>
                <a:cs typeface="Courier New" pitchFamily="34" charset="-120"/>
              </a:rPr>
              <a:t>docker compose up -d</a:t>
            </a:r>
            <a:endParaRPr lang="en-US" sz="844" dirty="0"/>
          </a:p>
        </p:txBody>
      </p:sp>
      <p:sp>
        <p:nvSpPr>
          <p:cNvPr id="45" name="Text 43"/>
          <p:cNvSpPr/>
          <p:nvPr/>
        </p:nvSpPr>
        <p:spPr>
          <a:xfrm>
            <a:off x="635794" y="4092476"/>
            <a:ext cx="3643313" cy="139303"/>
          </a:xfrm>
          <a:prstGeom prst="rect">
            <a:avLst/>
          </a:prstGeom>
          <a:noFill/>
          <a:ln/>
        </p:spPr>
        <p:txBody>
          <a:bodyPr wrap="square" lIns="0" tIns="0" rIns="0" bIns="0" rtlCol="0" anchor="t"/>
          <a:lstStyle/>
          <a:p>
            <a:pPr algn="l" indent="0" marL="0">
              <a:lnSpc>
                <a:spcPts val="1097"/>
              </a:lnSpc>
              <a:buNone/>
            </a:pPr>
            <a:r>
              <a:rPr lang="en-US" sz="800" dirty="0">
                <a:solidFill>
                  <a:srgbClr val="00FF88"/>
                </a:solidFill>
                <a:latin typeface="Courier New" pitchFamily="34" charset="0"/>
                <a:ea typeface="Courier New" pitchFamily="34" charset="-122"/>
                <a:cs typeface="Courier New" pitchFamily="34" charset="-120"/>
              </a:rPr>
              <a:t>✔ ReconPro started successfully on http://localhost:</a:t>
            </a:r>
            <a:pPr algn="l" indent="0" marL="0">
              <a:lnSpc>
                <a:spcPts val="1097"/>
              </a:lnSpc>
              <a:buNone/>
            </a:pPr>
            <a:r>
              <a:rPr lang="en-US" sz="800" dirty="0">
                <a:solidFill>
                  <a:srgbClr val="00FF88"/>
                </a:solidFill>
                <a:latin typeface="Liberation Sans Narrow" pitchFamily="34" charset="0"/>
                <a:ea typeface="Liberation Sans Narrow" pitchFamily="34" charset="-122"/>
                <a:cs typeface="Liberation Sans Narrow" pitchFamily="34" charset="-120"/>
              </a:rPr>
              <a:t>3000</a:t>
            </a:r>
            <a:endParaRPr lang="en-US" sz="800" dirty="0"/>
          </a:p>
        </p:txBody>
      </p:sp>
      <p:sp>
        <p:nvSpPr>
          <p:cNvPr id="46" name="Text 44"/>
          <p:cNvSpPr/>
          <p:nvPr/>
        </p:nvSpPr>
        <p:spPr>
          <a:xfrm>
            <a:off x="203925" y="4843463"/>
            <a:ext cx="775269"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Courier New" pitchFamily="34" charset="0"/>
                <a:ea typeface="Courier New" pitchFamily="34" charset="-122"/>
                <a:cs typeface="Courier New" pitchFamily="34" charset="-120"/>
              </a:rPr>
              <a:t>reconpro.dev</a:t>
            </a:r>
            <a:endParaRPr lang="en-US" sz="800" dirty="0"/>
          </a:p>
        </p:txBody>
      </p:sp>
      <p:sp>
        <p:nvSpPr>
          <p:cNvPr id="47" name="Text 45"/>
          <p:cNvSpPr/>
          <p:nvPr/>
        </p:nvSpPr>
        <p:spPr>
          <a:xfrm>
            <a:off x="8554083" y="4843463"/>
            <a:ext cx="491392" cy="164592"/>
          </a:xfrm>
          <a:prstGeom prst="rect">
            <a:avLst/>
          </a:prstGeom>
          <a:noFill/>
          <a:ln/>
        </p:spPr>
        <p:txBody>
          <a:bodyPr wrap="none" lIns="0" tIns="0" rIns="0" bIns="0" rtlCol="0" anchor="t"/>
          <a:lstStyle/>
          <a:p>
            <a:pPr algn="l" indent="0" marL="0">
              <a:lnSpc>
                <a:spcPts val="1013"/>
              </a:lnSpc>
              <a:buNone/>
            </a:pPr>
            <a:r>
              <a:rPr lang="en-US" sz="800" dirty="0">
                <a:solidFill>
                  <a:srgbClr val="666666"/>
                </a:solidFill>
                <a:latin typeface="Liberation Sans Narrow" pitchFamily="34" charset="0"/>
                <a:ea typeface="Liberation Sans Narrow" pitchFamily="34" charset="-122"/>
                <a:cs typeface="Liberation Sans Narrow" pitchFamily="34" charset="-120"/>
              </a:rPr>
              <a:t>12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00050"/>
            <a:ext cx="8636000" cy="356348"/>
          </a:xfrm>
          <a:prstGeom prst="rect">
            <a:avLst/>
          </a:prstGeom>
          <a:noFill/>
          <a:ln/>
        </p:spPr>
        <p:txBody>
          <a:bodyPr wrap="square" lIns="0" tIns="0" rIns="0" bIns="0" rtlCol="0" anchor="t"/>
          <a:lstStyle/>
          <a:p>
            <a:pPr algn="l" indent="0" marL="0">
              <a:lnSpc>
                <a:spcPts val="2599"/>
              </a:lnSpc>
              <a:buNone/>
            </a:pPr>
            <a:r>
              <a:rPr lang="en-US" sz="2363" b="1" dirty="0">
                <a:solidFill>
                  <a:srgbClr val="00FF41"/>
                </a:solidFill>
                <a:latin typeface="Liberation Sans Narrow" pitchFamily="34" charset="0"/>
                <a:ea typeface="Liberation Sans Narrow" pitchFamily="34" charset="-122"/>
                <a:cs typeface="Liberation Sans Narrow" pitchFamily="34" charset="-120"/>
              </a:rPr>
              <a:t>33 COMMANDS. INFINITE POWER.</a:t>
            </a:r>
            <a:endParaRPr lang="en-US" sz="2363" dirty="0"/>
          </a:p>
        </p:txBody>
      </p:sp>
      <p:sp>
        <p:nvSpPr>
          <p:cNvPr id="3" name="Text 1"/>
          <p:cNvSpPr/>
          <p:nvPr/>
        </p:nvSpPr>
        <p:spPr>
          <a:xfrm>
            <a:off x="460772" y="933599"/>
            <a:ext cx="8222456" cy="3599111"/>
          </a:xfrm>
          <a:prstGeom prst="roundRect">
            <a:avLst>
              <a:gd name="adj" fmla="val 3176"/>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4" name="Text 2"/>
          <p:cNvSpPr/>
          <p:nvPr/>
        </p:nvSpPr>
        <p:spPr>
          <a:xfrm>
            <a:off x="464344" y="937171"/>
            <a:ext cx="8215313" cy="278606"/>
          </a:xfrm>
          <a:prstGeom prst="rect">
            <a:avLst/>
          </a:prstGeom>
          <a:solidFill>
            <a:srgbClr val="1A1A1A"/>
          </a:solidFill>
          <a:ln/>
        </p:spPr>
        <p:txBody>
          <a:bodyPr wrap="square" rtlCol="0" anchor="ctr"/>
          <a:lstStyle/>
          <a:p>
            <a:pPr indent="0" marL="0">
              <a:buNone/>
            </a:pPr>
            <a:endParaRPr lang="en-US" dirty="0"/>
          </a:p>
        </p:txBody>
      </p:sp>
      <p:sp>
        <p:nvSpPr>
          <p:cNvPr id="5" name="Shape 3"/>
          <p:cNvSpPr/>
          <p:nvPr/>
        </p:nvSpPr>
        <p:spPr>
          <a:xfrm>
            <a:off x="464344" y="1212205"/>
            <a:ext cx="8215313" cy="0"/>
          </a:xfrm>
          <a:prstGeom prst="line">
            <a:avLst/>
          </a:prstGeom>
          <a:noFill/>
          <a:ln w="7144">
            <a:solidFill>
              <a:srgbClr val="00FF41"/>
            </a:solidFill>
            <a:prstDash val="solid"/>
          </a:ln>
        </p:spPr>
      </p:sp>
      <p:sp>
        <p:nvSpPr>
          <p:cNvPr id="6" name="Text 4"/>
          <p:cNvSpPr/>
          <p:nvPr/>
        </p:nvSpPr>
        <p:spPr>
          <a:xfrm>
            <a:off x="578644" y="1037183"/>
            <a:ext cx="71438" cy="71438"/>
          </a:xfrm>
          <a:prstGeom prst="ellipse">
            <a:avLst/>
          </a:prstGeom>
          <a:solidFill>
            <a:srgbClr val="FF5F57"/>
          </a:solidFill>
          <a:ln/>
        </p:spPr>
        <p:txBody>
          <a:bodyPr wrap="square" rtlCol="0" anchor="ctr"/>
          <a:lstStyle/>
          <a:p>
            <a:pPr indent="0" marL="0">
              <a:buNone/>
            </a:pPr>
            <a:endParaRPr lang="en-US" dirty="0"/>
          </a:p>
        </p:txBody>
      </p:sp>
      <p:sp>
        <p:nvSpPr>
          <p:cNvPr id="7" name="Text 5"/>
          <p:cNvSpPr/>
          <p:nvPr/>
        </p:nvSpPr>
        <p:spPr>
          <a:xfrm>
            <a:off x="707231" y="1037183"/>
            <a:ext cx="71438" cy="71438"/>
          </a:xfrm>
          <a:prstGeom prst="ellipse">
            <a:avLst/>
          </a:prstGeom>
          <a:solidFill>
            <a:srgbClr val="FEBC2E"/>
          </a:solidFill>
          <a:ln/>
        </p:spPr>
        <p:txBody>
          <a:bodyPr wrap="square" rtlCol="0" anchor="ctr"/>
          <a:lstStyle/>
          <a:p>
            <a:pPr indent="0" marL="0">
              <a:buNone/>
            </a:pPr>
            <a:endParaRPr lang="en-US" dirty="0"/>
          </a:p>
        </p:txBody>
      </p:sp>
      <p:sp>
        <p:nvSpPr>
          <p:cNvPr id="8" name="Text 6"/>
          <p:cNvSpPr/>
          <p:nvPr/>
        </p:nvSpPr>
        <p:spPr>
          <a:xfrm>
            <a:off x="835819" y="1037183"/>
            <a:ext cx="71438" cy="71438"/>
          </a:xfrm>
          <a:prstGeom prst="ellipse">
            <a:avLst/>
          </a:prstGeom>
          <a:solidFill>
            <a:srgbClr val="28C840"/>
          </a:solidFill>
          <a:ln/>
        </p:spPr>
        <p:txBody>
          <a:bodyPr wrap="square" rtlCol="0" anchor="ctr"/>
          <a:lstStyle/>
          <a:p>
            <a:pPr indent="0" marL="0">
              <a:buNone/>
            </a:pPr>
            <a:endParaRPr lang="en-US" dirty="0"/>
          </a:p>
        </p:txBody>
      </p:sp>
      <p:sp>
        <p:nvSpPr>
          <p:cNvPr id="9" name="Text 7"/>
          <p:cNvSpPr/>
          <p:nvPr/>
        </p:nvSpPr>
        <p:spPr>
          <a:xfrm>
            <a:off x="1050131" y="1008608"/>
            <a:ext cx="7515225" cy="128588"/>
          </a:xfrm>
          <a:prstGeom prst="rect">
            <a:avLst/>
          </a:prstGeom>
          <a:noFill/>
          <a:ln/>
        </p:spPr>
        <p:txBody>
          <a:bodyPr wrap="none" lIns="0" tIns="0" rIns="0" bIns="0" rtlCol="0" anchor="t"/>
          <a:lstStyle/>
          <a:p>
            <a:pPr algn="l" indent="0" marL="0">
              <a:lnSpc>
                <a:spcPts val="1013"/>
              </a:lnSpc>
              <a:buNone/>
            </a:pPr>
            <a:r>
              <a:rPr lang="en-US" sz="800" dirty="0">
                <a:solidFill>
                  <a:srgbClr val="888888"/>
                </a:solidFill>
                <a:latin typeface="Courier New" pitchFamily="34" charset="0"/>
                <a:ea typeface="Courier New" pitchFamily="34" charset="-122"/>
                <a:cs typeface="Courier New" pitchFamily="34" charset="-120"/>
              </a:rPr>
              <a:t>reconpro — bash</a:t>
            </a:r>
            <a:endParaRPr lang="en-US" sz="800" dirty="0"/>
          </a:p>
        </p:txBody>
      </p:sp>
      <p:sp>
        <p:nvSpPr>
          <p:cNvPr id="10" name="Text 8"/>
          <p:cNvSpPr/>
          <p:nvPr/>
        </p:nvSpPr>
        <p:spPr>
          <a:xfrm>
            <a:off x="664369" y="1358652"/>
            <a:ext cx="6023610" cy="144018"/>
          </a:xfrm>
          <a:prstGeom prst="rect">
            <a:avLst/>
          </a:prstGeom>
          <a:noFill/>
          <a:ln/>
        </p:spPr>
        <p:txBody>
          <a:bodyPr wrap="none" lIns="0" tIns="0" rIns="0" bIns="0" rtlCol="0" anchor="t">
            <a:normAutofit/>
          </a:bodyPr>
          <a:lstStyle/>
          <a:p>
            <a:pPr algn="l" indent="0" marL="0">
              <a:lnSpc>
                <a:spcPts val="1013"/>
              </a:lnSpc>
              <a:buNone/>
            </a:pPr>
            <a:r>
              <a:rPr lang="en-US" sz="800" spc="113" kern="0" dirty="0">
                <a:solidFill>
                  <a:srgbClr val="888888"/>
                </a:solidFill>
                <a:latin typeface="Courier New" pitchFamily="34" charset="0"/>
                <a:ea typeface="Courier New" pitchFamily="34" charset="-122"/>
                <a:cs typeface="Courier New" pitchFamily="34" charset="-120"/>
              </a:rPr>
              <a:t>CORE</a:t>
            </a:r>
            <a:endParaRPr lang="en-US" sz="800" dirty="0"/>
          </a:p>
        </p:txBody>
      </p:sp>
      <p:sp>
        <p:nvSpPr>
          <p:cNvPr id="11" name="Text 9"/>
          <p:cNvSpPr/>
          <p:nvPr/>
        </p:nvSpPr>
        <p:spPr>
          <a:xfrm>
            <a:off x="664369" y="1530102"/>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scan --target example.com</a:t>
            </a:r>
            <a:endParaRPr lang="en-US" sz="844" dirty="0"/>
          </a:p>
        </p:txBody>
      </p:sp>
      <p:sp>
        <p:nvSpPr>
          <p:cNvPr id="12" name="Text 10"/>
          <p:cNvSpPr/>
          <p:nvPr/>
        </p:nvSpPr>
        <p:spPr>
          <a:xfrm>
            <a:off x="664369" y="1733699"/>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scan --modules gorgon,oblivion</a:t>
            </a:r>
            <a:endParaRPr lang="en-US" sz="844" dirty="0"/>
          </a:p>
        </p:txBody>
      </p:sp>
      <p:sp>
        <p:nvSpPr>
          <p:cNvPr id="13" name="Text 11"/>
          <p:cNvSpPr/>
          <p:nvPr/>
        </p:nvSpPr>
        <p:spPr>
          <a:xfrm>
            <a:off x="664369" y="1937296"/>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report --format json</a:t>
            </a:r>
            <a:endParaRPr lang="en-US" sz="844" dirty="0"/>
          </a:p>
        </p:txBody>
      </p:sp>
      <p:sp>
        <p:nvSpPr>
          <p:cNvPr id="14" name="Text 12"/>
          <p:cNvSpPr/>
          <p:nvPr/>
        </p:nvSpPr>
        <p:spPr>
          <a:xfrm>
            <a:off x="664369" y="2283768"/>
            <a:ext cx="5348307" cy="144018"/>
          </a:xfrm>
          <a:prstGeom prst="rect">
            <a:avLst/>
          </a:prstGeom>
          <a:noFill/>
          <a:ln/>
        </p:spPr>
        <p:txBody>
          <a:bodyPr wrap="none" lIns="0" tIns="0" rIns="0" bIns="0" rtlCol="0" anchor="t">
            <a:normAutofit/>
          </a:bodyPr>
          <a:lstStyle/>
          <a:p>
            <a:pPr algn="l" indent="0" marL="0">
              <a:lnSpc>
                <a:spcPts val="1013"/>
              </a:lnSpc>
              <a:buNone/>
            </a:pPr>
            <a:r>
              <a:rPr lang="en-US" sz="800" spc="113" kern="0" dirty="0">
                <a:solidFill>
                  <a:srgbClr val="888888"/>
                </a:solidFill>
                <a:latin typeface="Courier New" pitchFamily="34" charset="0"/>
                <a:ea typeface="Courier New" pitchFamily="34" charset="-122"/>
                <a:cs typeface="Courier New" pitchFamily="34" charset="-120"/>
              </a:rPr>
              <a:t>MODULES</a:t>
            </a:r>
            <a:endParaRPr lang="en-US" sz="800" dirty="0"/>
          </a:p>
        </p:txBody>
      </p:sp>
      <p:sp>
        <p:nvSpPr>
          <p:cNvPr id="15" name="Text 13"/>
          <p:cNvSpPr/>
          <p:nvPr/>
        </p:nvSpPr>
        <p:spPr>
          <a:xfrm>
            <a:off x="664369" y="2455218"/>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gorgon --target example.com</a:t>
            </a:r>
            <a:endParaRPr lang="en-US" sz="844" dirty="0"/>
          </a:p>
        </p:txBody>
      </p:sp>
      <p:sp>
        <p:nvSpPr>
          <p:cNvPr id="16" name="Text 14"/>
          <p:cNvSpPr/>
          <p:nvPr/>
        </p:nvSpPr>
        <p:spPr>
          <a:xfrm>
            <a:off x="664369" y="2658814"/>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oblivion --url https://example.com</a:t>
            </a:r>
            <a:endParaRPr lang="en-US" sz="844" dirty="0"/>
          </a:p>
        </p:txBody>
      </p:sp>
      <p:sp>
        <p:nvSpPr>
          <p:cNvPr id="17" name="Text 15"/>
          <p:cNvSpPr/>
          <p:nvPr/>
        </p:nvSpPr>
        <p:spPr>
          <a:xfrm>
            <a:off x="664369" y="2862411"/>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pegasus --full-scan</a:t>
            </a:r>
            <a:endParaRPr lang="en-US" sz="844" dirty="0"/>
          </a:p>
        </p:txBody>
      </p:sp>
      <p:sp>
        <p:nvSpPr>
          <p:cNvPr id="18" name="Text 16"/>
          <p:cNvSpPr/>
          <p:nvPr/>
        </p:nvSpPr>
        <p:spPr>
          <a:xfrm>
            <a:off x="4714875" y="1358652"/>
            <a:ext cx="3964781" cy="144018"/>
          </a:xfrm>
          <a:prstGeom prst="rect">
            <a:avLst/>
          </a:prstGeom>
          <a:noFill/>
          <a:ln/>
        </p:spPr>
        <p:txBody>
          <a:bodyPr wrap="none" lIns="0" tIns="0" rIns="0" bIns="0" rtlCol="0" anchor="t">
            <a:normAutofit/>
          </a:bodyPr>
          <a:lstStyle/>
          <a:p>
            <a:pPr algn="l" indent="0" marL="0">
              <a:lnSpc>
                <a:spcPts val="1013"/>
              </a:lnSpc>
              <a:buNone/>
            </a:pPr>
            <a:r>
              <a:rPr lang="en-US" sz="800" spc="113" kern="0" dirty="0">
                <a:solidFill>
                  <a:srgbClr val="888888"/>
                </a:solidFill>
                <a:latin typeface="Courier New" pitchFamily="34" charset="0"/>
                <a:ea typeface="Courier New" pitchFamily="34" charset="-122"/>
                <a:cs typeface="Courier New" pitchFamily="34" charset="-120"/>
              </a:rPr>
              <a:t>TEAM</a:t>
            </a:r>
            <a:endParaRPr lang="en-US" sz="800" dirty="0"/>
          </a:p>
        </p:txBody>
      </p:sp>
      <p:sp>
        <p:nvSpPr>
          <p:cNvPr id="19" name="Text 17"/>
          <p:cNvSpPr/>
          <p:nvPr/>
        </p:nvSpPr>
        <p:spPr>
          <a:xfrm>
            <a:off x="4714875" y="1530102"/>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team add @hacker --role lead</a:t>
            </a:r>
            <a:endParaRPr lang="en-US" sz="844" dirty="0"/>
          </a:p>
        </p:txBody>
      </p:sp>
      <p:sp>
        <p:nvSpPr>
          <p:cNvPr id="20" name="Text 18"/>
          <p:cNvSpPr/>
          <p:nvPr/>
        </p:nvSpPr>
        <p:spPr>
          <a:xfrm>
            <a:off x="4714875" y="1733699"/>
            <a:ext cx="3952994" cy="219885"/>
          </a:xfrm>
          <a:prstGeom prst="rect">
            <a:avLst/>
          </a:prstGeom>
          <a:noFill/>
          <a:ln/>
        </p:spPr>
        <p:txBody>
          <a:bodyPr wrap="non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team list</a:t>
            </a:r>
            <a:endParaRPr lang="en-US" sz="844" dirty="0"/>
          </a:p>
        </p:txBody>
      </p:sp>
      <p:sp>
        <p:nvSpPr>
          <p:cNvPr id="21" name="Text 19"/>
          <p:cNvSpPr/>
          <p:nvPr/>
        </p:nvSpPr>
        <p:spPr>
          <a:xfrm>
            <a:off x="4714875" y="2080171"/>
            <a:ext cx="3964781" cy="144018"/>
          </a:xfrm>
          <a:prstGeom prst="rect">
            <a:avLst/>
          </a:prstGeom>
          <a:noFill/>
          <a:ln/>
        </p:spPr>
        <p:txBody>
          <a:bodyPr wrap="none" lIns="0" tIns="0" rIns="0" bIns="0" rtlCol="0" anchor="t">
            <a:normAutofit/>
          </a:bodyPr>
          <a:lstStyle/>
          <a:p>
            <a:pPr algn="l" indent="0" marL="0">
              <a:lnSpc>
                <a:spcPts val="1013"/>
              </a:lnSpc>
              <a:buNone/>
            </a:pPr>
            <a:r>
              <a:rPr lang="en-US" sz="800" spc="113" kern="0" dirty="0">
                <a:solidFill>
                  <a:srgbClr val="888888"/>
                </a:solidFill>
                <a:latin typeface="Courier New" pitchFamily="34" charset="0"/>
                <a:ea typeface="Courier New" pitchFamily="34" charset="-122"/>
                <a:cs typeface="Courier New" pitchFamily="34" charset="-120"/>
              </a:rPr>
              <a:t>INTEGRATIONS</a:t>
            </a:r>
            <a:endParaRPr lang="en-US" sz="800" dirty="0"/>
          </a:p>
        </p:txBody>
      </p:sp>
      <p:sp>
        <p:nvSpPr>
          <p:cNvPr id="22" name="Text 20"/>
          <p:cNvSpPr/>
          <p:nvPr/>
        </p:nvSpPr>
        <p:spPr>
          <a:xfrm>
            <a:off x="4714875" y="2251621"/>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integrations slack --channel #alerts</a:t>
            </a:r>
            <a:endParaRPr lang="en-US" sz="844" dirty="0"/>
          </a:p>
        </p:txBody>
      </p:sp>
      <p:sp>
        <p:nvSpPr>
          <p:cNvPr id="23" name="Text 21"/>
          <p:cNvSpPr/>
          <p:nvPr/>
        </p:nvSpPr>
        <p:spPr>
          <a:xfrm>
            <a:off x="4714875" y="2598093"/>
            <a:ext cx="3964781" cy="144018"/>
          </a:xfrm>
          <a:prstGeom prst="rect">
            <a:avLst/>
          </a:prstGeom>
          <a:noFill/>
          <a:ln/>
        </p:spPr>
        <p:txBody>
          <a:bodyPr wrap="none" lIns="0" tIns="0" rIns="0" bIns="0" rtlCol="0" anchor="t">
            <a:normAutofit/>
          </a:bodyPr>
          <a:lstStyle/>
          <a:p>
            <a:pPr algn="l" indent="0" marL="0">
              <a:lnSpc>
                <a:spcPts val="1013"/>
              </a:lnSpc>
              <a:buNone/>
            </a:pPr>
            <a:r>
              <a:rPr lang="en-US" sz="800" spc="113" kern="0" dirty="0">
                <a:solidFill>
                  <a:srgbClr val="888888"/>
                </a:solidFill>
                <a:latin typeface="Courier New" pitchFamily="34" charset="0"/>
                <a:ea typeface="Courier New" pitchFamily="34" charset="-122"/>
                <a:cs typeface="Courier New" pitchFamily="34" charset="-120"/>
              </a:rPr>
              <a:t>UTILITIES</a:t>
            </a:r>
            <a:endParaRPr lang="en-US" sz="800" dirty="0"/>
          </a:p>
        </p:txBody>
      </p:sp>
      <p:sp>
        <p:nvSpPr>
          <p:cNvPr id="24" name="Text 22"/>
          <p:cNvSpPr/>
          <p:nvPr/>
        </p:nvSpPr>
        <p:spPr>
          <a:xfrm>
            <a:off x="4714875" y="2769543"/>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doctor --check-all</a:t>
            </a:r>
            <a:endParaRPr lang="en-US" sz="844" dirty="0"/>
          </a:p>
        </p:txBody>
      </p:sp>
      <p:sp>
        <p:nvSpPr>
          <p:cNvPr id="25" name="Text 23"/>
          <p:cNvSpPr/>
          <p:nvPr/>
        </p:nvSpPr>
        <p:spPr>
          <a:xfrm>
            <a:off x="4714875" y="2973139"/>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export --format pdf</a:t>
            </a:r>
            <a:endParaRPr lang="en-US" sz="844" dirty="0"/>
          </a:p>
        </p:txBody>
      </p:sp>
      <p:sp>
        <p:nvSpPr>
          <p:cNvPr id="26" name="Text 24"/>
          <p:cNvSpPr/>
          <p:nvPr/>
        </p:nvSpPr>
        <p:spPr>
          <a:xfrm>
            <a:off x="457200" y="4650581"/>
            <a:ext cx="8229600" cy="164592"/>
          </a:xfrm>
          <a:prstGeom prst="rect">
            <a:avLst/>
          </a:prstGeom>
          <a:noFill/>
          <a:ln/>
        </p:spPr>
        <p:txBody>
          <a:bodyPr wrap="square" lIns="0" tIns="0" rIns="0" bIns="0" rtlCol="0" anchor="t"/>
          <a:lstStyle/>
          <a:p>
            <a:pPr algn="l" indent="0" marL="0">
              <a:lnSpc>
                <a:spcPts val="1181"/>
              </a:lnSpc>
              <a:buNone/>
            </a:pPr>
            <a:r>
              <a:rPr lang="en-US" sz="800" spc="17" kern="0" dirty="0">
                <a:solidFill>
                  <a:srgbClr val="888888"/>
                </a:solidFill>
                <a:latin typeface="Courier New" pitchFamily="34" charset="0"/>
                <a:ea typeface="Courier New" pitchFamily="34" charset="-122"/>
                <a:cs typeface="Courier New" pitchFamily="34" charset="-120"/>
              </a:rPr>
              <a:t>Every command has --help. Every module can run standalone or combined.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0" y="400050"/>
            <a:ext cx="8636000" cy="356348"/>
          </a:xfrm>
          <a:prstGeom prst="rect">
            <a:avLst/>
          </a:prstGeom>
          <a:noFill/>
          <a:ln/>
        </p:spPr>
        <p:txBody>
          <a:bodyPr wrap="square" lIns="0" tIns="0" rIns="0" bIns="0" rtlCol="0" anchor="t"/>
          <a:lstStyle/>
          <a:p>
            <a:pPr algn="l" indent="0" marL="0">
              <a:lnSpc>
                <a:spcPts val="2599"/>
              </a:lnSpc>
              <a:buNone/>
            </a:pPr>
            <a:r>
              <a:rPr lang="en-US" sz="2363" b="1" dirty="0">
                <a:solidFill>
                  <a:srgbClr val="FFFFFF"/>
                </a:solidFill>
                <a:latin typeface="Courier New" pitchFamily="34" charset="0"/>
                <a:ea typeface="Courier New" pitchFamily="34" charset="-122"/>
                <a:cs typeface="Courier New" pitchFamily="34" charset="-120"/>
              </a:rPr>
              <a:t>WORKS EVERYWHERE. PERIOD.</a:t>
            </a:r>
            <a:endParaRPr lang="en-US" sz="2363" dirty="0"/>
          </a:p>
        </p:txBody>
      </p:sp>
      <p:sp>
        <p:nvSpPr>
          <p:cNvPr id="3" name="Text 1"/>
          <p:cNvSpPr/>
          <p:nvPr/>
        </p:nvSpPr>
        <p:spPr>
          <a:xfrm>
            <a:off x="460772" y="1019324"/>
            <a:ext cx="2583582" cy="1671638"/>
          </a:xfrm>
          <a:prstGeom prst="roundRect">
            <a:avLst>
              <a:gd name="adj" fmla="val 911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4" name="Text 2"/>
          <p:cNvSpPr/>
          <p:nvPr/>
        </p:nvSpPr>
        <p:spPr>
          <a:xfrm>
            <a:off x="1581113"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5" name="Text 3"/>
          <p:cNvSpPr/>
          <p:nvPr/>
        </p:nvSpPr>
        <p:spPr>
          <a:xfrm>
            <a:off x="1361108" y="1708696"/>
            <a:ext cx="1001982" cy="300895"/>
          </a:xfrm>
          <a:prstGeom prst="rect">
            <a:avLst/>
          </a:prstGeom>
          <a:noFill/>
          <a:ln/>
        </p:spPr>
        <p:txBody>
          <a:bodyPr wrap="none" lIns="0" tIns="0" rIns="0" bIns="0" rtlCol="0" anchor="t"/>
          <a:lstStyle/>
          <a:p>
            <a:pPr algn="l" indent="0" marL="0">
              <a:lnSpc>
                <a:spcPts val="2194"/>
              </a:lnSpc>
              <a:buNone/>
            </a:pPr>
            <a:r>
              <a:rPr lang="en-US" sz="1463" b="1" dirty="0">
                <a:solidFill>
                  <a:srgbClr val="FFFFFF"/>
                </a:solidFill>
                <a:latin typeface="Courier New" pitchFamily="34" charset="0"/>
                <a:ea typeface="Courier New" pitchFamily="34" charset="-122"/>
                <a:cs typeface="Courier New" pitchFamily="34" charset="-120"/>
              </a:rPr>
              <a:t>Windows</a:t>
            </a:r>
            <a:endParaRPr lang="en-US" sz="1463" dirty="0"/>
          </a:p>
        </p:txBody>
      </p:sp>
      <p:sp>
        <p:nvSpPr>
          <p:cNvPr id="6" name="Text 4"/>
          <p:cNvSpPr/>
          <p:nvPr/>
        </p:nvSpPr>
        <p:spPr>
          <a:xfrm>
            <a:off x="991776" y="2117375"/>
            <a:ext cx="1521462" cy="354216"/>
          </a:xfrm>
          <a:prstGeom prst="roundRect">
            <a:avLst>
              <a:gd name="adj" fmla="val 21512"/>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7" name="Text 5"/>
          <p:cNvSpPr/>
          <p:nvPr/>
        </p:nvSpPr>
        <p:spPr>
          <a:xfrm>
            <a:off x="1150367" y="2237333"/>
            <a:ext cx="1204280" cy="125403"/>
          </a:xfrm>
          <a:prstGeom prst="rect">
            <a:avLst/>
          </a:prstGeom>
          <a:noFill/>
          <a:ln/>
        </p:spPr>
        <p:txBody>
          <a:bodyPr wrap="none" lIns="0" tIns="0" rIns="0" bIns="0" rtlCol="0" anchor="t"/>
          <a:lstStyle/>
          <a:p>
            <a:pPr algn="l" indent="0" marL="0">
              <a:lnSpc>
                <a:spcPts val="1181"/>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8" name="Text 6"/>
          <p:cNvSpPr/>
          <p:nvPr/>
        </p:nvSpPr>
        <p:spPr>
          <a:xfrm>
            <a:off x="3280097" y="1019324"/>
            <a:ext cx="2583693" cy="1671638"/>
          </a:xfrm>
          <a:prstGeom prst="roundRect">
            <a:avLst>
              <a:gd name="adj" fmla="val 911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9" name="Text 7"/>
          <p:cNvSpPr/>
          <p:nvPr/>
        </p:nvSpPr>
        <p:spPr>
          <a:xfrm>
            <a:off x="4400438"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10" name="Text 8"/>
          <p:cNvSpPr/>
          <p:nvPr/>
        </p:nvSpPr>
        <p:spPr>
          <a:xfrm>
            <a:off x="4292278" y="1708696"/>
            <a:ext cx="883570" cy="300895"/>
          </a:xfrm>
          <a:prstGeom prst="rect">
            <a:avLst/>
          </a:prstGeom>
          <a:noFill/>
          <a:ln/>
        </p:spPr>
        <p:txBody>
          <a:bodyPr wrap="none" lIns="0" tIns="0" rIns="0" bIns="0" rtlCol="0" anchor="t"/>
          <a:lstStyle/>
          <a:p>
            <a:pPr algn="l" indent="0" marL="0">
              <a:lnSpc>
                <a:spcPts val="2194"/>
              </a:lnSpc>
              <a:buNone/>
            </a:pPr>
            <a:r>
              <a:rPr lang="en-US" sz="1463" b="1" dirty="0">
                <a:solidFill>
                  <a:srgbClr val="FFFFFF"/>
                </a:solidFill>
                <a:latin typeface="Courier New" pitchFamily="34" charset="0"/>
                <a:ea typeface="Courier New" pitchFamily="34" charset="-122"/>
                <a:cs typeface="Courier New" pitchFamily="34" charset="-120"/>
              </a:rPr>
              <a:t>Linux</a:t>
            </a:r>
            <a:endParaRPr lang="en-US" sz="1463" dirty="0"/>
          </a:p>
        </p:txBody>
      </p:sp>
      <p:sp>
        <p:nvSpPr>
          <p:cNvPr id="11" name="Text 9"/>
          <p:cNvSpPr/>
          <p:nvPr/>
        </p:nvSpPr>
        <p:spPr>
          <a:xfrm>
            <a:off x="3811213" y="2117375"/>
            <a:ext cx="1521462" cy="354216"/>
          </a:xfrm>
          <a:prstGeom prst="roundRect">
            <a:avLst>
              <a:gd name="adj" fmla="val 21512"/>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12" name="Text 10"/>
          <p:cNvSpPr/>
          <p:nvPr/>
        </p:nvSpPr>
        <p:spPr>
          <a:xfrm>
            <a:off x="3969804" y="2237333"/>
            <a:ext cx="1204280" cy="125403"/>
          </a:xfrm>
          <a:prstGeom prst="rect">
            <a:avLst/>
          </a:prstGeom>
          <a:noFill/>
          <a:ln/>
        </p:spPr>
        <p:txBody>
          <a:bodyPr wrap="none" lIns="0" tIns="0" rIns="0" bIns="0" rtlCol="0" anchor="t"/>
          <a:lstStyle/>
          <a:p>
            <a:pPr algn="l" indent="0" marL="0">
              <a:lnSpc>
                <a:spcPts val="1181"/>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13" name="Text 11"/>
          <p:cNvSpPr/>
          <p:nvPr/>
        </p:nvSpPr>
        <p:spPr>
          <a:xfrm>
            <a:off x="6099535" y="1019324"/>
            <a:ext cx="2583582" cy="1671638"/>
          </a:xfrm>
          <a:prstGeom prst="roundRect">
            <a:avLst>
              <a:gd name="adj" fmla="val 911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4" name="Text 12"/>
          <p:cNvSpPr/>
          <p:nvPr/>
        </p:nvSpPr>
        <p:spPr>
          <a:xfrm>
            <a:off x="7219876"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15" name="Text 13"/>
          <p:cNvSpPr/>
          <p:nvPr/>
        </p:nvSpPr>
        <p:spPr>
          <a:xfrm>
            <a:off x="7111715" y="1708696"/>
            <a:ext cx="883570" cy="300895"/>
          </a:xfrm>
          <a:prstGeom prst="rect">
            <a:avLst/>
          </a:prstGeom>
          <a:noFill/>
          <a:ln/>
        </p:spPr>
        <p:txBody>
          <a:bodyPr wrap="none" lIns="0" tIns="0" rIns="0" bIns="0" rtlCol="0" anchor="t"/>
          <a:lstStyle/>
          <a:p>
            <a:pPr algn="l" indent="0" marL="0">
              <a:lnSpc>
                <a:spcPts val="2194"/>
              </a:lnSpc>
              <a:buNone/>
            </a:pPr>
            <a:r>
              <a:rPr lang="en-US" sz="1463" b="1" dirty="0">
                <a:solidFill>
                  <a:srgbClr val="FFFFFF"/>
                </a:solidFill>
                <a:latin typeface="Courier New" pitchFamily="34" charset="0"/>
                <a:ea typeface="Courier New" pitchFamily="34" charset="-122"/>
                <a:cs typeface="Courier New" pitchFamily="34" charset="-120"/>
              </a:rPr>
              <a:t>macOS</a:t>
            </a:r>
            <a:endParaRPr lang="en-US" sz="1463" dirty="0"/>
          </a:p>
        </p:txBody>
      </p:sp>
      <p:sp>
        <p:nvSpPr>
          <p:cNvPr id="16" name="Text 14"/>
          <p:cNvSpPr/>
          <p:nvPr/>
        </p:nvSpPr>
        <p:spPr>
          <a:xfrm>
            <a:off x="6630539" y="2117375"/>
            <a:ext cx="1521462" cy="354216"/>
          </a:xfrm>
          <a:prstGeom prst="roundRect">
            <a:avLst>
              <a:gd name="adj" fmla="val 21512"/>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17" name="Text 15"/>
          <p:cNvSpPr/>
          <p:nvPr/>
        </p:nvSpPr>
        <p:spPr>
          <a:xfrm>
            <a:off x="6789130" y="2237333"/>
            <a:ext cx="1204280" cy="125403"/>
          </a:xfrm>
          <a:prstGeom prst="rect">
            <a:avLst/>
          </a:prstGeom>
          <a:noFill/>
          <a:ln/>
        </p:spPr>
        <p:txBody>
          <a:bodyPr wrap="none" lIns="0" tIns="0" rIns="0" bIns="0" rtlCol="0" anchor="t"/>
          <a:lstStyle/>
          <a:p>
            <a:pPr algn="l" indent="0" marL="0">
              <a:lnSpc>
                <a:spcPts val="1181"/>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18" name="Text 16"/>
          <p:cNvSpPr/>
          <p:nvPr/>
        </p:nvSpPr>
        <p:spPr>
          <a:xfrm>
            <a:off x="457200" y="2958852"/>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85800" y="2951708"/>
            <a:ext cx="2367376" cy="185166"/>
          </a:xfrm>
          <a:prstGeom prst="rect">
            <a:avLst/>
          </a:prstGeom>
          <a:noFill/>
          <a:ln/>
        </p:spPr>
        <p:txBody>
          <a:bodyPr wrap="square" lIns="0" tIns="0" rIns="0" bIns="0" rtlCol="0" anchor="t"/>
          <a:lstStyle/>
          <a:p>
            <a:pPr algn="l" indent="0" marL="0">
              <a:lnSpc>
                <a:spcPts val="1350"/>
              </a:lnSpc>
              <a:buNone/>
            </a:pPr>
            <a:r>
              <a:rPr lang="en-US" sz="900" dirty="0">
                <a:solidFill>
                  <a:srgbClr val="E0E0E0"/>
                </a:solidFill>
                <a:latin typeface="Carlito" pitchFamily="34" charset="0"/>
                <a:ea typeface="Carlito" pitchFamily="34" charset="-122"/>
                <a:cs typeface="Carlito" pitchFamily="34" charset="-120"/>
              </a:rPr>
              <a:t>Pure Python (zero compiled dependencies)</a:t>
            </a:r>
            <a:endParaRPr lang="en-US" sz="900" dirty="0"/>
          </a:p>
        </p:txBody>
      </p:sp>
      <p:sp>
        <p:nvSpPr>
          <p:cNvPr id="20" name="Text 18"/>
          <p:cNvSpPr/>
          <p:nvPr/>
        </p:nvSpPr>
        <p:spPr>
          <a:xfrm>
            <a:off x="3049265" y="2958852"/>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3277865" y="2951708"/>
            <a:ext cx="1722309" cy="185166"/>
          </a:xfrm>
          <a:prstGeom prst="rect">
            <a:avLst/>
          </a:prstGeom>
          <a:noFill/>
          <a:ln/>
        </p:spPr>
        <p:txBody>
          <a:bodyPr wrap="square" lIns="0" tIns="0" rIns="0" bIns="0" rtlCol="0" anchor="t"/>
          <a:lstStyle/>
          <a:p>
            <a:pPr algn="l" indent="0" marL="0">
              <a:lnSpc>
                <a:spcPts val="1350"/>
              </a:lnSpc>
              <a:buNone/>
            </a:pPr>
            <a:r>
              <a:rPr lang="en-US" sz="900" dirty="0">
                <a:solidFill>
                  <a:srgbClr val="E0E0E0"/>
                </a:solidFill>
                <a:latin typeface="Liberation Sans Narrow" pitchFamily="34" charset="0"/>
                <a:ea typeface="Liberation Sans Narrow" pitchFamily="34" charset="-122"/>
                <a:cs typeface="Liberation Sans Narrow" pitchFamily="34" charset="-120"/>
              </a:rPr>
              <a:t>py3-none-any wheel (universal)</a:t>
            </a:r>
            <a:endParaRPr lang="en-US" sz="900" dirty="0"/>
          </a:p>
        </p:txBody>
      </p:sp>
      <p:sp>
        <p:nvSpPr>
          <p:cNvPr id="22" name="Text 20"/>
          <p:cNvSpPr/>
          <p:nvPr/>
        </p:nvSpPr>
        <p:spPr>
          <a:xfrm>
            <a:off x="5044046" y="2958852"/>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5272646" y="2951708"/>
            <a:ext cx="2776767" cy="185166"/>
          </a:xfrm>
          <a:prstGeom prst="rect">
            <a:avLst/>
          </a:prstGeom>
          <a:noFill/>
          <a:ln/>
        </p:spPr>
        <p:txBody>
          <a:bodyPr wrap="square" lIns="0" tIns="0" rIns="0" bIns="0" rtlCol="0" anchor="t"/>
          <a:lstStyle/>
          <a:p>
            <a:pPr algn="l" indent="0" marL="0">
              <a:lnSpc>
                <a:spcPts val="1350"/>
              </a:lnSpc>
              <a:buNone/>
            </a:pPr>
            <a:r>
              <a:rPr lang="en-US" sz="900" dirty="0">
                <a:solidFill>
                  <a:srgbClr val="E0E0E0"/>
                </a:solidFill>
                <a:latin typeface="Carlito" pitchFamily="34" charset="0"/>
                <a:ea typeface="Carlito" pitchFamily="34" charset="-122"/>
                <a:cs typeface="Carlito" pitchFamily="34" charset="-120"/>
              </a:rPr>
              <a:t>Tested on Windows 10/11, Ubuntu/Debian, macOS</a:t>
            </a:r>
            <a:endParaRPr lang="en-US" sz="900" dirty="0"/>
          </a:p>
        </p:txBody>
      </p:sp>
      <p:sp>
        <p:nvSpPr>
          <p:cNvPr id="24" name="Text 22"/>
          <p:cNvSpPr/>
          <p:nvPr/>
        </p:nvSpPr>
        <p:spPr>
          <a:xfrm>
            <a:off x="457200" y="3323183"/>
            <a:ext cx="8229600" cy="164592"/>
          </a:xfrm>
          <a:prstGeom prst="rect">
            <a:avLst/>
          </a:prstGeom>
          <a:noFill/>
          <a:ln/>
        </p:spPr>
        <p:txBody>
          <a:bodyPr wrap="square" lIns="0" tIns="0" rIns="0" bIns="0" rtlCol="0" anchor="t"/>
          <a:lstStyle/>
          <a:p>
            <a:pPr algn="l" indent="0" marL="0">
              <a:lnSpc>
                <a:spcPts val="1181"/>
              </a:lnSpc>
              <a:buNone/>
            </a:pPr>
            <a:r>
              <a:rPr lang="en-US" sz="800" spc="17" kern="0" dirty="0">
                <a:solidFill>
                  <a:srgbClr val="888888"/>
                </a:solidFill>
                <a:latin typeface="Courier New" pitchFamily="34" charset="0"/>
                <a:ea typeface="Courier New" pitchFamily="34" charset="-122"/>
                <a:cs typeface="Courier New" pitchFamily="34" charset="-120"/>
              </a:rPr>
              <a:t>One codebase. Every platform. No compatibility hacks.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45720" y="342900"/>
            <a:ext cx="8636000" cy="339471"/>
          </a:xfrm>
          <a:prstGeom prst="rect">
            <a:avLst/>
          </a:prstGeom>
          <a:noFill/>
          <a:ln/>
        </p:spPr>
        <p:txBody>
          <a:bodyPr wrap="square" lIns="0" tIns="0" rIns="0" bIns="0" rtlCol="0" anchor="t"/>
          <a:lstStyle/>
          <a:p>
            <a:pPr algn="ctr" indent="0" marL="0">
              <a:lnSpc>
                <a:spcPts val="2475"/>
              </a:lnSpc>
              <a:buNone/>
            </a:pPr>
            <a:r>
              <a:rPr lang="en-US" sz="2250" b="1" dirty="0">
                <a:solidFill>
                  <a:srgbClr val="00FF41"/>
                </a:solidFill>
                <a:latin typeface="Liberation Sans Narrow" pitchFamily="34" charset="0"/>
                <a:ea typeface="Liberation Sans Narrow" pitchFamily="34" charset="-122"/>
                <a:cs typeface="Liberation Sans Narrow" pitchFamily="34" charset="-120"/>
              </a:rPr>
              <a:t>START HUNTING IN 30 SECONDS.</a:t>
            </a:r>
            <a:endParaRPr lang="en-US" sz="2250" dirty="0"/>
          </a:p>
        </p:txBody>
      </p:sp>
      <p:sp>
        <p:nvSpPr>
          <p:cNvPr id="3" name="Text 1"/>
          <p:cNvSpPr/>
          <p:nvPr/>
        </p:nvSpPr>
        <p:spPr>
          <a:xfrm>
            <a:off x="460772" y="832247"/>
            <a:ext cx="8222456" cy="635794"/>
          </a:xfrm>
          <a:prstGeom prst="roundRect">
            <a:avLst>
              <a:gd name="adj" fmla="val 20974"/>
            </a:avLst>
          </a:prstGeom>
          <a:solidFill>
            <a:srgbClr val="111111"/>
          </a:solidFill>
          <a:ln w="7144">
            <a:solidFill>
              <a:srgbClr val="00FF41"/>
            </a:solidFill>
            <a:prstDash val="solid"/>
          </a:ln>
          <a:effectLst>
            <a:outerShdw sx="100000" sy="100000" kx="0" ky="0" algn="bl" rotWithShape="0" blurRad="381000" dist="50800" dir="16200000">
              <a:srgbClr val="00FF41">
                <a:alpha val="8000"/>
              </a:srgbClr>
            </a:outerShdw>
          </a:effectLst>
        </p:spPr>
        <p:txBody>
          <a:bodyPr wrap="square" rtlCol="0" anchor="ctr"/>
          <a:lstStyle/>
          <a:p>
            <a:pPr indent="0" marL="0">
              <a:buNone/>
            </a:pPr>
            <a:endParaRPr lang="en-US" dirty="0"/>
          </a:p>
        </p:txBody>
      </p:sp>
      <p:sp>
        <p:nvSpPr>
          <p:cNvPr id="4" name="Text 2"/>
          <p:cNvSpPr/>
          <p:nvPr/>
        </p:nvSpPr>
        <p:spPr>
          <a:xfrm>
            <a:off x="3000933" y="978694"/>
            <a:ext cx="3784792" cy="342900"/>
          </a:xfrm>
          <a:prstGeom prst="rect">
            <a:avLst/>
          </a:prstGeom>
          <a:noFill/>
          <a:ln/>
        </p:spPr>
        <p:txBody>
          <a:bodyPr wrap="none" lIns="0" tIns="0" rIns="0" bIns="0" rtlCol="0" anchor="t"/>
          <a:lstStyle/>
          <a:p>
            <a:pPr algn="l" indent="0" marL="0">
              <a:lnSpc>
                <a:spcPts val="2700"/>
              </a:lnSpc>
              <a:buNone/>
            </a:pPr>
            <a:r>
              <a:rPr lang="en-US" sz="1800" b="1" dirty="0">
                <a:solidFill>
                  <a:srgbClr val="00FF41"/>
                </a:solidFill>
                <a:latin typeface="Courier New" pitchFamily="34" charset="0"/>
                <a:ea typeface="Courier New" pitchFamily="34" charset="-122"/>
                <a:cs typeface="Courier New" pitchFamily="34" charset="-120"/>
              </a:rPr>
              <a:t>$ pip install reconpro</a:t>
            </a:r>
            <a:endParaRPr lang="en-US" sz="1800" dirty="0"/>
          </a:p>
        </p:txBody>
      </p:sp>
      <p:sp>
        <p:nvSpPr>
          <p:cNvPr id="5" name="Text 3"/>
          <p:cNvSpPr/>
          <p:nvPr/>
        </p:nvSpPr>
        <p:spPr>
          <a:xfrm>
            <a:off x="6057342" y="1050131"/>
            <a:ext cx="85725" cy="200025"/>
          </a:xfrm>
          <a:prstGeom prst="rect">
            <a:avLst/>
          </a:prstGeom>
          <a:solidFill>
            <a:srgbClr val="00FF41">
              <a:alpha val="0"/>
            </a:srgbClr>
          </a:solidFill>
          <a:ln/>
        </p:spPr>
        <p:txBody>
          <a:bodyPr wrap="square" rtlCol="0" anchor="ctr"/>
          <a:lstStyle/>
          <a:p>
            <a:pPr indent="0" marL="0">
              <a:buNone/>
            </a:pPr>
            <a:endParaRPr lang="en-US" dirty="0"/>
          </a:p>
        </p:txBody>
      </p:sp>
      <p:sp>
        <p:nvSpPr>
          <p:cNvPr id="6" name="Text 4"/>
          <p:cNvSpPr/>
          <p:nvPr/>
        </p:nvSpPr>
        <p:spPr>
          <a:xfrm>
            <a:off x="457200" y="1760934"/>
            <a:ext cx="171450" cy="171450"/>
          </a:xfrm>
          <a:prstGeom prst="rect">
            <a:avLst/>
          </a:prstGeom>
          <a:noFill/>
          <a:ln/>
        </p:spPr>
        <p:txBody>
          <a:bodyPr wrap="none" lIns="0" tIns="0" rIns="0" bIns="0" rtlCol="0" anchor="ctr"/>
          <a:lstStyle/>
          <a:p>
            <a:pPr algn="ctr" indent="0" marL="0">
              <a:buNone/>
            </a:pPr>
            <a:r>
              <a:rPr lang="en-US" sz="1688" dirty="0">
                <a:solidFill>
                  <a:srgbClr val="00FF41"/>
                </a:solidFill>
                <a:latin typeface="Segoe UI Symbol" pitchFamily="34" charset="0"/>
                <a:ea typeface="Segoe UI Symbol" pitchFamily="34" charset="-122"/>
                <a:cs typeface="Segoe UI Symbol" pitchFamily="34" charset="-120"/>
              </a:rPr>
              <a:t>⌕</a:t>
            </a:r>
            <a:endParaRPr lang="en-US" sz="1688" dirty="0"/>
          </a:p>
        </p:txBody>
      </p:sp>
      <p:sp>
        <p:nvSpPr>
          <p:cNvPr id="7" name="Text 5"/>
          <p:cNvSpPr/>
          <p:nvPr/>
        </p:nvSpPr>
        <p:spPr>
          <a:xfrm>
            <a:off x="728663" y="1671638"/>
            <a:ext cx="2959385" cy="164592"/>
          </a:xfrm>
          <a:prstGeom prst="rect">
            <a:avLst/>
          </a:prstGeom>
          <a:noFill/>
          <a:ln/>
        </p:spPr>
        <p:txBody>
          <a:bodyPr wrap="none" lIns="0" tIns="0" rIns="0" bIns="0" rtlCol="0" anchor="t"/>
          <a:lstStyle/>
          <a:p>
            <a:pPr algn="l" indent="0" marL="0">
              <a:lnSpc>
                <a:spcPts val="1181"/>
              </a:lnSpc>
              <a:buNone/>
            </a:pPr>
            <a:r>
              <a:rPr lang="en-US" sz="800" spc="28" kern="0" dirty="0">
                <a:solidFill>
                  <a:srgbClr val="888888"/>
                </a:solidFill>
                <a:latin typeface="Carlito" pitchFamily="34" charset="0"/>
                <a:ea typeface="Carlito" pitchFamily="34" charset="-122"/>
                <a:cs typeface="Carlito" pitchFamily="34" charset="-120"/>
              </a:rPr>
              <a:t>SCAN A TARGET</a:t>
            </a:r>
            <a:endParaRPr lang="en-US" sz="800" dirty="0"/>
          </a:p>
        </p:txBody>
      </p:sp>
      <p:sp>
        <p:nvSpPr>
          <p:cNvPr id="8" name="Text 6"/>
          <p:cNvSpPr/>
          <p:nvPr/>
        </p:nvSpPr>
        <p:spPr>
          <a:xfrm>
            <a:off x="728663" y="1871663"/>
            <a:ext cx="2647657" cy="138875"/>
          </a:xfrm>
          <a:prstGeom prst="rect">
            <a:avLst/>
          </a:prstGeom>
          <a:noFill/>
          <a:ln/>
        </p:spPr>
        <p:txBody>
          <a:bodyPr wrap="square" lIns="0" tIns="0" rIns="0" bIns="0" rtlCol="0" anchor="t"/>
          <a:lstStyle/>
          <a:p>
            <a:pPr algn="l" indent="0" marL="0">
              <a:lnSpc>
                <a:spcPts val="1266"/>
              </a:lnSpc>
              <a:buNone/>
            </a:pPr>
            <a:r>
              <a:rPr lang="en-US" sz="844" dirty="0">
                <a:solidFill>
                  <a:srgbClr val="E0E0E0"/>
                </a:solidFill>
                <a:latin typeface="Courier New" pitchFamily="34" charset="0"/>
                <a:ea typeface="Courier New" pitchFamily="34" charset="-122"/>
                <a:cs typeface="Courier New" pitchFamily="34" charset="-120"/>
              </a:rPr>
              <a:t>reconpro scan --target your-domain.com</a:t>
            </a:r>
            <a:endParaRPr lang="en-US" sz="844" dirty="0"/>
          </a:p>
        </p:txBody>
      </p:sp>
      <p:sp>
        <p:nvSpPr>
          <p:cNvPr id="9" name="Text 7"/>
          <p:cNvSpPr/>
          <p:nvPr/>
        </p:nvSpPr>
        <p:spPr>
          <a:xfrm>
            <a:off x="4657725" y="1760934"/>
            <a:ext cx="171450" cy="171450"/>
          </a:xfrm>
          <a:prstGeom prst="rect">
            <a:avLst/>
          </a:prstGeom>
          <a:noFill/>
          <a:ln/>
        </p:spPr>
        <p:txBody>
          <a:bodyPr wrap="none" lIns="0" tIns="0" rIns="0" bIns="0" rtlCol="0" anchor="ctr"/>
          <a:lstStyle/>
          <a:p>
            <a:pPr algn="ctr" indent="0" marL="0">
              <a:buNone/>
            </a:pPr>
            <a:r>
              <a:rPr lang="en-US" sz="1688" dirty="0">
                <a:solidFill>
                  <a:srgbClr val="00FF41"/>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4929188" y="1671638"/>
            <a:ext cx="3115149" cy="164592"/>
          </a:xfrm>
          <a:prstGeom prst="rect">
            <a:avLst/>
          </a:prstGeom>
          <a:noFill/>
          <a:ln/>
        </p:spPr>
        <p:txBody>
          <a:bodyPr wrap="none" lIns="0" tIns="0" rIns="0" bIns="0" rtlCol="0" anchor="t"/>
          <a:lstStyle/>
          <a:p>
            <a:pPr algn="l" indent="0" marL="0">
              <a:lnSpc>
                <a:spcPts val="1181"/>
              </a:lnSpc>
              <a:buNone/>
            </a:pPr>
            <a:r>
              <a:rPr lang="en-US" sz="800" spc="28" kern="0" dirty="0">
                <a:solidFill>
                  <a:srgbClr val="888888"/>
                </a:solidFill>
                <a:latin typeface="Carlito" pitchFamily="34" charset="0"/>
                <a:ea typeface="Carlito" pitchFamily="34" charset="-122"/>
                <a:cs typeface="Carlito" pitchFamily="34" charset="-120"/>
              </a:rPr>
              <a:t>RUN GORGON ULTRA</a:t>
            </a:r>
            <a:endParaRPr lang="en-US" sz="800" dirty="0"/>
          </a:p>
        </p:txBody>
      </p:sp>
      <p:sp>
        <p:nvSpPr>
          <p:cNvPr id="11" name="Text 9"/>
          <p:cNvSpPr/>
          <p:nvPr/>
        </p:nvSpPr>
        <p:spPr>
          <a:xfrm>
            <a:off x="4929188" y="1871663"/>
            <a:ext cx="2787014" cy="138875"/>
          </a:xfrm>
          <a:prstGeom prst="rect">
            <a:avLst/>
          </a:prstGeom>
          <a:noFill/>
          <a:ln/>
        </p:spPr>
        <p:txBody>
          <a:bodyPr wrap="square" lIns="0" tIns="0" rIns="0" bIns="0" rtlCol="0" anchor="t"/>
          <a:lstStyle/>
          <a:p>
            <a:pPr algn="l" indent="0" marL="0">
              <a:lnSpc>
                <a:spcPts val="1266"/>
              </a:lnSpc>
              <a:buNone/>
            </a:pPr>
            <a:r>
              <a:rPr lang="en-US" sz="844" dirty="0">
                <a:solidFill>
                  <a:srgbClr val="E0E0E0"/>
                </a:solidFill>
                <a:latin typeface="Courier New" pitchFamily="34" charset="0"/>
                <a:ea typeface="Courier New" pitchFamily="34" charset="-122"/>
                <a:cs typeface="Courier New" pitchFamily="34" charset="-120"/>
              </a:rPr>
              <a:t>reconpro gorgon --target your-domain.com</a:t>
            </a:r>
            <a:endParaRPr lang="en-US" sz="844" dirty="0"/>
          </a:p>
        </p:txBody>
      </p:sp>
      <p:sp>
        <p:nvSpPr>
          <p:cNvPr id="12" name="Text 10"/>
          <p:cNvSpPr/>
          <p:nvPr/>
        </p:nvSpPr>
        <p:spPr>
          <a:xfrm>
            <a:off x="460772" y="3914775"/>
            <a:ext cx="2640732" cy="939403"/>
          </a:xfrm>
          <a:prstGeom prst="roundRect">
            <a:avLst>
              <a:gd name="adj" fmla="val 1216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3" name="Text 11"/>
          <p:cNvSpPr/>
          <p:nvPr/>
        </p:nvSpPr>
        <p:spPr>
          <a:xfrm>
            <a:off x="621506" y="4061222"/>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621506" y="4332684"/>
            <a:ext cx="2319263" cy="196739"/>
          </a:xfrm>
          <a:prstGeom prst="rect">
            <a:avLst/>
          </a:prstGeom>
          <a:noFill/>
          <a:ln/>
        </p:spPr>
        <p:txBody>
          <a:bodyPr wrap="none" lIns="0" tIns="0" rIns="0" bIns="0" rtlCol="0" anchor="t"/>
          <a:lstStyle/>
          <a:p>
            <a:pPr algn="l" indent="0" marL="0">
              <a:lnSpc>
                <a:spcPts val="1434"/>
              </a:lnSpc>
              <a:buNone/>
            </a:pPr>
            <a:r>
              <a:rPr lang="en-US" sz="956" b="1" dirty="0">
                <a:solidFill>
                  <a:srgbClr val="FFFFFF"/>
                </a:solidFill>
                <a:latin typeface="Courier New" pitchFamily="34" charset="0"/>
                <a:ea typeface="Courier New" pitchFamily="34" charset="-122"/>
                <a:cs typeface="Courier New" pitchFamily="34" charset="-120"/>
              </a:rPr>
              <a:t>Free Forever</a:t>
            </a:r>
            <a:endParaRPr lang="en-US" sz="956" dirty="0"/>
          </a:p>
        </p:txBody>
      </p:sp>
      <p:sp>
        <p:nvSpPr>
          <p:cNvPr id="15" name="Text 13"/>
          <p:cNvSpPr/>
          <p:nvPr/>
        </p:nvSpPr>
        <p:spPr>
          <a:xfrm>
            <a:off x="621506" y="4557713"/>
            <a:ext cx="2428991"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No SaaS, no subscription, MIT license</a:t>
            </a:r>
            <a:endParaRPr lang="en-US" sz="800" dirty="0"/>
          </a:p>
        </p:txBody>
      </p:sp>
      <p:sp>
        <p:nvSpPr>
          <p:cNvPr id="16" name="Text 14"/>
          <p:cNvSpPr/>
          <p:nvPr/>
        </p:nvSpPr>
        <p:spPr>
          <a:xfrm>
            <a:off x="3251522" y="3914775"/>
            <a:ext cx="2640843" cy="939403"/>
          </a:xfrm>
          <a:prstGeom prst="roundRect">
            <a:avLst>
              <a:gd name="adj" fmla="val 1216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7" name="Text 15"/>
          <p:cNvSpPr/>
          <p:nvPr/>
        </p:nvSpPr>
        <p:spPr>
          <a:xfrm>
            <a:off x="3412257" y="4061222"/>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18" name="Text 16"/>
          <p:cNvSpPr/>
          <p:nvPr/>
        </p:nvSpPr>
        <p:spPr>
          <a:xfrm>
            <a:off x="3412257" y="4332684"/>
            <a:ext cx="2319375" cy="196739"/>
          </a:xfrm>
          <a:prstGeom prst="rect">
            <a:avLst/>
          </a:prstGeom>
          <a:noFill/>
          <a:ln/>
        </p:spPr>
        <p:txBody>
          <a:bodyPr wrap="none" lIns="0" tIns="0" rIns="0" bIns="0" rtlCol="0" anchor="t"/>
          <a:lstStyle/>
          <a:p>
            <a:pPr algn="l" indent="0" marL="0">
              <a:lnSpc>
                <a:spcPts val="1434"/>
              </a:lnSpc>
              <a:buNone/>
            </a:pPr>
            <a:r>
              <a:rPr lang="en-US" sz="956" b="1" dirty="0">
                <a:solidFill>
                  <a:srgbClr val="FFFFFF"/>
                </a:solidFill>
                <a:latin typeface="Courier New" pitchFamily="34" charset="0"/>
                <a:ea typeface="Courier New" pitchFamily="34" charset="-122"/>
                <a:cs typeface="Courier New" pitchFamily="34" charset="-120"/>
              </a:rPr>
              <a:t>Open Source</a:t>
            </a:r>
            <a:endParaRPr lang="en-US" sz="956" dirty="0"/>
          </a:p>
        </p:txBody>
      </p:sp>
      <p:sp>
        <p:nvSpPr>
          <p:cNvPr id="19" name="Text 17"/>
          <p:cNvSpPr/>
          <p:nvPr/>
        </p:nvSpPr>
        <p:spPr>
          <a:xfrm>
            <a:off x="3412257" y="4557713"/>
            <a:ext cx="2429103"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Community driven, transparent code</a:t>
            </a:r>
            <a:endParaRPr lang="en-US" sz="800" dirty="0"/>
          </a:p>
        </p:txBody>
      </p:sp>
      <p:sp>
        <p:nvSpPr>
          <p:cNvPr id="20" name="Text 18"/>
          <p:cNvSpPr/>
          <p:nvPr/>
        </p:nvSpPr>
        <p:spPr>
          <a:xfrm>
            <a:off x="6042385" y="3914775"/>
            <a:ext cx="2640732" cy="939403"/>
          </a:xfrm>
          <a:prstGeom prst="roundRect">
            <a:avLst>
              <a:gd name="adj" fmla="val 1216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21" name="Text 19"/>
          <p:cNvSpPr/>
          <p:nvPr/>
        </p:nvSpPr>
        <p:spPr>
          <a:xfrm>
            <a:off x="6203119" y="4061222"/>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22" name="Text 20"/>
          <p:cNvSpPr/>
          <p:nvPr/>
        </p:nvSpPr>
        <p:spPr>
          <a:xfrm>
            <a:off x="6203119" y="4332684"/>
            <a:ext cx="2319263" cy="196739"/>
          </a:xfrm>
          <a:prstGeom prst="rect">
            <a:avLst/>
          </a:prstGeom>
          <a:noFill/>
          <a:ln/>
        </p:spPr>
        <p:txBody>
          <a:bodyPr wrap="none" lIns="0" tIns="0" rIns="0" bIns="0" rtlCol="0" anchor="t"/>
          <a:lstStyle/>
          <a:p>
            <a:pPr algn="l" indent="0" marL="0">
              <a:lnSpc>
                <a:spcPts val="1434"/>
              </a:lnSpc>
              <a:buNone/>
            </a:pPr>
            <a:r>
              <a:rPr lang="en-US" sz="956" b="1" dirty="0">
                <a:solidFill>
                  <a:srgbClr val="FFFFFF"/>
                </a:solidFill>
                <a:latin typeface="Courier New" pitchFamily="34" charset="0"/>
                <a:ea typeface="Courier New" pitchFamily="34" charset="-122"/>
                <a:cs typeface="Courier New" pitchFamily="34" charset="-120"/>
              </a:rPr>
              <a:t>Zero Dependencies</a:t>
            </a:r>
            <a:endParaRPr lang="en-US" sz="956" dirty="0"/>
          </a:p>
        </p:txBody>
      </p:sp>
      <p:sp>
        <p:nvSpPr>
          <p:cNvPr id="23" name="Text 21"/>
          <p:cNvSpPr/>
          <p:nvPr/>
        </p:nvSpPr>
        <p:spPr>
          <a:xfrm>
            <a:off x="6203119" y="4557713"/>
            <a:ext cx="2428991"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Pure Python, no compiled libs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1431"/>
          </a:xfrm>
          <a:prstGeom prst="rect">
            <a:avLst/>
          </a:prstGeom>
        </p:spPr>
      </p:pic>
      <p:pic>
        <p:nvPicPr>
          <p:cNvPr id="3" name="Image 1" descr="preencoded.png">    </p:cNvPr>
          <p:cNvPicPr>
            <a:picLocks noChangeAspect="1"/>
          </p:cNvPicPr>
          <p:nvPr/>
        </p:nvPicPr>
        <p:blipFill>
          <a:blip r:embed="rId2"/>
          <a:stretch>
            <a:fillRect/>
          </a:stretch>
        </p:blipFill>
        <p:spPr>
          <a:xfrm>
            <a:off x="0" y="2571750"/>
            <a:ext cx="9144000" cy="7144"/>
          </a:xfrm>
          <a:prstGeom prst="rect">
            <a:avLst/>
          </a:prstGeom>
        </p:spPr>
      </p:pic>
      <p:sp>
        <p:nvSpPr>
          <p:cNvPr id="4" name="Text 0"/>
          <p:cNvSpPr/>
          <p:nvPr/>
        </p:nvSpPr>
        <p:spPr>
          <a:xfrm>
            <a:off x="274320" y="1139428"/>
            <a:ext cx="8595360" cy="833247"/>
          </a:xfrm>
          <a:prstGeom prst="rect">
            <a:avLst/>
          </a:prstGeom>
          <a:noFill/>
          <a:ln/>
          <a:effectLst>
            <a:outerShdw sx="100000" sy="100000" kx="0" ky="0" algn="bl" rotWithShape="0" blurRad="205777" dist="50800" dir="16200000">
              <a:srgbClr val="00FF41">
                <a:alpha val="43000"/>
              </a:srgbClr>
            </a:outerShdw>
          </a:effectLst>
        </p:spPr>
        <p:txBody>
          <a:bodyPr wrap="none" lIns="0" tIns="0" rIns="0" bIns="0" rtlCol="0" anchor="t"/>
          <a:lstStyle/>
          <a:p>
            <a:pPr algn="ctr" indent="0" marL="0">
              <a:lnSpc>
                <a:spcPts val="6075"/>
              </a:lnSpc>
              <a:buNone/>
            </a:pPr>
            <a:r>
              <a:rPr lang="en-US" sz="4050" b="1" spc="225" kern="0" dirty="0">
                <a:solidFill>
                  <a:srgbClr val="00FF41"/>
                </a:solidFill>
                <a:latin typeface="Courier New" pitchFamily="34" charset="0"/>
                <a:ea typeface="Courier New" pitchFamily="34" charset="-122"/>
                <a:cs typeface="Courier New" pitchFamily="34" charset="-120"/>
              </a:rPr>
              <a:t>RECONPRO</a:t>
            </a:r>
            <a:endParaRPr lang="en-US" sz="4050" dirty="0"/>
          </a:p>
        </p:txBody>
      </p:sp>
      <p:sp>
        <p:nvSpPr>
          <p:cNvPr id="5" name="Text 1"/>
          <p:cNvSpPr/>
          <p:nvPr/>
        </p:nvSpPr>
        <p:spPr>
          <a:xfrm>
            <a:off x="2842101" y="2053828"/>
            <a:ext cx="3459687" cy="254603"/>
          </a:xfrm>
          <a:prstGeom prst="rect">
            <a:avLst/>
          </a:prstGeom>
          <a:noFill/>
          <a:ln/>
        </p:spPr>
        <p:txBody>
          <a:bodyPr wrap="square" lIns="0" tIns="0" rIns="0" bIns="0" rtlCol="0" anchor="t"/>
          <a:lstStyle/>
          <a:p>
            <a:pPr algn="ctr" indent="0" marL="0">
              <a:lnSpc>
                <a:spcPts val="1856"/>
              </a:lnSpc>
              <a:buNone/>
            </a:pPr>
            <a:r>
              <a:rPr lang="en-US" sz="1238" dirty="0">
                <a:solidFill>
                  <a:srgbClr val="E0E0E0"/>
                </a:solidFill>
                <a:latin typeface="Carlito" pitchFamily="34" charset="0"/>
                <a:ea typeface="Carlito" pitchFamily="34" charset="-122"/>
                <a:cs typeface="Carlito" pitchFamily="34" charset="-120"/>
              </a:rPr>
              <a:t>The future of recon is open. The future is now.</a:t>
            </a:r>
            <a:endParaRPr lang="en-US" sz="1238" dirty="0"/>
          </a:p>
        </p:txBody>
      </p:sp>
      <p:sp>
        <p:nvSpPr>
          <p:cNvPr id="6" name="Text 2"/>
          <p:cNvSpPr/>
          <p:nvPr/>
        </p:nvSpPr>
        <p:spPr>
          <a:xfrm>
            <a:off x="3198837" y="2578894"/>
            <a:ext cx="2746325" cy="550069"/>
          </a:xfrm>
          <a:prstGeom prst="roundRect">
            <a:avLst>
              <a:gd name="adj" fmla="val 20779"/>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7" name="Text 3"/>
          <p:cNvSpPr/>
          <p:nvPr/>
        </p:nvSpPr>
        <p:spPr>
          <a:xfrm>
            <a:off x="3488159" y="2725341"/>
            <a:ext cx="2167682" cy="257175"/>
          </a:xfrm>
          <a:prstGeom prst="rect">
            <a:avLst/>
          </a:prstGeom>
          <a:noFill/>
          <a:ln/>
        </p:spPr>
        <p:txBody>
          <a:bodyPr wrap="none" lIns="0" tIns="0" rIns="0" bIns="0" rtlCol="0" anchor="t"/>
          <a:lstStyle/>
          <a:p>
            <a:pPr algn="ctr" indent="0" marL="0">
              <a:lnSpc>
                <a:spcPts val="2025"/>
              </a:lnSpc>
              <a:buNone/>
            </a:pPr>
            <a:r>
              <a:rPr lang="en-US" sz="1350" dirty="0">
                <a:solidFill>
                  <a:srgbClr val="00FF41"/>
                </a:solidFill>
                <a:latin typeface="Courier New" pitchFamily="34" charset="0"/>
                <a:ea typeface="Courier New" pitchFamily="34" charset="-122"/>
                <a:cs typeface="Courier New" pitchFamily="34" charset="-120"/>
              </a:rPr>
              <a:t>pip install reconpro</a:t>
            </a:r>
            <a:endParaRPr lang="en-US" sz="1350" dirty="0"/>
          </a:p>
        </p:txBody>
      </p:sp>
      <p:sp>
        <p:nvSpPr>
          <p:cNvPr id="8" name="Text 4"/>
          <p:cNvSpPr/>
          <p:nvPr/>
        </p:nvSpPr>
        <p:spPr>
          <a:xfrm>
            <a:off x="2071464" y="3420070"/>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9" name="Text 5"/>
          <p:cNvSpPr/>
          <p:nvPr/>
        </p:nvSpPr>
        <p:spPr>
          <a:xfrm>
            <a:off x="2209745" y="3418284"/>
            <a:ext cx="2438622" cy="173593"/>
          </a:xfrm>
          <a:prstGeom prst="rect">
            <a:avLst/>
          </a:prstGeom>
          <a:noFill/>
          <a:ln/>
        </p:spPr>
        <p:txBody>
          <a:bodyPr wrap="square" lIns="0" tIns="0" rIns="0" bIns="0" rtlCol="0" anchor="t"/>
          <a:lstStyle/>
          <a:p>
            <a:pPr algn="ctr" indent="0" marL="0">
              <a:lnSpc>
                <a:spcPts val="1266"/>
              </a:lnSpc>
              <a:buNone/>
            </a:pPr>
            <a:r>
              <a:rPr lang="en-US" sz="844" dirty="0">
                <a:solidFill>
                  <a:srgbClr val="888888"/>
                </a:solidFill>
                <a:latin typeface="Courier New" pitchFamily="34" charset="0"/>
                <a:ea typeface="Courier New" pitchFamily="34" charset="-122"/>
                <a:cs typeface="Courier New" pitchFamily="34" charset="-120"/>
              </a:rPr>
              <a:t>GitHub: github.com/vibesec/reconpro</a:t>
            </a:r>
            <a:endParaRPr lang="en-US" sz="844" dirty="0"/>
          </a:p>
        </p:txBody>
      </p:sp>
      <p:sp>
        <p:nvSpPr>
          <p:cNvPr id="10" name="Text 6"/>
          <p:cNvSpPr/>
          <p:nvPr/>
        </p:nvSpPr>
        <p:spPr>
          <a:xfrm>
            <a:off x="4843797" y="3420070"/>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1" name="Text 7"/>
          <p:cNvSpPr/>
          <p:nvPr/>
        </p:nvSpPr>
        <p:spPr>
          <a:xfrm>
            <a:off x="4992396" y="3418284"/>
            <a:ext cx="2160029" cy="173593"/>
          </a:xfrm>
          <a:prstGeom prst="rect">
            <a:avLst/>
          </a:prstGeom>
          <a:noFill/>
          <a:ln/>
        </p:spPr>
        <p:txBody>
          <a:bodyPr wrap="square" lIns="0" tIns="0" rIns="0" bIns="0" rtlCol="0" anchor="t"/>
          <a:lstStyle/>
          <a:p>
            <a:pPr algn="ctr" indent="0" marL="0">
              <a:lnSpc>
                <a:spcPts val="1266"/>
              </a:lnSpc>
              <a:buNone/>
            </a:pPr>
            <a:r>
              <a:rPr lang="en-US" sz="844" dirty="0">
                <a:solidFill>
                  <a:srgbClr val="888888"/>
                </a:solidFill>
                <a:latin typeface="Courier New" pitchFamily="34" charset="0"/>
                <a:ea typeface="Courier New" pitchFamily="34" charset="-122"/>
                <a:cs typeface="Courier New" pitchFamily="34" charset="-120"/>
              </a:rPr>
              <a:t>PyPI: pypi.org/project/reconpro</a:t>
            </a:r>
            <a:endParaRPr lang="en-US" sz="844" dirty="0"/>
          </a:p>
        </p:txBody>
      </p:sp>
      <p:sp>
        <p:nvSpPr>
          <p:cNvPr id="12" name="Text 8"/>
          <p:cNvSpPr/>
          <p:nvPr/>
        </p:nvSpPr>
        <p:spPr>
          <a:xfrm>
            <a:off x="2588175" y="3864769"/>
            <a:ext cx="3967538" cy="164592"/>
          </a:xfrm>
          <a:prstGeom prst="rect">
            <a:avLst/>
          </a:prstGeom>
          <a:noFill/>
          <a:ln/>
        </p:spPr>
        <p:txBody>
          <a:bodyPr wrap="square" lIns="0" tIns="0" rIns="0" bIns="0" rtlCol="0" anchor="t"/>
          <a:lstStyle/>
          <a:p>
            <a:pPr algn="ctr" indent="0" marL="0">
              <a:lnSpc>
                <a:spcPts val="1097"/>
              </a:lnSpc>
              <a:buNone/>
            </a:pPr>
            <a:r>
              <a:rPr lang="en-US" sz="800" spc="113" kern="0" dirty="0">
                <a:solidFill>
                  <a:srgbClr val="555555"/>
                </a:solidFill>
                <a:latin typeface="Courier New" pitchFamily="34" charset="0"/>
                <a:ea typeface="Courier New" pitchFamily="34" charset="-122"/>
                <a:cs typeface="Courier New" pitchFamily="34" charset="-120"/>
              </a:rPr>
              <a:t>BUILT BY DEFENDERS. FOR DEFENDERS. ALWAYS FREE.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2026-08-16T15:47:44Z</dcterms:created>
  <dcterms:modified xsi:type="dcterms:W3CDTF">2026-08-16T15:47:44Z</dcterms:modified>
</cp:coreProperties>
</file>