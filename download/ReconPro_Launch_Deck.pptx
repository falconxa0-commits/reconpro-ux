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single minute of every single day, another company gets breached. The attackers are fast, automated, and relentless — they share toolkits on the dark web, they chain zero-days with supply chain exploits, and they dwell inside networks for months before anyone notices. Meanwhile, defenders are drowning. They're juggling ten different tools, none of which talk to each other, running manual checklists that were outdated the day they were written, and drowning in alert fatigue from SIEM systems that cry wolf thousands of times a day. That's why we built ReconPro — a free, open-source weapon for the good guys. It's on PyPI right now. Anyone — a solo consultant, a blue team lead, a CISO — can install it with a single command and start hunting threats in under thirty seconds. No SaaS, no subscription, no vendor lock-in. Just pure, uncompromising reconnaissance power.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paint the picture for you. IBM's Cost of a Data Breach report found that the average organization takes two hundred and seven days just to detect that they've been compromised. That's seven months of an attacker living inside your network, exfiltrating data, establishing persistence, moving laterally. Meanwhile, on the defensive side, security teams are overwhelmed. A typical SOC analyst is juggling ten or more disconnected tools — one for recon, one for vuln scanning, one for threat intel, one for compliance reporting. None of these tools talk to each other. Alert fatigue is real and dangerous: studies show that SOC teams ignore or dismiss up to thirty percent of alerts because they simply can't keep up. The financial impact is staggering — the average breach now costs four point four five million dollars. The problem isn't a lack of effort. The problem is that defenders are fighting a modern war with fragmented, legacy tools. ReconPro was built to fix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what's the answer? ReconPro. One tool that replaces ten or more of those disconnected point solutions you're currently juggling. It's completely free — MIT licensed, open source, no SaaS, no subscription, no trial period that expires, no feature gating. You get all fourteen scan modules, all six enterprise integrations, all seven compliance frameworks, and all thirty-three CLI commands from day one. The entire platform installs with a single pip command and runs on Windows, Linux, and macOS without any compiled dependencies. No vendor lock-in, no proprietary agents, no data leaving your network. We built this because we were tired of watching defenders fight with one hand tied behind their back. ReconPro levels the playing field. One command to install, one command to scan, and you're hunting threats in thirty seconds. That's the promise, and it delivers.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we're going to dive deep into the core of ReconPro — the Scan Engine. This is where the heavy lifting happens. Over the next few slides, we're going to walk through three flagship modules that set ReconPro apart from every other open-source security tool out there. First, GORGON ULTRA — a fifteen-stage threat analysis engine that produces something called the Fear Index. Second, OBLIVION — a twenty-stage deep vulnerability scanner with its own DREAD scoring system and a severity level that goes above critical. And third, PEGASUS HUNTER — a module specifically designed to detect the world's most sophisticated spyware, including indicators from Pegasus and other nation-state malware. These three modules represent the cutting edge of what's possible in open-source security tooling. Let's start with GORGON.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GORGON ULTRA is the crown jewel of the Scan Engine. It runs fifteen sequential analysis stages against a target — and I want to stress that word sequential, because each stage's output feeds into the next. It starts with basic fingerprinting and technology detection, moves through port scanning and TLS auditing, then dives into DNS reconnaissance, SSL verification, cookie and header analysis. After that, it probes for information leaks and known vulnerabilities, runs active XSS, SQL injection, and remote code execution tests, and finishes with a configuration audit. All fifteen stages converge into what we call the Fear Index. The Fear Index takes all of those disparate findings and synthesizes them into a single threat score with five levels: Subtle, Notable, Alarming, Devastating, and Omnipotent. No other open-source tool provides this kind of unified threat quantification. You can look at one number and instantly understand how badly a target is exposed. That's the power of GORGON.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OBLIVION is ReconPro's deep vulnerability scanner, and it's a beast. While GORGON focuses on threat assessment and synthesis, OBLIVION goes deep — twenty analysis stages that include SQL injection probing, cross-site scripting hunting, server-side request forgery chain exploitation, path traversal detection, and much more. Every single finding is scored on the DREAD scale: Info, Low, Medium, High, Critical. But here's what makes OBLIVION unique — it introduces a sixth severity level called TRANSCENDENT. This is a level above critical, reserved for vulnerabilities that aren't just severe in isolation but that chain together to create existential threats. Only OBLIVION uses this level. Beyond scoring, OBLIVION has two features you won't find anywhere else. Wisdom Verdict is an AI-powered summary that takes all twenty stages of output and gives you a plain-English assessment of the target's security posture. Mirror Fracture decomposes the attack surface and shows you exactly how individual vulnerabilities chain together into a complete kill chain. These two features alone justify the entire platform.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PEGASUS HUNTER is our third flagship module, and it tackles a problem most open-source tools completely ignore: nation-state spyware detection. We've compiled a curated threat intelligence database of 135 known command-and-control domains associated with Pegasus, Hermit Worm, and other sophisticated surveillance malware used by governments worldwide. The module checks 11 SMS-based attack delivery patterns, 19 suspicious process signatures that indicate compromise, and 9 filesystem path indicators where these tools typically store their payloads. This isn't theoretical — these are real threat indicators used in documented attacks against journalists, activists, and political figures. If you're a security researcher, a defender, or someone working in digital rights, this module gives you the ability to scan infrastructure and endpoints for traces of the world's most dangerous spyware, all from a single CLI command.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We've covered the three flagship scan engines — GORGON ULTRA, OBLIVION, and PEGASUS HUNTER. Now let's zoom out and look at the full ReconPro ecosystem. This isn't just three tools duct-taped together. It's a comprehensive platform with 14 integrated scan modules, 6 enterprise integrations that plug into your existing workflow, and 7 compliance frameworks that automatically map every finding to the right controls. Everything is designed to work together — you run one scan, and you get threat assessment, vulnerability data, compliance mappings, and automated alerts all at once. Let's walk through the full module catalog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full module catalog. 14 modules, all wired into the same platform. Let me walk you through the categories. First, the core: recon is the foundational reconnaissance engine that everything else builds on. Then you have the three flagship modules we've already covered — gorgon for threat assessment, oblivion for deep vulnerability scanning, and pegasus for spyware detection. These are the heavy hitters, and they're highlighted in green on this grid. The bot module is particularly interesting — it specifically detects infrastructure associated with major threat groups like Cobalt Strike, Metasploit, Emotet, TrickBot, QakBot, SolarWinds, and Log4Shell exploitation. Then there's cloud_recon which targets AWS, Azure, and GCP infrastructure. The team module lets you manage your security crew, assign roles, and share findings. Every module can run standalone or combined in a single scan command — that's the power of a unified platform.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ReconPro doesn't ask you to rip out your existing security stack. It plugs into the tools your team already uses. We support six enterprise integrations out of the box. Jira integration automatically creates tickets from scan findings — every critical vulnerability becomes a tracked issue with full context. Slack sends real-time alerts to your security channels as scans complete, so your team knows immediately when something lands. GitHub integration pushes security reports directly into your repositories, perfect for dev teams who want findings in their pull request workflow. Splunk forwards all findings to your SIEM via HEC or REST, so your SOC analysts can correlate ReconPro data with everything else. PagerDuty triggers incident escalation for critical findings, making sure the right people get paged. And Z.AI uses Server-Sent Events for real-time AI-powered analysis of your scan results as they stream in. The key point: every integration uses standard, well-documented protocols. There's no proprietary agent to install, no reverse proxy to configure. You just point and 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Compliance is where most security teams lose hundreds of hours. You run a vulnerability scan, you get a list of findings, and then someone has to manually cross-reference every single finding against your compliance frameworks — SOC2, ISO 27001, PCI-DSS, HIPAA, GDPR, CIS Controls, NIST CSF. It's a nightmare of spreadsheets and tribal knowledge. ReconPro eliminates that entirely. Our ComplianceMapper engine automatically maps every finding from every module to the relevant controls across all seven frameworks. You run a single scan, and you get a compliance-ready report that tells you exactly which controls are satisfied and which have gaps. SOC2 covers Trust Service Criteria. ISO 27001 covers Information Security Management. PCI-DSS handles Payment Card Data Security. HIPAA covers Health Information Privacy. GDPR handles Data Protection Regulation. CIS Controls maps to the Center for Internet Security baseline. And NIST CSF covers the Cybersecurity Framework. No more manual cross-referencing. No more audit prep marathons. The tool does the mapping for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talk about the platform itself — how ReconPro actually works under the hood and how you get started. We've covered the ecosystem: 14 modules, 6 integrations, 7 compliance frameworks. But none of that matters if the tool is hard to use. So in this section, I'll show you the CLI interface — 33 commands that give you complete control over every module, every integration, and every report format. I'll also cover our cross-platform story: ReconPro is pure Python, tested on Windows 10 and 11, Ubuntu and Debian, and macOS. One pip install, one codebase, every platform. And finally, I'll walk you through the install process — literally 30 seconds from zero to your first scan. The platform philosophy is simple: power without complexity.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 of ReconPro — the CLI. Thirty-three commands give you complete control over every module, every integration, and every workflow. The design philosophy is simple: if you can type it, ReconPro can do it. Core commands handle scanning and reporting. Module commands let you invoke GORGON, OBLIVION, or PEGASUS directly. Team commands manage your crew. Integration commands plug into Slack, Jira, Splunk, and more. And utility commands like doctor and export keep your environment healthy. Every single command supports --help, so you're never lost. And every module can run independently or chained together in a single scan. This isn't a GUI with a CLI bolted on — the CLI is the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Cross-platform is a promise most security tools make and very few keep. ReconPro actually delivers. The entire codebase is pure Python — no C extensions, no compiled binaries, nothing that breaks when you switch operating systems. We ship a py3-none-any wheel, which is the most universal package format possible. Early on we hit a nasty bug where os.uname() crashed on Windows — we ripped it out and replaced it with a cross-platform abstraction. Same code, same commands, same output on Windows 10 and 11, Ubuntu, Debian, and macOS. Whether you're a red teamer on Kali or a defender on a corporate Windows laptop, the experience is identical. One codebase. Every platform. No hacks.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walk you through getting started — because it really does take thirty seconds. Open your terminal, type pip install reconpro, and you're done. That single command pulls down everything: GORGON, OBLIVION, PEGASUS, all 14 modules, all 33 commands. No API keys to configure, no database to set up, no daemon to run. Once installed, you can immediately run a full scan with reconpro scan --target and your domain, or jump straight into GORGON ULTRA with reconpro gorgon. Three things make this possible. First, ReconPro is free forever — MIT licensed, no SaaS tier, no premium upsell. Second, it's fully open source — every line of code is auditable on GitHub. Third, it has zero compiled dependencies — pure Python means it installs cleanly on any system. Go install it and start hunting.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that's ReconPro. One command to install, one command to scan, and you've got the most powerful open-source reconnaissance platform on the planet. Fourteen integrated modules, six enterprise integrations, seven compliance frameworks, and thirty-three CLI commands, all wrapped in a pure Python package that runs on Windows, Linux, and macOS. Head over to GitHub, star the repo, read the code, and start contributing. Whether you're a red teamer, a blue teamer, a bug bounty hunter, or a security engineer at a startup, ReconPro was built for you. It's free, it's open source, and it's not going anywhere. Stay dangerous, stay secure. Go install it right now — pip install reconpro — and join the hunt.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A0A"/>
        </a:solidFill>
      </p:bgPr>
    </p:bg>
    <p:spTree>
      <p:nvGrpSpPr>
        <p:cNvPr id="1" name=""/>
        <p:cNvGrpSpPr/>
        <p:nvPr/>
      </p:nvGrpSpPr>
      <p:grpSpPr>
        <a:xfrm>
          <a:off x="0" y="0"/>
          <a:ext cx="0" cy="0"/>
          <a:chOff x="0" y="0"/>
          <a:chExt cx="0" cy="0"/>
        </a:xfrm>
      </p:grpSpPr>
      <p:pic>
        <p:nvPicPr>
          <p:cNvPr id="2" name="Image 0" descr="/tmp/h2p-fit-1785903029617-5pqn88.png">    </p:cNvPr>
          <p:cNvPicPr>
            <a:picLocks noChangeAspect="1"/>
          </p:cNvPicPr>
          <p:nvPr/>
        </p:nvPicPr>
        <p:blipFill>
          <a:blip r:embed="rId1">
            <a:alphaModFix amt="15000"/>
          </a:blip>
          <a:stretch>
            <a:fillRect/>
          </a:stretch>
        </p:blipFill>
        <p:spPr>
          <a:xfrm>
            <a:off x="0" y="0"/>
            <a:ext cx="9144000" cy="5143500"/>
          </a:xfrm>
          <a:prstGeom prst="rect">
            <a:avLst/>
          </a:prstGeom>
        </p:spPr>
      </p:pic>
      <p:sp>
        <p:nvSpPr>
          <p:cNvPr id="3" name="Text 0"/>
          <p:cNvSpPr/>
          <p:nvPr/>
        </p:nvSpPr>
        <p:spPr>
          <a:xfrm>
            <a:off x="0" y="0"/>
            <a:ext cx="9144000" cy="5143500"/>
          </a:xfrm>
          <a:prstGeom prst="rect">
            <a:avLst/>
          </a:prstGeom>
          <a:solidFill>
            <a:srgbClr val="00FF41">
              <a:alpha val="3000"/>
            </a:srgbClr>
          </a:solidFill>
          <a:ln/>
        </p:spPr>
        <p:txBody>
          <a:bodyPr wrap="square" rtlCol="0" anchor="ctr"/>
          <a:lstStyle/>
          <a:p>
            <a:pPr indent="0" marL="0">
              <a:buNone/>
            </a:pPr>
            <a:endParaRPr lang="en-US" dirty="0"/>
          </a:p>
        </p:txBody>
      </p:sp>
      <p:sp>
        <p:nvSpPr>
          <p:cNvPr id="4" name="Text 1"/>
          <p:cNvSpPr/>
          <p:nvPr/>
        </p:nvSpPr>
        <p:spPr>
          <a:xfrm>
            <a:off x="4249214" y="1297407"/>
            <a:ext cx="645572" cy="274183"/>
          </a:xfrm>
          <a:prstGeom prst="roundRect">
            <a:avLst>
              <a:gd name="adj" fmla="val 20844"/>
            </a:avLst>
          </a:prstGeom>
          <a:solidFill>
            <a:srgbClr val="00FF41">
              <a:alpha val="12000"/>
            </a:srgbClr>
          </a:solidFill>
          <a:ln w="7144">
            <a:solidFill>
              <a:srgbClr val="00FF41"/>
            </a:solidFill>
            <a:prstDash val="solid"/>
          </a:ln>
        </p:spPr>
        <p:txBody>
          <a:bodyPr wrap="square" rtlCol="0" anchor="ctr"/>
          <a:lstStyle/>
          <a:p>
            <a:pPr indent="0" marL="0">
              <a:buNone/>
            </a:pPr>
            <a:endParaRPr lang="en-US" dirty="0"/>
          </a:p>
        </p:txBody>
      </p:sp>
      <p:sp>
        <p:nvSpPr>
          <p:cNvPr id="5" name="Text 2"/>
          <p:cNvSpPr/>
          <p:nvPr/>
        </p:nvSpPr>
        <p:spPr>
          <a:xfrm>
            <a:off x="4272074" y="1310208"/>
            <a:ext cx="599852" cy="248580"/>
          </a:xfrm>
          <a:prstGeom prst="rect">
            <a:avLst/>
          </a:prstGeom>
          <a:noFill/>
          <a:ln/>
        </p:spPr>
        <p:txBody>
          <a:bodyPr wrap="none" lIns="0" tIns="0" rIns="0" bIns="0" rtlCol="0" anchor="ctr"/>
          <a:lstStyle/>
          <a:p>
            <a:pPr algn="ctr" indent="0" marL="0">
              <a:lnSpc>
                <a:spcPts val="1170"/>
              </a:lnSpc>
              <a:buNone/>
            </a:pPr>
            <a:r>
              <a:rPr lang="en-US" sz="800" spc="28" kern="0" dirty="0">
                <a:solidFill>
                  <a:srgbClr val="00FF41"/>
                </a:solidFill>
                <a:latin typeface="Liberation Sans Narrow" pitchFamily="34" charset="0"/>
                <a:ea typeface="Liberation Sans Narrow" pitchFamily="34" charset="-122"/>
                <a:cs typeface="Liberation Sans Narrow" pitchFamily="34" charset="-120"/>
              </a:rPr>
              <a:t>v7.2.3</a:t>
            </a:r>
            <a:endParaRPr lang="en-US" sz="800" dirty="0"/>
          </a:p>
        </p:txBody>
      </p:sp>
      <p:sp>
        <p:nvSpPr>
          <p:cNvPr id="6" name="Text 3"/>
          <p:cNvSpPr/>
          <p:nvPr/>
        </p:nvSpPr>
        <p:spPr>
          <a:xfrm>
            <a:off x="274320" y="1787389"/>
            <a:ext cx="8595360" cy="555498"/>
          </a:xfrm>
          <a:prstGeom prst="rect">
            <a:avLst/>
          </a:prstGeom>
          <a:noFill/>
          <a:ln/>
          <a:effectLst>
            <a:outerShdw sx="100000" sy="100000" kx="0" ky="0" algn="bl" rotWithShape="0" blurRad="190500" dist="50800" dir="16200000">
              <a:srgbClr val="00FF41">
                <a:alpha val="50000"/>
              </a:srgbClr>
            </a:outerShdw>
          </a:effectLst>
        </p:spPr>
        <p:txBody>
          <a:bodyPr wrap="none" lIns="0" tIns="0" rIns="0" bIns="0" rtlCol="0" anchor="t"/>
          <a:lstStyle/>
          <a:p>
            <a:pPr algn="ctr" indent="0" marL="0">
              <a:lnSpc>
                <a:spcPts val="4050"/>
              </a:lnSpc>
              <a:buNone/>
            </a:pPr>
            <a:r>
              <a:rPr lang="en-US" sz="4050" b="1" spc="338" kern="0" dirty="0">
                <a:solidFill>
                  <a:srgbClr val="00FF41"/>
                </a:solidFill>
                <a:latin typeface="Courier New" pitchFamily="34" charset="0"/>
                <a:ea typeface="Courier New" pitchFamily="34" charset="-122"/>
                <a:cs typeface="Courier New" pitchFamily="34" charset="-120"/>
              </a:rPr>
              <a:t>RECONPRO</a:t>
            </a:r>
            <a:endParaRPr lang="en-US" sz="4050" dirty="0"/>
          </a:p>
        </p:txBody>
      </p:sp>
      <p:sp>
        <p:nvSpPr>
          <p:cNvPr id="7" name="Text 4"/>
          <p:cNvSpPr/>
          <p:nvPr/>
        </p:nvSpPr>
        <p:spPr>
          <a:xfrm>
            <a:off x="2643299" y="2473189"/>
            <a:ext cx="3857290" cy="231458"/>
          </a:xfrm>
          <a:prstGeom prst="rect">
            <a:avLst/>
          </a:prstGeom>
          <a:noFill/>
          <a:ln/>
        </p:spPr>
        <p:txBody>
          <a:bodyPr wrap="square" lIns="0" tIns="0" rIns="0" bIns="0" rtlCol="0" anchor="t"/>
          <a:lstStyle/>
          <a:p>
            <a:pPr algn="ctr" indent="0" marL="0">
              <a:lnSpc>
                <a:spcPts val="1688"/>
              </a:lnSpc>
              <a:buNone/>
            </a:pPr>
            <a:r>
              <a:rPr lang="en-US" sz="1125" dirty="0">
                <a:solidFill>
                  <a:srgbClr val="888888"/>
                </a:solidFill>
                <a:latin typeface="Carlito" pitchFamily="34" charset="0"/>
                <a:ea typeface="Carlito" pitchFamily="34" charset="-122"/>
                <a:cs typeface="Carlito" pitchFamily="34" charset="-120"/>
              </a:rPr>
              <a:t>The Most Dangerous Open-Source Recon Tool on the Planet</a:t>
            </a:r>
            <a:endParaRPr lang="en-US" sz="1125" dirty="0"/>
          </a:p>
        </p:txBody>
      </p:sp>
      <p:sp>
        <p:nvSpPr>
          <p:cNvPr id="8" name="Text 5"/>
          <p:cNvSpPr/>
          <p:nvPr/>
        </p:nvSpPr>
        <p:spPr>
          <a:xfrm>
            <a:off x="3445632" y="2976823"/>
            <a:ext cx="2252737" cy="429964"/>
          </a:xfrm>
          <a:prstGeom prst="roundRect">
            <a:avLst>
              <a:gd name="adj" fmla="val 22153"/>
            </a:avLst>
          </a:prstGeom>
          <a:solidFill>
            <a:srgbClr val="111111"/>
          </a:solidFill>
          <a:ln w="7144">
            <a:solidFill>
              <a:srgbClr val="00FF41"/>
            </a:solidFill>
            <a:prstDash val="solid"/>
          </a:ln>
        </p:spPr>
        <p:txBody>
          <a:bodyPr wrap="square" rtlCol="0" anchor="ctr"/>
          <a:lstStyle/>
          <a:p>
            <a:pPr indent="0" marL="0">
              <a:buNone/>
            </a:pPr>
            <a:endParaRPr lang="en-US" dirty="0"/>
          </a:p>
        </p:txBody>
      </p:sp>
      <p:sp>
        <p:nvSpPr>
          <p:cNvPr id="9" name="Text 6"/>
          <p:cNvSpPr/>
          <p:nvPr/>
        </p:nvSpPr>
        <p:spPr>
          <a:xfrm>
            <a:off x="3677803" y="3100388"/>
            <a:ext cx="91440" cy="188528"/>
          </a:xfrm>
          <a:prstGeom prst="rect">
            <a:avLst/>
          </a:prstGeom>
          <a:noFill/>
          <a:ln/>
        </p:spPr>
        <p:txBody>
          <a:bodyPr wrap="none" lIns="0" tIns="0" rIns="0" bIns="0" rtlCol="0" anchor="t"/>
          <a:lstStyle/>
          <a:p>
            <a:pPr algn="ctr" indent="0" marL="0">
              <a:lnSpc>
                <a:spcPts val="1440"/>
              </a:lnSpc>
              <a:buNone/>
            </a:pPr>
            <a:r>
              <a:rPr lang="en-US" sz="900" dirty="0">
                <a:solidFill>
                  <a:srgbClr val="888888"/>
                </a:solidFill>
                <a:latin typeface="Courier New" pitchFamily="34" charset="0"/>
                <a:ea typeface="Courier New" pitchFamily="34" charset="-122"/>
                <a:cs typeface="Courier New" pitchFamily="34" charset="-120"/>
              </a:rPr>
              <a:t>$</a:t>
            </a:r>
            <a:endParaRPr lang="en-US" sz="900" dirty="0"/>
          </a:p>
        </p:txBody>
      </p:sp>
      <p:sp>
        <p:nvSpPr>
          <p:cNvPr id="10" name="Text 7"/>
          <p:cNvSpPr/>
          <p:nvPr/>
        </p:nvSpPr>
        <p:spPr>
          <a:xfrm>
            <a:off x="3677803" y="3094695"/>
            <a:ext cx="1788393" cy="194221"/>
          </a:xfrm>
          <a:prstGeom prst="rect">
            <a:avLst/>
          </a:prstGeom>
          <a:noFill/>
          <a:ln/>
        </p:spPr>
        <p:txBody>
          <a:bodyPr wrap="none" lIns="0" tIns="0" rIns="0" bIns="0" rtlCol="0" anchor="t"/>
          <a:lstStyle/>
          <a:p>
            <a:pPr algn="ctr" indent="0" marL="0">
              <a:lnSpc>
                <a:spcPts val="1530"/>
              </a:lnSpc>
              <a:buNone/>
            </a:pPr>
            <a:r>
              <a:rPr lang="en-US" sz="956" spc="28" kern="0" dirty="0">
                <a:solidFill>
                  <a:srgbClr val="00FF41"/>
                </a:solidFill>
                <a:latin typeface="Courier New" pitchFamily="34" charset="0"/>
                <a:ea typeface="Courier New" pitchFamily="34" charset="-122"/>
                <a:cs typeface="Courier New" pitchFamily="34" charset="-120"/>
              </a:rPr>
              <a:t>pip install reconpro</a:t>
            </a:r>
            <a:endParaRPr lang="en-US" sz="956" dirty="0"/>
          </a:p>
        </p:txBody>
      </p:sp>
      <p:sp>
        <p:nvSpPr>
          <p:cNvPr id="11" name="Text 8"/>
          <p:cNvSpPr/>
          <p:nvPr/>
        </p:nvSpPr>
        <p:spPr>
          <a:xfrm>
            <a:off x="5394759" y="3120368"/>
            <a:ext cx="71438" cy="142875"/>
          </a:xfrm>
          <a:prstGeom prst="rect">
            <a:avLst/>
          </a:prstGeom>
          <a:solidFill>
            <a:srgbClr val="00FF41">
              <a:alpha val="0"/>
            </a:srgbClr>
          </a:solidFill>
          <a:ln/>
        </p:spPr>
        <p:txBody>
          <a:bodyPr wrap="square" rtlCol="0" anchor="ctr"/>
          <a:lstStyle/>
          <a:p>
            <a:pPr indent="0" marL="0">
              <a:buNone/>
            </a:pPr>
            <a:endParaRPr lang="en-US" dirty="0"/>
          </a:p>
        </p:txBody>
      </p:sp>
      <p:sp>
        <p:nvSpPr>
          <p:cNvPr id="12" name="Text 9"/>
          <p:cNvSpPr/>
          <p:nvPr/>
        </p:nvSpPr>
        <p:spPr>
          <a:xfrm>
            <a:off x="1556693" y="3696109"/>
            <a:ext cx="6030614" cy="175451"/>
          </a:xfrm>
          <a:prstGeom prst="rect">
            <a:avLst/>
          </a:prstGeom>
          <a:noFill/>
          <a:ln/>
        </p:spPr>
        <p:txBody>
          <a:bodyPr wrap="square" lIns="0" tIns="0" rIns="0" bIns="0" rtlCol="0" anchor="t"/>
          <a:lstStyle/>
          <a:p>
            <a:pPr algn="ctr" indent="0" marL="0">
              <a:lnSpc>
                <a:spcPts val="1080"/>
              </a:lnSpc>
              <a:buNone/>
            </a:pPr>
            <a:r>
              <a:rPr lang="en-US" sz="800" spc="84" kern="0" dirty="0">
                <a:solidFill>
                  <a:srgbClr val="888888"/>
                </a:solidFill>
                <a:latin typeface="Courier New" pitchFamily="34" charset="0"/>
                <a:ea typeface="Courier New" pitchFamily="34" charset="-122"/>
                <a:cs typeface="Courier New" pitchFamily="34" charset="-120"/>
              </a:rPr>
              <a:t>14 modules · 33 commands · 6 integrations · 7 compliance frameworks · Cross-platform</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514350" y="768511"/>
            <a:ext cx="5092065" cy="681835"/>
          </a:xfrm>
          <a:prstGeom prst="rect">
            <a:avLst/>
          </a:prstGeom>
          <a:noFill/>
          <a:ln/>
        </p:spPr>
        <p:txBody>
          <a:bodyPr wrap="none" lIns="0" tIns="0" rIns="0" bIns="0" rtlCol="0" anchor="t"/>
          <a:lstStyle/>
          <a:p>
            <a:pPr algn="l" indent="0" marL="0">
              <a:lnSpc>
                <a:spcPts val="2486"/>
              </a:lnSpc>
              <a:buNone/>
            </a:pPr>
            <a:r>
              <a:rPr lang="en-US" sz="1913" b="1" spc="56" kern="0" dirty="0">
                <a:solidFill>
                  <a:srgbClr val="FFFFFF"/>
                </a:solidFill>
                <a:latin typeface="Courier New" pitchFamily="34" charset="0"/>
                <a:ea typeface="Courier New" pitchFamily="34" charset="-122"/>
                <a:cs typeface="Courier New" pitchFamily="34" charset="-120"/>
              </a:rPr>
              <a:t>THE THREAT IS EVOLVING.</a:t>
            </a:r>
            <a:endParaRPr lang="en-US" sz="1913" dirty="0"/>
          </a:p>
          <a:p>
            <a:pPr algn="l" indent="0" marL="0">
              <a:lnSpc>
                <a:spcPts val="2486"/>
              </a:lnSpc>
              <a:buNone/>
            </a:pPr>
            <a:r>
              <a:rPr lang="en-US" sz="1913" b="1" spc="56" kern="0" dirty="0">
                <a:solidFill>
                  <a:srgbClr val="FFFFFF"/>
                </a:solidFill>
                <a:latin typeface="Courier New" pitchFamily="34" charset="0"/>
                <a:ea typeface="Courier New" pitchFamily="34" charset="-122"/>
                <a:cs typeface="Courier New" pitchFamily="34" charset="-120"/>
              </a:rPr>
              <a:t>YOUR TOOLS AREN'T.</a:t>
            </a:r>
            <a:endParaRPr lang="en-US" sz="1913" dirty="0"/>
          </a:p>
        </p:txBody>
      </p:sp>
      <p:sp>
        <p:nvSpPr>
          <p:cNvPr id="3" name="Text 1"/>
          <p:cNvSpPr/>
          <p:nvPr/>
        </p:nvSpPr>
        <p:spPr>
          <a:xfrm>
            <a:off x="514350" y="1599865"/>
            <a:ext cx="4000500" cy="1114492"/>
          </a:xfrm>
          <a:prstGeom prst="rect">
            <a:avLst/>
          </a:prstGeom>
          <a:noFill/>
          <a:ln/>
        </p:spPr>
        <p:txBody>
          <a:bodyPr wrap="square" lIns="0" tIns="0" rIns="0" bIns="0" rtlCol="0" anchor="t"/>
          <a:lstStyle/>
          <a:p>
            <a:pPr algn="l" indent="0" marL="0">
              <a:lnSpc>
                <a:spcPts val="1626"/>
              </a:lnSpc>
              <a:buNone/>
            </a:pPr>
            <a:r>
              <a:rPr lang="en-US" sz="956" dirty="0">
                <a:solidFill>
                  <a:srgbClr val="888888"/>
                </a:solidFill>
                <a:latin typeface="Carlito" pitchFamily="34" charset="0"/>
                <a:ea typeface="Carlito" pitchFamily="34" charset="-122"/>
                <a:cs typeface="Carlito" pitchFamily="34" charset="-120"/>
              </a:rPr>
              <a:t>The average time to detect a breach is 207 days. Attackers use APTs, zero-days, and supply chain attacks while defenders juggle 10+ disconnected tools, manual checklists, and alert fatigue. No single platform unifies recon, vulnerability scanning, threat hunting, and compliance — until now.</a:t>
            </a:r>
            <a:endParaRPr lang="en-US" sz="956" dirty="0"/>
          </a:p>
        </p:txBody>
      </p:sp>
      <p:sp>
        <p:nvSpPr>
          <p:cNvPr id="4" name="Text 2"/>
          <p:cNvSpPr/>
          <p:nvPr/>
        </p:nvSpPr>
        <p:spPr>
          <a:xfrm>
            <a:off x="514350" y="2888977"/>
            <a:ext cx="1156216" cy="432054"/>
          </a:xfrm>
          <a:prstGeom prst="rect">
            <a:avLst/>
          </a:prstGeom>
          <a:noFill/>
          <a:ln/>
          <a:effectLst>
            <a:outerShdw sx="100000" sy="100000" kx="0" ky="0" algn="bl" rotWithShape="0" blurRad="190500" dist="50800" dir="16200000">
              <a:srgbClr val="00FF41">
                <a:alpha val="50000"/>
              </a:srgbClr>
            </a:outerShdw>
          </a:effectLst>
        </p:spPr>
        <p:txBody>
          <a:bodyPr wrap="none" lIns="0" tIns="0" rIns="0" bIns="0" rtlCol="0" anchor="t"/>
          <a:lstStyle/>
          <a:p>
            <a:pPr algn="l" indent="0" marL="0">
              <a:lnSpc>
                <a:spcPts val="3150"/>
              </a:lnSpc>
              <a:buNone/>
            </a:pPr>
            <a:r>
              <a:rPr lang="en-US" sz="3150" b="1" dirty="0">
                <a:solidFill>
                  <a:srgbClr val="00FF41"/>
                </a:solidFill>
                <a:latin typeface="Liberation Sans Narrow" pitchFamily="34" charset="0"/>
                <a:ea typeface="Liberation Sans Narrow" pitchFamily="34" charset="-122"/>
                <a:cs typeface="Liberation Sans Narrow" pitchFamily="34" charset="-120"/>
              </a:rPr>
              <a:t>207</a:t>
            </a:r>
            <a:endParaRPr lang="en-US" sz="3150" dirty="0"/>
          </a:p>
        </p:txBody>
      </p:sp>
      <p:sp>
        <p:nvSpPr>
          <p:cNvPr id="5" name="Text 3"/>
          <p:cNvSpPr/>
          <p:nvPr/>
        </p:nvSpPr>
        <p:spPr>
          <a:xfrm>
            <a:off x="1351285" y="3096146"/>
            <a:ext cx="3792215" cy="197462"/>
          </a:xfrm>
          <a:prstGeom prst="rect">
            <a:avLst/>
          </a:prstGeom>
          <a:noFill/>
          <a:ln/>
        </p:spPr>
        <p:txBody>
          <a:bodyPr wrap="none" lIns="0" tIns="0" rIns="0" bIns="0" rtlCol="0" anchor="t"/>
          <a:lstStyle/>
          <a:p>
            <a:pPr algn="l" indent="0" marL="0">
              <a:lnSpc>
                <a:spcPts val="1440"/>
              </a:lnSpc>
              <a:buNone/>
            </a:pPr>
            <a:r>
              <a:rPr lang="en-US" sz="900" dirty="0">
                <a:solidFill>
                  <a:srgbClr val="888888"/>
                </a:solidFill>
                <a:latin typeface="Courier New" pitchFamily="34" charset="0"/>
                <a:ea typeface="Courier New" pitchFamily="34" charset="-122"/>
                <a:cs typeface="Courier New" pitchFamily="34" charset="-120"/>
              </a:rPr>
              <a:t>days avg. detection time</a:t>
            </a:r>
            <a:endParaRPr lang="en-US" sz="900" dirty="0"/>
          </a:p>
        </p:txBody>
      </p:sp>
      <p:sp>
        <p:nvSpPr>
          <p:cNvPr id="6" name="Text 4"/>
          <p:cNvSpPr/>
          <p:nvPr/>
        </p:nvSpPr>
        <p:spPr>
          <a:xfrm>
            <a:off x="514350" y="3431902"/>
            <a:ext cx="1156216" cy="432054"/>
          </a:xfrm>
          <a:prstGeom prst="rect">
            <a:avLst/>
          </a:prstGeom>
          <a:noFill/>
          <a:ln/>
          <a:effectLst>
            <a:outerShdw sx="100000" sy="100000" kx="0" ky="0" algn="bl" rotWithShape="0" blurRad="190500" dist="50800" dir="16200000">
              <a:srgbClr val="FF0040">
                <a:alpha val="50000"/>
              </a:srgbClr>
            </a:outerShdw>
          </a:effectLst>
        </p:spPr>
        <p:txBody>
          <a:bodyPr wrap="none" lIns="0" tIns="0" rIns="0" bIns="0" rtlCol="0" anchor="t"/>
          <a:lstStyle/>
          <a:p>
            <a:pPr algn="l" indent="0" marL="0">
              <a:lnSpc>
                <a:spcPts val="3150"/>
              </a:lnSpc>
              <a:buNone/>
            </a:pPr>
            <a:r>
              <a:rPr lang="en-US" sz="3150" b="1" dirty="0">
                <a:solidFill>
                  <a:srgbClr val="FF0040"/>
                </a:solidFill>
                <a:latin typeface="Liberation Sans Narrow" pitchFamily="34" charset="0"/>
                <a:ea typeface="Liberation Sans Narrow" pitchFamily="34" charset="-122"/>
                <a:cs typeface="Liberation Sans Narrow" pitchFamily="34" charset="-120"/>
              </a:rPr>
              <a:t>10+</a:t>
            </a:r>
            <a:endParaRPr lang="en-US" sz="3150" dirty="0"/>
          </a:p>
        </p:txBody>
      </p:sp>
      <p:sp>
        <p:nvSpPr>
          <p:cNvPr id="7" name="Text 5"/>
          <p:cNvSpPr/>
          <p:nvPr/>
        </p:nvSpPr>
        <p:spPr>
          <a:xfrm>
            <a:off x="1351285" y="3639071"/>
            <a:ext cx="3792215" cy="197462"/>
          </a:xfrm>
          <a:prstGeom prst="rect">
            <a:avLst/>
          </a:prstGeom>
          <a:noFill/>
          <a:ln/>
        </p:spPr>
        <p:txBody>
          <a:bodyPr wrap="none" lIns="0" tIns="0" rIns="0" bIns="0" rtlCol="0" anchor="t"/>
          <a:lstStyle/>
          <a:p>
            <a:pPr algn="l" indent="0" marL="0">
              <a:lnSpc>
                <a:spcPts val="1440"/>
              </a:lnSpc>
              <a:buNone/>
            </a:pPr>
            <a:r>
              <a:rPr lang="en-US" sz="900" dirty="0">
                <a:solidFill>
                  <a:srgbClr val="888888"/>
                </a:solidFill>
                <a:latin typeface="Courier New" pitchFamily="34" charset="0"/>
                <a:ea typeface="Courier New" pitchFamily="34" charset="-122"/>
                <a:cs typeface="Courier New" pitchFamily="34" charset="-120"/>
              </a:rPr>
              <a:t>disconnected tools per team</a:t>
            </a:r>
            <a:endParaRPr lang="en-US" sz="900" dirty="0"/>
          </a:p>
        </p:txBody>
      </p:sp>
      <p:sp>
        <p:nvSpPr>
          <p:cNvPr id="8" name="Text 6"/>
          <p:cNvSpPr/>
          <p:nvPr/>
        </p:nvSpPr>
        <p:spPr>
          <a:xfrm>
            <a:off x="514350" y="3974827"/>
            <a:ext cx="2066576" cy="432054"/>
          </a:xfrm>
          <a:prstGeom prst="rect">
            <a:avLst/>
          </a:prstGeom>
          <a:noFill/>
          <a:ln/>
          <a:effectLst>
            <a:outerShdw sx="100000" sy="100000" kx="0" ky="0" algn="bl" rotWithShape="0" blurRad="190500" dist="50800" dir="16200000">
              <a:srgbClr val="00E5FF">
                <a:alpha val="50000"/>
              </a:srgbClr>
            </a:outerShdw>
          </a:effectLst>
        </p:spPr>
        <p:txBody>
          <a:bodyPr wrap="none" lIns="0" tIns="0" rIns="0" bIns="0" rtlCol="0" anchor="t"/>
          <a:lstStyle/>
          <a:p>
            <a:pPr algn="l" indent="0" marL="0">
              <a:lnSpc>
                <a:spcPts val="3150"/>
              </a:lnSpc>
              <a:buNone/>
            </a:pPr>
            <a:r>
              <a:rPr lang="en-US" sz="3150" b="1" dirty="0">
                <a:solidFill>
                  <a:srgbClr val="00E5FF"/>
                </a:solidFill>
                <a:latin typeface="Liberation Sans Narrow" pitchFamily="34" charset="0"/>
                <a:ea typeface="Liberation Sans Narrow" pitchFamily="34" charset="-122"/>
                <a:cs typeface="Liberation Sans Narrow" pitchFamily="34" charset="-120"/>
              </a:rPr>
              <a:t>$4.45M</a:t>
            </a:r>
            <a:endParaRPr lang="en-US" sz="3150" dirty="0"/>
          </a:p>
        </p:txBody>
      </p:sp>
      <p:sp>
        <p:nvSpPr>
          <p:cNvPr id="9" name="Text 7"/>
          <p:cNvSpPr/>
          <p:nvPr/>
        </p:nvSpPr>
        <p:spPr>
          <a:xfrm>
            <a:off x="2073808" y="4181996"/>
            <a:ext cx="3069692" cy="197462"/>
          </a:xfrm>
          <a:prstGeom prst="rect">
            <a:avLst/>
          </a:prstGeom>
          <a:noFill/>
          <a:ln/>
        </p:spPr>
        <p:txBody>
          <a:bodyPr wrap="none" lIns="0" tIns="0" rIns="0" bIns="0" rtlCol="0" anchor="t"/>
          <a:lstStyle/>
          <a:p>
            <a:pPr algn="l" indent="0" marL="0">
              <a:lnSpc>
                <a:spcPts val="1440"/>
              </a:lnSpc>
              <a:buNone/>
            </a:pPr>
            <a:r>
              <a:rPr lang="en-US" sz="900" dirty="0">
                <a:solidFill>
                  <a:srgbClr val="888888"/>
                </a:solidFill>
                <a:latin typeface="Courier New" pitchFamily="34" charset="0"/>
                <a:ea typeface="Courier New" pitchFamily="34" charset="-122"/>
                <a:cs typeface="Courier New" pitchFamily="34" charset="-120"/>
              </a:rPr>
              <a:t>avg. breach cost</a:t>
            </a:r>
            <a:endParaRPr lang="en-US" sz="900" dirty="0"/>
          </a:p>
        </p:txBody>
      </p:sp>
      <p:pic>
        <p:nvPicPr>
          <p:cNvPr id="10" name="Image 0" descr="/tmp/h2p-fit-1785903029681-2alkrg.png">    </p:cNvPr>
          <p:cNvPicPr>
            <a:picLocks noChangeAspect="1"/>
          </p:cNvPicPr>
          <p:nvPr/>
        </p:nvPicPr>
        <p:blipFill>
          <a:blip r:embed="rId1"/>
          <a:stretch>
            <a:fillRect/>
          </a:stretch>
        </p:blipFill>
        <p:spPr>
          <a:xfrm>
            <a:off x="5486400" y="0"/>
            <a:ext cx="3657600" cy="5143500"/>
          </a:xfrm>
          <a:prstGeom prst="rect">
            <a:avLst/>
          </a:prstGeom>
        </p:spPr>
      </p:pic>
      <p:pic>
        <p:nvPicPr>
          <p:cNvPr id="11" name="Image 1" descr="preencoded.png">    </p:cNvPr>
          <p:cNvPicPr>
            <a:picLocks noChangeAspect="1"/>
          </p:cNvPicPr>
          <p:nvPr/>
        </p:nvPicPr>
        <p:blipFill>
          <a:blip r:embed="rId2"/>
          <a:stretch>
            <a:fillRect/>
          </a:stretch>
        </p:blipFill>
        <p:spPr>
          <a:xfrm>
            <a:off x="5486400" y="0"/>
            <a:ext cx="3657600" cy="51435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274320" y="1280964"/>
            <a:ext cx="8595360" cy="518368"/>
          </a:xfrm>
          <a:prstGeom prst="rect">
            <a:avLst/>
          </a:prstGeom>
          <a:noFill/>
          <a:ln/>
          <a:effectLst>
            <a:outerShdw sx="100000" sy="100000" kx="0" ky="0" algn="bl" rotWithShape="0" blurRad="190500" dist="50800" dir="16200000">
              <a:srgbClr val="00FF41">
                <a:alpha val="40000"/>
              </a:srgbClr>
            </a:outerShdw>
          </a:effectLst>
        </p:spPr>
        <p:txBody>
          <a:bodyPr wrap="square" lIns="0" tIns="0" rIns="0" bIns="0" rtlCol="0" anchor="t"/>
          <a:lstStyle/>
          <a:p>
            <a:pPr algn="ctr" indent="0" marL="0">
              <a:lnSpc>
                <a:spcPts val="3780"/>
              </a:lnSpc>
              <a:buNone/>
            </a:pPr>
            <a:r>
              <a:rPr lang="en-US" sz="3150" b="1" spc="169" kern="0" dirty="0">
                <a:solidFill>
                  <a:srgbClr val="FFFFFF"/>
                </a:solidFill>
                <a:latin typeface="Courier New" pitchFamily="34" charset="0"/>
                <a:ea typeface="Courier New" pitchFamily="34" charset="-122"/>
                <a:cs typeface="Courier New" pitchFamily="34" charset="-120"/>
              </a:rPr>
              <a:t>ONE TOOL. ZERO COMPROMISE.</a:t>
            </a:r>
            <a:endParaRPr lang="en-US" sz="3150" dirty="0"/>
          </a:p>
        </p:txBody>
      </p:sp>
      <p:sp>
        <p:nvSpPr>
          <p:cNvPr id="3" name="Text 1"/>
          <p:cNvSpPr/>
          <p:nvPr/>
        </p:nvSpPr>
        <p:spPr>
          <a:xfrm>
            <a:off x="1928813" y="1989534"/>
            <a:ext cx="5286375" cy="708115"/>
          </a:xfrm>
          <a:prstGeom prst="rect">
            <a:avLst/>
          </a:prstGeom>
          <a:noFill/>
          <a:ln/>
        </p:spPr>
        <p:txBody>
          <a:bodyPr wrap="square" lIns="0" tIns="0" rIns="0" bIns="0" rtlCol="0" anchor="t"/>
          <a:lstStyle/>
          <a:p>
            <a:pPr algn="ctr" indent="0" marL="0">
              <a:lnSpc>
                <a:spcPts val="1721"/>
              </a:lnSpc>
              <a:buNone/>
            </a:pPr>
            <a:r>
              <a:rPr lang="en-US" sz="1013" dirty="0">
                <a:solidFill>
                  <a:srgbClr val="888888"/>
                </a:solidFill>
                <a:latin typeface="Carlito" pitchFamily="34" charset="0"/>
                <a:ea typeface="Carlito" pitchFamily="34" charset="-122"/>
                <a:cs typeface="Carlito" pitchFamily="34" charset="-120"/>
              </a:rPr>
              <a:t>ReconPro is a free, open-source security reconnaissance platform with 14 integrated scan modules, 6 enterprise integrations, 7 compliance frameworks, and 33 CLI commands — all in a single pip install. No SaaS. No subscription. No limits.</a:t>
            </a:r>
            <a:endParaRPr lang="en-US" sz="1013" dirty="0"/>
          </a:p>
        </p:txBody>
      </p:sp>
      <p:sp>
        <p:nvSpPr>
          <p:cNvPr id="4" name="Text 2"/>
          <p:cNvSpPr/>
          <p:nvPr/>
        </p:nvSpPr>
        <p:spPr>
          <a:xfrm>
            <a:off x="2399987" y="2889570"/>
            <a:ext cx="1040822" cy="314144"/>
          </a:xfrm>
          <a:prstGeom prst="roundRect">
            <a:avLst>
              <a:gd name="adj" fmla="val 72769"/>
            </a:avLst>
          </a:prstGeom>
          <a:noFill/>
          <a:ln w="7144">
            <a:solidFill>
              <a:srgbClr val="00FF41"/>
            </a:solidFill>
            <a:prstDash val="solid"/>
          </a:ln>
        </p:spPr>
        <p:txBody>
          <a:bodyPr wrap="square" rtlCol="0" anchor="ctr"/>
          <a:lstStyle/>
          <a:p>
            <a:pPr indent="0" marL="0">
              <a:buNone/>
            </a:pPr>
            <a:endParaRPr lang="en-US" dirty="0"/>
          </a:p>
        </p:txBody>
      </p:sp>
      <p:sp>
        <p:nvSpPr>
          <p:cNvPr id="5" name="Text 3"/>
          <p:cNvSpPr/>
          <p:nvPr/>
        </p:nvSpPr>
        <p:spPr>
          <a:xfrm>
            <a:off x="2422847" y="2902372"/>
            <a:ext cx="995102" cy="288541"/>
          </a:xfrm>
          <a:prstGeom prst="rect">
            <a:avLst/>
          </a:prstGeom>
          <a:noFill/>
          <a:ln/>
        </p:spPr>
        <p:txBody>
          <a:bodyPr wrap="none" lIns="0" tIns="0" rIns="0" bIns="0" rtlCol="0" anchor="ctr"/>
          <a:lstStyle/>
          <a:p>
            <a:pPr algn="ctr" indent="0" marL="0">
              <a:lnSpc>
                <a:spcPts val="1260"/>
              </a:lnSpc>
              <a:buNone/>
            </a:pPr>
            <a:r>
              <a:rPr lang="en-US" sz="800" spc="28" kern="0" dirty="0">
                <a:solidFill>
                  <a:srgbClr val="00FF41"/>
                </a:solidFill>
                <a:latin typeface="Liberation Sans Narrow" pitchFamily="34" charset="0"/>
                <a:ea typeface="Liberation Sans Narrow" pitchFamily="34" charset="-122"/>
                <a:cs typeface="Liberation Sans Narrow" pitchFamily="34" charset="-120"/>
              </a:rPr>
              <a:t>14 Modules</a:t>
            </a:r>
            <a:endParaRPr lang="en-US" sz="800" dirty="0"/>
          </a:p>
        </p:txBody>
      </p:sp>
      <p:sp>
        <p:nvSpPr>
          <p:cNvPr id="6" name="Text 4"/>
          <p:cNvSpPr/>
          <p:nvPr/>
        </p:nvSpPr>
        <p:spPr>
          <a:xfrm>
            <a:off x="3509390" y="2889570"/>
            <a:ext cx="1295988" cy="314144"/>
          </a:xfrm>
          <a:prstGeom prst="roundRect">
            <a:avLst>
              <a:gd name="adj" fmla="val 72769"/>
            </a:avLst>
          </a:prstGeom>
          <a:noFill/>
          <a:ln w="7144">
            <a:solidFill>
              <a:srgbClr val="00E5FF"/>
            </a:solidFill>
            <a:prstDash val="solid"/>
          </a:ln>
        </p:spPr>
        <p:txBody>
          <a:bodyPr wrap="square" rtlCol="0" anchor="ctr"/>
          <a:lstStyle/>
          <a:p>
            <a:pPr indent="0" marL="0">
              <a:buNone/>
            </a:pPr>
            <a:endParaRPr lang="en-US" dirty="0"/>
          </a:p>
        </p:txBody>
      </p:sp>
      <p:sp>
        <p:nvSpPr>
          <p:cNvPr id="7" name="Text 5"/>
          <p:cNvSpPr/>
          <p:nvPr/>
        </p:nvSpPr>
        <p:spPr>
          <a:xfrm>
            <a:off x="3532250" y="2902372"/>
            <a:ext cx="1250268" cy="288541"/>
          </a:xfrm>
          <a:prstGeom prst="rect">
            <a:avLst/>
          </a:prstGeom>
          <a:noFill/>
          <a:ln/>
        </p:spPr>
        <p:txBody>
          <a:bodyPr wrap="none" lIns="0" tIns="0" rIns="0" bIns="0" rtlCol="0" anchor="ctr"/>
          <a:lstStyle/>
          <a:p>
            <a:pPr algn="ctr" indent="0" marL="0">
              <a:lnSpc>
                <a:spcPts val="1260"/>
              </a:lnSpc>
              <a:buNone/>
            </a:pPr>
            <a:r>
              <a:rPr lang="en-US" sz="800" spc="28" kern="0" dirty="0">
                <a:solidFill>
                  <a:srgbClr val="00E5FF"/>
                </a:solidFill>
                <a:latin typeface="Courier New" pitchFamily="34" charset="0"/>
                <a:ea typeface="Courier New" pitchFamily="34" charset="-122"/>
                <a:cs typeface="Courier New" pitchFamily="34" charset="-120"/>
              </a:rPr>
              <a:t>Cross-Platform</a:t>
            </a:r>
            <a:endParaRPr lang="en-US" sz="800" dirty="0"/>
          </a:p>
        </p:txBody>
      </p:sp>
      <p:sp>
        <p:nvSpPr>
          <p:cNvPr id="8" name="Text 6"/>
          <p:cNvSpPr/>
          <p:nvPr/>
        </p:nvSpPr>
        <p:spPr>
          <a:xfrm>
            <a:off x="4873957" y="2889570"/>
            <a:ext cx="1870055" cy="314144"/>
          </a:xfrm>
          <a:prstGeom prst="roundRect">
            <a:avLst>
              <a:gd name="adj" fmla="val 72769"/>
            </a:avLst>
          </a:prstGeom>
          <a:noFill/>
          <a:ln w="7144">
            <a:solidFill>
              <a:srgbClr val="00FF41"/>
            </a:solidFill>
            <a:prstDash val="solid"/>
          </a:ln>
        </p:spPr>
        <p:txBody>
          <a:bodyPr wrap="square" rtlCol="0" anchor="ctr"/>
          <a:lstStyle/>
          <a:p>
            <a:pPr indent="0" marL="0">
              <a:buNone/>
            </a:pPr>
            <a:endParaRPr lang="en-US" dirty="0"/>
          </a:p>
        </p:txBody>
      </p:sp>
      <p:sp>
        <p:nvSpPr>
          <p:cNvPr id="9" name="Text 7"/>
          <p:cNvSpPr/>
          <p:nvPr/>
        </p:nvSpPr>
        <p:spPr>
          <a:xfrm>
            <a:off x="4896817" y="2902372"/>
            <a:ext cx="1824335" cy="288541"/>
          </a:xfrm>
          <a:prstGeom prst="rect">
            <a:avLst/>
          </a:prstGeom>
          <a:noFill/>
          <a:ln/>
        </p:spPr>
        <p:txBody>
          <a:bodyPr wrap="none" lIns="0" tIns="0" rIns="0" bIns="0" rtlCol="0" anchor="ctr"/>
          <a:lstStyle/>
          <a:p>
            <a:pPr algn="ctr" indent="0" marL="0">
              <a:lnSpc>
                <a:spcPts val="1260"/>
              </a:lnSpc>
              <a:buNone/>
            </a:pPr>
            <a:r>
              <a:rPr lang="en-US" sz="800" spc="28" kern="0" dirty="0">
                <a:solidFill>
                  <a:srgbClr val="00FF41"/>
                </a:solidFill>
                <a:latin typeface="Liberation Sans Narrow" pitchFamily="34" charset="0"/>
                <a:ea typeface="Liberation Sans Narrow" pitchFamily="34" charset="-122"/>
                <a:cs typeface="Liberation Sans Narrow" pitchFamily="34" charset="-120"/>
              </a:rPr>
              <a:t>100% Free &amp; Open Source</a:t>
            </a:r>
            <a:endParaRPr lang="en-US" sz="800" dirty="0"/>
          </a:p>
        </p:txBody>
      </p:sp>
      <p:sp>
        <p:nvSpPr>
          <p:cNvPr id="10" name="Text 8"/>
          <p:cNvSpPr/>
          <p:nvPr/>
        </p:nvSpPr>
        <p:spPr>
          <a:xfrm>
            <a:off x="2241128" y="3480234"/>
            <a:ext cx="4661632" cy="378619"/>
          </a:xfrm>
          <a:prstGeom prst="roundRect">
            <a:avLst>
              <a:gd name="adj" fmla="val 25157"/>
            </a:avLst>
          </a:prstGeom>
          <a:solidFill>
            <a:srgbClr val="111111"/>
          </a:solidFill>
          <a:ln w="7144">
            <a:solidFill>
              <a:srgbClr val="00FF41"/>
            </a:solidFill>
            <a:prstDash val="solid"/>
          </a:ln>
        </p:spPr>
        <p:txBody>
          <a:bodyPr wrap="square" rtlCol="0" anchor="ctr"/>
          <a:lstStyle/>
          <a:p>
            <a:pPr indent="0" marL="0">
              <a:buNone/>
            </a:pPr>
            <a:endParaRPr lang="en-US" dirty="0"/>
          </a:p>
        </p:txBody>
      </p:sp>
      <p:sp>
        <p:nvSpPr>
          <p:cNvPr id="11" name="Text 9"/>
          <p:cNvSpPr/>
          <p:nvPr/>
        </p:nvSpPr>
        <p:spPr>
          <a:xfrm>
            <a:off x="2444725" y="3583818"/>
            <a:ext cx="91440" cy="171450"/>
          </a:xfrm>
          <a:prstGeom prst="rect">
            <a:avLst/>
          </a:prstGeom>
          <a:noFill/>
          <a:ln/>
        </p:spPr>
        <p:txBody>
          <a:bodyPr wrap="none" lIns="0" tIns="0" rIns="0" bIns="0" rtlCol="0" anchor="t"/>
          <a:lstStyle/>
          <a:p>
            <a:pPr algn="ctr" indent="0" marL="0">
              <a:lnSpc>
                <a:spcPts val="1350"/>
              </a:lnSpc>
              <a:buNone/>
            </a:pPr>
            <a:r>
              <a:rPr lang="en-US" sz="844" dirty="0">
                <a:solidFill>
                  <a:srgbClr val="888888"/>
                </a:solidFill>
                <a:latin typeface="Courier New" pitchFamily="34" charset="0"/>
                <a:ea typeface="Courier New" pitchFamily="34" charset="-122"/>
                <a:cs typeface="Courier New" pitchFamily="34" charset="-120"/>
              </a:rPr>
              <a:t>$</a:t>
            </a:r>
            <a:endParaRPr lang="en-US" sz="844" dirty="0"/>
          </a:p>
        </p:txBody>
      </p:sp>
      <p:sp>
        <p:nvSpPr>
          <p:cNvPr id="12" name="Text 10"/>
          <p:cNvSpPr/>
          <p:nvPr/>
        </p:nvSpPr>
        <p:spPr>
          <a:xfrm>
            <a:off x="2566392" y="3583818"/>
            <a:ext cx="4132771" cy="171450"/>
          </a:xfrm>
          <a:prstGeom prst="rect">
            <a:avLst/>
          </a:prstGeom>
          <a:noFill/>
          <a:ln/>
        </p:spPr>
        <p:txBody>
          <a:bodyPr wrap="square" lIns="0" tIns="0" rIns="0" bIns="0" rtlCol="0" anchor="t"/>
          <a:lstStyle/>
          <a:p>
            <a:pPr algn="ctr" indent="0" marL="0">
              <a:lnSpc>
                <a:spcPts val="1350"/>
              </a:lnSpc>
              <a:buNone/>
            </a:pPr>
            <a:r>
              <a:rPr lang="en-US" sz="844" spc="17" kern="0" dirty="0">
                <a:solidFill>
                  <a:srgbClr val="00FF41"/>
                </a:solidFill>
                <a:latin typeface="Courier New" pitchFamily="34" charset="0"/>
                <a:ea typeface="Courier New" pitchFamily="34" charset="-122"/>
                <a:cs typeface="Courier New" pitchFamily="34" charset="-120"/>
              </a:rPr>
              <a:t>pip install reconpro &amp;&amp; reconpro scan --target your-domain.com</a:t>
            </a:r>
            <a:endParaRPr lang="en-US" sz="844"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2507546" y="1500188"/>
            <a:ext cx="4128909" cy="2314575"/>
          </a:xfrm>
          <a:prstGeom prst="rect">
            <a:avLst/>
          </a:prstGeom>
          <a:noFill/>
          <a:ln/>
        </p:spPr>
        <p:txBody>
          <a:bodyPr wrap="none" lIns="0" tIns="0" rIns="0" bIns="0" rtlCol="0" anchor="t"/>
          <a:lstStyle/>
          <a:p>
            <a:pPr algn="ctr" indent="0" marL="0">
              <a:lnSpc>
                <a:spcPts val="16875"/>
              </a:lnSpc>
              <a:buNone/>
            </a:pPr>
            <a:r>
              <a:rPr lang="en-US" sz="16875" b="1" dirty="0">
                <a:solidFill>
                  <a:srgbClr val="00FF41">
                    <a:alpha val="8000"/>
                  </a:srgbClr>
                </a:solidFill>
                <a:latin typeface="Liberation Sans Narrow" pitchFamily="34" charset="0"/>
                <a:ea typeface="Liberation Sans Narrow" pitchFamily="34" charset="-122"/>
                <a:cs typeface="Liberation Sans Narrow" pitchFamily="34" charset="-120"/>
              </a:rPr>
              <a:t>01</a:t>
            </a:r>
            <a:endParaRPr lang="en-US" sz="16875" dirty="0"/>
          </a:p>
        </p:txBody>
      </p:sp>
      <p:sp>
        <p:nvSpPr>
          <p:cNvPr id="3" name="Text 1"/>
          <p:cNvSpPr/>
          <p:nvPr/>
        </p:nvSpPr>
        <p:spPr>
          <a:xfrm>
            <a:off x="4037014" y="1967433"/>
            <a:ext cx="1069749" cy="175538"/>
          </a:xfrm>
          <a:prstGeom prst="rect">
            <a:avLst/>
          </a:prstGeom>
          <a:noFill/>
          <a:ln/>
        </p:spPr>
        <p:txBody>
          <a:bodyPr wrap="none" lIns="0" tIns="0" rIns="0" bIns="0" rtlCol="0" anchor="t"/>
          <a:lstStyle/>
          <a:p>
            <a:pPr algn="ctr" indent="0" marL="0">
              <a:lnSpc>
                <a:spcPts val="1170"/>
              </a:lnSpc>
              <a:buNone/>
            </a:pPr>
            <a:r>
              <a:rPr lang="en-US" sz="800" spc="169" kern="0" dirty="0">
                <a:solidFill>
                  <a:srgbClr val="888888"/>
                </a:solidFill>
                <a:latin typeface="Liberation Sans Narrow" pitchFamily="34" charset="0"/>
                <a:ea typeface="Liberation Sans Narrow" pitchFamily="34" charset="-122"/>
                <a:cs typeface="Liberation Sans Narrow" pitchFamily="34" charset="-120"/>
              </a:rPr>
              <a:t>CHAPTER 01</a:t>
            </a:r>
            <a:endParaRPr lang="en-US" sz="800" dirty="0"/>
          </a:p>
        </p:txBody>
      </p:sp>
      <p:sp>
        <p:nvSpPr>
          <p:cNvPr id="4" name="Text 2"/>
          <p:cNvSpPr/>
          <p:nvPr/>
        </p:nvSpPr>
        <p:spPr>
          <a:xfrm>
            <a:off x="274320" y="2258876"/>
            <a:ext cx="8595248" cy="444350"/>
          </a:xfrm>
          <a:prstGeom prst="rect">
            <a:avLst/>
          </a:prstGeom>
          <a:noFill/>
          <a:ln/>
        </p:spPr>
        <p:txBody>
          <a:bodyPr wrap="none" lIns="0" tIns="0" rIns="0" bIns="0" rtlCol="0" anchor="t"/>
          <a:lstStyle/>
          <a:p>
            <a:pPr algn="ctr" indent="0" marL="0">
              <a:lnSpc>
                <a:spcPts val="3240"/>
              </a:lnSpc>
              <a:buNone/>
            </a:pPr>
            <a:r>
              <a:rPr lang="en-US" sz="2700" b="1" spc="225" kern="0" dirty="0">
                <a:solidFill>
                  <a:srgbClr val="FFFFFF"/>
                </a:solidFill>
                <a:latin typeface="Courier New" pitchFamily="34" charset="0"/>
                <a:ea typeface="Courier New" pitchFamily="34" charset="-122"/>
                <a:cs typeface="Courier New" pitchFamily="34" charset="-120"/>
              </a:rPr>
              <a:t>THE SCAN ENGINE</a:t>
            </a:r>
            <a:endParaRPr lang="en-US" sz="2700" dirty="0"/>
          </a:p>
        </p:txBody>
      </p:sp>
      <p:sp>
        <p:nvSpPr>
          <p:cNvPr id="5" name="Text 3"/>
          <p:cNvSpPr/>
          <p:nvPr/>
        </p:nvSpPr>
        <p:spPr>
          <a:xfrm>
            <a:off x="4143263" y="2813186"/>
            <a:ext cx="857250" cy="14288"/>
          </a:xfrm>
          <a:prstGeom prst="rect">
            <a:avLst/>
          </a:prstGeom>
          <a:solidFill>
            <a:srgbClr val="00FF41"/>
          </a:solidFill>
          <a:ln/>
        </p:spPr>
        <p:txBody>
          <a:bodyPr wrap="square" rtlCol="0" anchor="ctr"/>
          <a:lstStyle/>
          <a:p>
            <a:pPr indent="0" marL="0">
              <a:buNone/>
            </a:pPr>
            <a:endParaRPr lang="en-US" dirty="0"/>
          </a:p>
        </p:txBody>
      </p:sp>
      <p:sp>
        <p:nvSpPr>
          <p:cNvPr id="6" name="Text 4"/>
          <p:cNvSpPr/>
          <p:nvPr/>
        </p:nvSpPr>
        <p:spPr>
          <a:xfrm>
            <a:off x="3109246" y="2970349"/>
            <a:ext cx="2925285" cy="222175"/>
          </a:xfrm>
          <a:prstGeom prst="rect">
            <a:avLst/>
          </a:prstGeom>
          <a:noFill/>
          <a:ln/>
        </p:spPr>
        <p:txBody>
          <a:bodyPr wrap="square" lIns="0" tIns="0" rIns="0" bIns="0" rtlCol="0" anchor="t"/>
          <a:lstStyle/>
          <a:p>
            <a:pPr algn="ctr" indent="0" marL="0">
              <a:lnSpc>
                <a:spcPts val="1620"/>
              </a:lnSpc>
              <a:buNone/>
            </a:pPr>
            <a:r>
              <a:rPr lang="en-US" sz="1013" dirty="0">
                <a:solidFill>
                  <a:srgbClr val="888888"/>
                </a:solidFill>
                <a:latin typeface="Carlito" pitchFamily="34" charset="0"/>
                <a:ea typeface="Carlito" pitchFamily="34" charset="-122"/>
                <a:cs typeface="Carlito" pitchFamily="34" charset="-120"/>
              </a:rPr>
              <a:t>Three flagship modules. Zero mercy for threats.</a:t>
            </a:r>
            <a:endParaRPr lang="en-US" sz="1013"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514350" y="371475"/>
            <a:ext cx="2649618" cy="444350"/>
          </a:xfrm>
          <a:prstGeom prst="rect">
            <a:avLst/>
          </a:prstGeom>
          <a:noFill/>
          <a:ln/>
          <a:effectLst>
            <a:outerShdw sx="100000" sy="100000" kx="0" ky="0" algn="bl" rotWithShape="0" blurRad="152400" dist="50800" dir="16200000">
              <a:srgbClr val="00FF41">
                <a:alpha val="40000"/>
              </a:srgbClr>
            </a:outerShdw>
          </a:effectLst>
        </p:spPr>
        <p:txBody>
          <a:bodyPr wrap="none" lIns="0" tIns="0" rIns="0" bIns="0" rtlCol="0" anchor="t"/>
          <a:lstStyle/>
          <a:p>
            <a:pPr algn="l" indent="0" marL="0">
              <a:lnSpc>
                <a:spcPts val="3240"/>
              </a:lnSpc>
              <a:buNone/>
            </a:pPr>
            <a:r>
              <a:rPr lang="en-US" sz="2025" b="1" spc="113" kern="0" dirty="0">
                <a:solidFill>
                  <a:srgbClr val="00FF41"/>
                </a:solidFill>
                <a:latin typeface="Courier New" pitchFamily="34" charset="0"/>
                <a:ea typeface="Courier New" pitchFamily="34" charset="-122"/>
                <a:cs typeface="Courier New" pitchFamily="34" charset="-120"/>
              </a:rPr>
              <a:t>GORGON ULTRA</a:t>
            </a:r>
            <a:endParaRPr lang="en-US" sz="2025" dirty="0"/>
          </a:p>
        </p:txBody>
      </p:sp>
      <p:sp>
        <p:nvSpPr>
          <p:cNvPr id="3" name="Text 1"/>
          <p:cNvSpPr/>
          <p:nvPr/>
        </p:nvSpPr>
        <p:spPr>
          <a:xfrm>
            <a:off x="2635285" y="460428"/>
            <a:ext cx="1555842" cy="233529"/>
          </a:xfrm>
          <a:prstGeom prst="roundRect">
            <a:avLst>
              <a:gd name="adj" fmla="val 24472"/>
            </a:avLst>
          </a:prstGeom>
          <a:solidFill>
            <a:srgbClr val="00FF41">
              <a:alpha val="12000"/>
            </a:srgbClr>
          </a:solidFill>
          <a:ln w="7144">
            <a:solidFill>
              <a:srgbClr val="00FF41"/>
            </a:solidFill>
            <a:prstDash val="solid"/>
          </a:ln>
        </p:spPr>
        <p:txBody>
          <a:bodyPr wrap="square" rtlCol="0" anchor="ctr"/>
          <a:lstStyle/>
          <a:p>
            <a:pPr indent="0" marL="0">
              <a:buNone/>
            </a:pPr>
            <a:endParaRPr lang="en-US" dirty="0"/>
          </a:p>
        </p:txBody>
      </p:sp>
      <p:sp>
        <p:nvSpPr>
          <p:cNvPr id="4" name="Text 2"/>
          <p:cNvSpPr/>
          <p:nvPr/>
        </p:nvSpPr>
        <p:spPr>
          <a:xfrm>
            <a:off x="2658145" y="472939"/>
            <a:ext cx="1510122" cy="208508"/>
          </a:xfrm>
          <a:prstGeom prst="rect">
            <a:avLst/>
          </a:prstGeom>
          <a:noFill/>
          <a:ln/>
        </p:spPr>
        <p:txBody>
          <a:bodyPr wrap="none" lIns="0" tIns="0" rIns="0" bIns="0" rtlCol="0" anchor="ctr"/>
          <a:lstStyle/>
          <a:p>
            <a:pPr algn="ctr" indent="0" marL="0">
              <a:lnSpc>
                <a:spcPts val="1080"/>
              </a:lnSpc>
              <a:buNone/>
            </a:pPr>
            <a:r>
              <a:rPr lang="en-US" sz="800" spc="28" kern="0" dirty="0">
                <a:solidFill>
                  <a:srgbClr val="00FF41"/>
                </a:solidFill>
                <a:latin typeface="Liberation Sans Narrow" pitchFamily="34" charset="0"/>
                <a:ea typeface="Liberation Sans Narrow" pitchFamily="34" charset="-122"/>
                <a:cs typeface="Liberation Sans Narrow" pitchFamily="34" charset="-120"/>
              </a:rPr>
              <a:t>15-STAGE THREAT ANALYSIS</a:t>
            </a:r>
            <a:endParaRPr lang="en-US" sz="800" dirty="0"/>
          </a:p>
        </p:txBody>
      </p:sp>
      <p:sp>
        <p:nvSpPr>
          <p:cNvPr id="5" name="Text 3"/>
          <p:cNvSpPr/>
          <p:nvPr/>
        </p:nvSpPr>
        <p:spPr>
          <a:xfrm>
            <a:off x="514350" y="2101937"/>
            <a:ext cx="4041688" cy="419517"/>
          </a:xfrm>
          <a:prstGeom prst="rect">
            <a:avLst/>
          </a:prstGeom>
          <a:noFill/>
          <a:ln/>
        </p:spPr>
        <p:txBody>
          <a:bodyPr wrap="square" lIns="0" tIns="0" rIns="0" bIns="0" rtlCol="0" anchor="t"/>
          <a:lstStyle/>
          <a:p>
            <a:pPr algn="l" indent="0" marL="0">
              <a:lnSpc>
                <a:spcPts val="1530"/>
              </a:lnSpc>
              <a:buNone/>
            </a:pPr>
            <a:r>
              <a:rPr lang="en-US" sz="900" dirty="0">
                <a:solidFill>
                  <a:srgbClr val="E0E0E0"/>
                </a:solidFill>
                <a:latin typeface="Carlito" pitchFamily="34" charset="0"/>
                <a:ea typeface="Carlito" pitchFamily="34" charset="-122"/>
                <a:cs typeface="Carlito" pitchFamily="34" charset="-120"/>
              </a:rPr>
              <a:t>GORGON ULTRA is ReconPro's flagship threat assessment engine. It runs </a:t>
            </a:r>
            <a:pPr algn="l" indent="0" marL="0">
              <a:lnSpc>
                <a:spcPts val="1530"/>
              </a:lnSpc>
              <a:buNone/>
            </a:pPr>
            <a:r>
              <a:rPr lang="en-US" sz="900" b="1" dirty="0">
                <a:solidFill>
                  <a:srgbClr val="FFFFFF"/>
                </a:solidFill>
                <a:latin typeface="Liberation Sans Narrow" pitchFamily="34" charset="0"/>
                <a:ea typeface="Liberation Sans Narrow" pitchFamily="34" charset="-122"/>
                <a:cs typeface="Liberation Sans Narrow" pitchFamily="34" charset="-120"/>
              </a:rPr>
              <a:t>15 sequential analysis stages</a:t>
            </a:r>
            <a:pPr algn="l" indent="0" marL="0">
              <a:lnSpc>
                <a:spcPts val="1530"/>
              </a:lnSpc>
              <a:buNone/>
            </a:pPr>
            <a:r>
              <a:rPr lang="en-US" sz="900" dirty="0">
                <a:solidFill>
                  <a:srgbClr val="E0E0E0"/>
                </a:solidFill>
                <a:latin typeface="Carlito" pitchFamily="34" charset="0"/>
                <a:ea typeface="Carlito" pitchFamily="34" charset="-122"/>
                <a:cs typeface="Carlito" pitchFamily="34" charset="-120"/>
              </a:rPr>
              <a:t>:</a:t>
            </a:r>
            <a:endParaRPr lang="en-US" sz="900" dirty="0"/>
          </a:p>
        </p:txBody>
      </p:sp>
      <p:sp>
        <p:nvSpPr>
          <p:cNvPr id="6" name="Text 4"/>
          <p:cNvSpPr/>
          <p:nvPr/>
        </p:nvSpPr>
        <p:spPr>
          <a:xfrm>
            <a:off x="514350" y="2661828"/>
            <a:ext cx="4041688" cy="820888"/>
          </a:xfrm>
          <a:prstGeom prst="rect">
            <a:avLst/>
          </a:prstGeom>
          <a:noFill/>
          <a:ln/>
        </p:spPr>
        <p:txBody>
          <a:bodyPr wrap="square" lIns="0" tIns="0" rIns="0" bIns="0" rtlCol="0" anchor="t">
            <a:normAutofit/>
          </a:bodyPr>
          <a:lstStyle/>
          <a:p>
            <a:pPr algn="l" indent="0" marL="0">
              <a:lnSpc>
                <a:spcPts val="1389"/>
              </a:lnSpc>
              <a:buNone/>
            </a:pPr>
            <a:r>
              <a:rPr lang="en-US" sz="800" spc="17" kern="0" dirty="0">
                <a:solidFill>
                  <a:srgbClr val="888888"/>
                </a:solidFill>
                <a:latin typeface="Courier New" pitchFamily="34" charset="0"/>
                <a:ea typeface="Courier New" pitchFamily="34" charset="-122"/>
                <a:cs typeface="Courier New" pitchFamily="34" charset="-120"/>
              </a:rPr>
              <a:t>fingerprint → tech detect → port scan → TLS audit →</a:t>
            </a:r>
            <a:endParaRPr lang="en-US" sz="800" dirty="0"/>
          </a:p>
          <a:p>
            <a:pPr algn="l" indent="0" marL="0">
              <a:lnSpc>
                <a:spcPts val="1389"/>
              </a:lnSpc>
              <a:buNone/>
            </a:pPr>
            <a:r>
              <a:rPr lang="en-US" sz="800" spc="17" kern="0" dirty="0">
                <a:solidFill>
                  <a:srgbClr val="888888"/>
                </a:solidFill>
                <a:latin typeface="Courier New" pitchFamily="34" charset="0"/>
                <a:ea typeface="Courier New" pitchFamily="34" charset="-122"/>
                <a:cs typeface="Courier New" pitchFamily="34" charset="-120"/>
              </a:rPr>
              <a:t>DNS recon → SSL check → cookie analysis → header audit →</a:t>
            </a:r>
            <a:endParaRPr lang="en-US" sz="800" dirty="0"/>
          </a:p>
          <a:p>
            <a:pPr algn="l" indent="0" marL="0">
              <a:lnSpc>
                <a:spcPts val="1389"/>
              </a:lnSpc>
              <a:buNone/>
            </a:pPr>
            <a:r>
              <a:rPr lang="en-US" sz="800" spc="17" kern="0" dirty="0">
                <a:solidFill>
                  <a:srgbClr val="888888"/>
                </a:solidFill>
                <a:latin typeface="Courier New" pitchFamily="34" charset="0"/>
                <a:ea typeface="Courier New" pitchFamily="34" charset="-122"/>
                <a:cs typeface="Courier New" pitchFamily="34" charset="-120"/>
              </a:rPr>
              <a:t>info leak → vuln probe → XSS test → SQLi test →</a:t>
            </a:r>
            <a:endParaRPr lang="en-US" sz="800" dirty="0"/>
          </a:p>
          <a:p>
            <a:pPr algn="l" indent="0" marL="0">
              <a:lnSpc>
                <a:spcPts val="1389"/>
              </a:lnSpc>
              <a:buNone/>
            </a:pPr>
            <a:r>
              <a:rPr lang="en-US" sz="800" spc="17" kern="0" dirty="0">
                <a:solidFill>
                  <a:srgbClr val="888888"/>
                </a:solidFill>
                <a:latin typeface="Courier New" pitchFamily="34" charset="0"/>
                <a:ea typeface="Courier New" pitchFamily="34" charset="-122"/>
                <a:cs typeface="Courier New" pitchFamily="34" charset="-120"/>
              </a:rPr>
              <a:t>RCE test → config audit → </a:t>
            </a:r>
            <a:pPr algn="l" indent="0" marL="0">
              <a:lnSpc>
                <a:spcPts val="1389"/>
              </a:lnSpc>
              <a:buNone/>
            </a:pPr>
            <a:r>
              <a:rPr lang="en-US" sz="800" spc="17" kern="0" dirty="0">
                <a:solidFill>
                  <a:srgbClr val="00FF41"/>
                </a:solidFill>
                <a:latin typeface="Courier New" pitchFamily="34" charset="0"/>
                <a:ea typeface="Courier New" pitchFamily="34" charset="-122"/>
                <a:cs typeface="Courier New" pitchFamily="34" charset="-120"/>
              </a:rPr>
              <a:t>final synthesis</a:t>
            </a:r>
            <a:endParaRPr lang="en-US" sz="800" dirty="0"/>
          </a:p>
        </p:txBody>
      </p:sp>
      <p:sp>
        <p:nvSpPr>
          <p:cNvPr id="7" name="Text 5"/>
          <p:cNvSpPr/>
          <p:nvPr/>
        </p:nvSpPr>
        <p:spPr>
          <a:xfrm>
            <a:off x="514350" y="3510149"/>
            <a:ext cx="4041688" cy="185166"/>
          </a:xfrm>
          <a:prstGeom prst="rect">
            <a:avLst/>
          </a:prstGeom>
          <a:noFill/>
          <a:ln/>
        </p:spPr>
        <p:txBody>
          <a:bodyPr wrap="square" lIns="0" tIns="0" rIns="0" bIns="0" rtlCol="0" anchor="t"/>
          <a:lstStyle/>
          <a:p>
            <a:pPr algn="l" indent="0" marL="0">
              <a:lnSpc>
                <a:spcPts val="1350"/>
              </a:lnSpc>
              <a:buNone/>
            </a:pPr>
            <a:r>
              <a:rPr lang="en-US" sz="844" dirty="0">
                <a:solidFill>
                  <a:srgbClr val="888888"/>
                </a:solidFill>
                <a:latin typeface="Carlito" pitchFamily="34" charset="0"/>
                <a:ea typeface="Carlito" pitchFamily="34" charset="-122"/>
                <a:cs typeface="Carlito" pitchFamily="34" charset="-120"/>
              </a:rPr>
              <a:t>Each stage feeds into the </a:t>
            </a:r>
            <a:pPr algn="l" indent="0" marL="0">
              <a:lnSpc>
                <a:spcPts val="1350"/>
              </a:lnSpc>
              <a:buNone/>
            </a:pPr>
            <a:r>
              <a:rPr lang="en-US" sz="844" dirty="0">
                <a:solidFill>
                  <a:srgbClr val="00FF41"/>
                </a:solidFill>
                <a:latin typeface="Carlito" pitchFamily="34" charset="0"/>
                <a:ea typeface="Carlito" pitchFamily="34" charset="-122"/>
                <a:cs typeface="Carlito" pitchFamily="34" charset="-120"/>
              </a:rPr>
              <a:t>Fear Index</a:t>
            </a:r>
            <a:pPr algn="l" indent="0" marL="0">
              <a:lnSpc>
                <a:spcPts val="1350"/>
              </a:lnSpc>
              <a:buNone/>
            </a:pPr>
            <a:r>
              <a:rPr lang="en-US" sz="844" dirty="0">
                <a:solidFill>
                  <a:srgbClr val="888888"/>
                </a:solidFill>
                <a:latin typeface="Carlito" pitchFamily="34" charset="0"/>
                <a:ea typeface="Carlito" pitchFamily="34" charset="-122"/>
                <a:cs typeface="Carlito" pitchFamily="34" charset="-120"/>
              </a:rPr>
              <a:t> — a unified threat score.</a:t>
            </a:r>
            <a:endParaRPr lang="en-US" sz="844" dirty="0"/>
          </a:p>
        </p:txBody>
      </p:sp>
      <p:sp>
        <p:nvSpPr>
          <p:cNvPr id="8" name="Text 6"/>
          <p:cNvSpPr/>
          <p:nvPr/>
        </p:nvSpPr>
        <p:spPr>
          <a:xfrm>
            <a:off x="4898938" y="2031727"/>
            <a:ext cx="4245062" cy="175451"/>
          </a:xfrm>
          <a:prstGeom prst="rect">
            <a:avLst/>
          </a:prstGeom>
          <a:noFill/>
          <a:ln/>
        </p:spPr>
        <p:txBody>
          <a:bodyPr wrap="none" lIns="0" tIns="0" rIns="0" bIns="0" rtlCol="0" anchor="t"/>
          <a:lstStyle/>
          <a:p>
            <a:pPr algn="l" indent="0" marL="0">
              <a:lnSpc>
                <a:spcPts val="1080"/>
              </a:lnSpc>
              <a:buNone/>
            </a:pPr>
            <a:r>
              <a:rPr lang="en-US" sz="800" spc="113" kern="0" dirty="0">
                <a:solidFill>
                  <a:srgbClr val="888888"/>
                </a:solidFill>
                <a:latin typeface="Courier New" pitchFamily="34" charset="0"/>
                <a:ea typeface="Courier New" pitchFamily="34" charset="-122"/>
                <a:cs typeface="Courier New" pitchFamily="34" charset="-120"/>
              </a:rPr>
              <a:t>FEAR INDEX LEVELS</a:t>
            </a:r>
            <a:endParaRPr lang="en-US" sz="800" dirty="0"/>
          </a:p>
        </p:txBody>
      </p:sp>
      <p:sp>
        <p:nvSpPr>
          <p:cNvPr id="9" name="Text 7"/>
          <p:cNvSpPr/>
          <p:nvPr/>
        </p:nvSpPr>
        <p:spPr>
          <a:xfrm>
            <a:off x="4658908" y="2283098"/>
            <a:ext cx="1097280" cy="175538"/>
          </a:xfrm>
          <a:prstGeom prst="rect">
            <a:avLst/>
          </a:prstGeom>
          <a:noFill/>
          <a:ln/>
        </p:spPr>
        <p:txBody>
          <a:bodyPr wrap="none" lIns="0" tIns="0" rIns="0" bIns="0" rtlCol="0" anchor="t"/>
          <a:lstStyle/>
          <a:p>
            <a:pPr algn="r" indent="0" marL="0">
              <a:lnSpc>
                <a:spcPts val="1170"/>
              </a:lnSpc>
              <a:buNone/>
            </a:pPr>
            <a:r>
              <a:rPr lang="en-US" sz="800" dirty="0">
                <a:solidFill>
                  <a:srgbClr val="00FF41"/>
                </a:solidFill>
                <a:latin typeface="Courier New" pitchFamily="34" charset="0"/>
                <a:ea typeface="Courier New" pitchFamily="34" charset="-122"/>
                <a:cs typeface="Courier New" pitchFamily="34" charset="-120"/>
              </a:rPr>
              <a:t>SUBTLE</a:t>
            </a:r>
            <a:endParaRPr lang="en-US" sz="800" dirty="0"/>
          </a:p>
        </p:txBody>
      </p:sp>
      <p:sp>
        <p:nvSpPr>
          <p:cNvPr id="10" name="Text 8"/>
          <p:cNvSpPr/>
          <p:nvPr/>
        </p:nvSpPr>
        <p:spPr>
          <a:xfrm>
            <a:off x="5841913" y="2307320"/>
            <a:ext cx="571500" cy="100013"/>
          </a:xfrm>
          <a:prstGeom prst="roundRect">
            <a:avLst>
              <a:gd name="adj" fmla="val 28571"/>
            </a:avLst>
          </a:prstGeom>
          <a:solidFill>
            <a:srgbClr val="00FF41">
              <a:alpha val="25000"/>
            </a:srgbClr>
          </a:solidFill>
          <a:ln/>
        </p:spPr>
        <p:txBody>
          <a:bodyPr wrap="square" rtlCol="0" anchor="ctr"/>
          <a:lstStyle/>
          <a:p>
            <a:pPr indent="0" marL="0">
              <a:buNone/>
            </a:pPr>
            <a:endParaRPr lang="en-US" dirty="0"/>
          </a:p>
        </p:txBody>
      </p:sp>
      <p:sp>
        <p:nvSpPr>
          <p:cNvPr id="11" name="Text 9"/>
          <p:cNvSpPr/>
          <p:nvPr/>
        </p:nvSpPr>
        <p:spPr>
          <a:xfrm>
            <a:off x="4658908" y="2503103"/>
            <a:ext cx="1097280" cy="175538"/>
          </a:xfrm>
          <a:prstGeom prst="rect">
            <a:avLst/>
          </a:prstGeom>
          <a:noFill/>
          <a:ln/>
        </p:spPr>
        <p:txBody>
          <a:bodyPr wrap="none" lIns="0" tIns="0" rIns="0" bIns="0" rtlCol="0" anchor="t"/>
          <a:lstStyle/>
          <a:p>
            <a:pPr algn="r" indent="0" marL="0">
              <a:lnSpc>
                <a:spcPts val="1170"/>
              </a:lnSpc>
              <a:buNone/>
            </a:pPr>
            <a:r>
              <a:rPr lang="en-US" sz="800" dirty="0">
                <a:solidFill>
                  <a:srgbClr val="E6DB00"/>
                </a:solidFill>
                <a:latin typeface="Courier New" pitchFamily="34" charset="0"/>
                <a:ea typeface="Courier New" pitchFamily="34" charset="-122"/>
                <a:cs typeface="Courier New" pitchFamily="34" charset="-120"/>
              </a:rPr>
              <a:t>NOTABLE</a:t>
            </a:r>
            <a:endParaRPr lang="en-US" sz="800" dirty="0"/>
          </a:p>
        </p:txBody>
      </p:sp>
      <p:sp>
        <p:nvSpPr>
          <p:cNvPr id="12" name="Text 10"/>
          <p:cNvSpPr/>
          <p:nvPr/>
        </p:nvSpPr>
        <p:spPr>
          <a:xfrm>
            <a:off x="5841913" y="2527325"/>
            <a:ext cx="1000125" cy="100013"/>
          </a:xfrm>
          <a:prstGeom prst="roundRect">
            <a:avLst>
              <a:gd name="adj" fmla="val 28571"/>
            </a:avLst>
          </a:prstGeom>
          <a:solidFill>
            <a:srgbClr val="E6DB00">
              <a:alpha val="30000"/>
            </a:srgbClr>
          </a:solidFill>
          <a:ln/>
        </p:spPr>
        <p:txBody>
          <a:bodyPr wrap="square" rtlCol="0" anchor="ctr"/>
          <a:lstStyle/>
          <a:p>
            <a:pPr indent="0" marL="0">
              <a:buNone/>
            </a:pPr>
            <a:endParaRPr lang="en-US" dirty="0"/>
          </a:p>
        </p:txBody>
      </p:sp>
      <p:sp>
        <p:nvSpPr>
          <p:cNvPr id="13" name="Text 11"/>
          <p:cNvSpPr/>
          <p:nvPr/>
        </p:nvSpPr>
        <p:spPr>
          <a:xfrm>
            <a:off x="4658908" y="2723108"/>
            <a:ext cx="1097280" cy="175538"/>
          </a:xfrm>
          <a:prstGeom prst="rect">
            <a:avLst/>
          </a:prstGeom>
          <a:noFill/>
          <a:ln/>
        </p:spPr>
        <p:txBody>
          <a:bodyPr wrap="none" lIns="0" tIns="0" rIns="0" bIns="0" rtlCol="0" anchor="t"/>
          <a:lstStyle/>
          <a:p>
            <a:pPr algn="r" indent="0" marL="0">
              <a:lnSpc>
                <a:spcPts val="1170"/>
              </a:lnSpc>
              <a:buNone/>
            </a:pPr>
            <a:r>
              <a:rPr lang="en-US" sz="800" dirty="0">
                <a:solidFill>
                  <a:srgbClr val="FF8C00"/>
                </a:solidFill>
                <a:latin typeface="Courier New" pitchFamily="34" charset="0"/>
                <a:ea typeface="Courier New" pitchFamily="34" charset="-122"/>
                <a:cs typeface="Courier New" pitchFamily="34" charset="-120"/>
              </a:rPr>
              <a:t>ALARMING</a:t>
            </a:r>
            <a:endParaRPr lang="en-US" sz="800" dirty="0"/>
          </a:p>
        </p:txBody>
      </p:sp>
      <p:sp>
        <p:nvSpPr>
          <p:cNvPr id="14" name="Text 12"/>
          <p:cNvSpPr/>
          <p:nvPr/>
        </p:nvSpPr>
        <p:spPr>
          <a:xfrm>
            <a:off x="5841913" y="2747330"/>
            <a:ext cx="1428750" cy="100013"/>
          </a:xfrm>
          <a:prstGeom prst="roundRect">
            <a:avLst>
              <a:gd name="adj" fmla="val 28571"/>
            </a:avLst>
          </a:prstGeom>
          <a:solidFill>
            <a:srgbClr val="FF8C00">
              <a:alpha val="35000"/>
            </a:srgbClr>
          </a:solidFill>
          <a:ln/>
        </p:spPr>
        <p:txBody>
          <a:bodyPr wrap="square" rtlCol="0" anchor="ctr"/>
          <a:lstStyle/>
          <a:p>
            <a:pPr indent="0" marL="0">
              <a:buNone/>
            </a:pPr>
            <a:endParaRPr lang="en-US" dirty="0"/>
          </a:p>
        </p:txBody>
      </p:sp>
      <p:sp>
        <p:nvSpPr>
          <p:cNvPr id="15" name="Text 13"/>
          <p:cNvSpPr/>
          <p:nvPr/>
        </p:nvSpPr>
        <p:spPr>
          <a:xfrm>
            <a:off x="4751491" y="2943113"/>
            <a:ext cx="1004697" cy="175538"/>
          </a:xfrm>
          <a:prstGeom prst="rect">
            <a:avLst/>
          </a:prstGeom>
          <a:noFill/>
          <a:ln/>
        </p:spPr>
        <p:txBody>
          <a:bodyPr wrap="none" lIns="0" tIns="0" rIns="0" bIns="0" rtlCol="0" anchor="t"/>
          <a:lstStyle/>
          <a:p>
            <a:pPr algn="r" indent="0" marL="0">
              <a:lnSpc>
                <a:spcPts val="1170"/>
              </a:lnSpc>
              <a:buNone/>
            </a:pPr>
            <a:r>
              <a:rPr lang="en-US" sz="800" dirty="0">
                <a:solidFill>
                  <a:srgbClr val="FF0040"/>
                </a:solidFill>
                <a:latin typeface="Courier New" pitchFamily="34" charset="0"/>
                <a:ea typeface="Courier New" pitchFamily="34" charset="-122"/>
                <a:cs typeface="Courier New" pitchFamily="34" charset="-120"/>
              </a:rPr>
              <a:t>DEVASTATING</a:t>
            </a:r>
            <a:endParaRPr lang="en-US" sz="800" dirty="0"/>
          </a:p>
        </p:txBody>
      </p:sp>
      <p:sp>
        <p:nvSpPr>
          <p:cNvPr id="16" name="Text 14"/>
          <p:cNvSpPr/>
          <p:nvPr/>
        </p:nvSpPr>
        <p:spPr>
          <a:xfrm>
            <a:off x="5841913" y="2967335"/>
            <a:ext cx="1857375" cy="100013"/>
          </a:xfrm>
          <a:prstGeom prst="roundRect">
            <a:avLst>
              <a:gd name="adj" fmla="val 28571"/>
            </a:avLst>
          </a:prstGeom>
          <a:solidFill>
            <a:srgbClr val="FF0040">
              <a:alpha val="40000"/>
            </a:srgbClr>
          </a:solidFill>
          <a:ln/>
        </p:spPr>
        <p:txBody>
          <a:bodyPr wrap="square" rtlCol="0" anchor="ctr"/>
          <a:lstStyle/>
          <a:p>
            <a:pPr indent="0" marL="0">
              <a:buNone/>
            </a:pPr>
            <a:endParaRPr lang="en-US" dirty="0"/>
          </a:p>
        </p:txBody>
      </p:sp>
      <p:sp>
        <p:nvSpPr>
          <p:cNvPr id="17" name="Text 15"/>
          <p:cNvSpPr/>
          <p:nvPr/>
        </p:nvSpPr>
        <p:spPr>
          <a:xfrm>
            <a:off x="4751491" y="3163119"/>
            <a:ext cx="1004697" cy="175538"/>
          </a:xfrm>
          <a:prstGeom prst="rect">
            <a:avLst/>
          </a:prstGeom>
          <a:noFill/>
          <a:ln/>
          <a:effectLst>
            <a:outerShdw sx="100000" sy="100000" kx="0" ky="0" algn="bl" rotWithShape="0" blurRad="95250" dist="50800" dir="16200000">
              <a:srgbClr val="FF0040">
                <a:alpha val="60000"/>
              </a:srgbClr>
            </a:outerShdw>
          </a:effectLst>
        </p:spPr>
        <p:txBody>
          <a:bodyPr wrap="none" lIns="0" tIns="0" rIns="0" bIns="0" rtlCol="0" anchor="t"/>
          <a:lstStyle/>
          <a:p>
            <a:pPr algn="r" indent="0" marL="0">
              <a:lnSpc>
                <a:spcPts val="1170"/>
              </a:lnSpc>
              <a:buNone/>
            </a:pPr>
            <a:r>
              <a:rPr lang="en-US" sz="800" dirty="0">
                <a:solidFill>
                  <a:srgbClr val="FF0040"/>
                </a:solidFill>
                <a:latin typeface="Courier New" pitchFamily="34" charset="0"/>
                <a:ea typeface="Courier New" pitchFamily="34" charset="-122"/>
                <a:cs typeface="Courier New" pitchFamily="34" charset="-120"/>
              </a:rPr>
              <a:t>OMNIPOTENT</a:t>
            </a:r>
            <a:endParaRPr lang="en-US" sz="800" dirty="0"/>
          </a:p>
        </p:txBody>
      </p:sp>
      <p:sp>
        <p:nvSpPr>
          <p:cNvPr id="18" name="Text 16"/>
          <p:cNvSpPr/>
          <p:nvPr/>
        </p:nvSpPr>
        <p:spPr>
          <a:xfrm>
            <a:off x="5841913" y="3187340"/>
            <a:ext cx="2286000" cy="100013"/>
          </a:xfrm>
          <a:prstGeom prst="roundRect">
            <a:avLst>
              <a:gd name="adj" fmla="val 28571"/>
            </a:avLst>
          </a:prstGeom>
          <a:solidFill>
            <a:srgbClr val="FF0040">
              <a:alpha val="60000"/>
            </a:srgbClr>
          </a:solidFill>
          <a:ln/>
          <a:effectLst>
            <a:outerShdw sx="100000" sy="100000" kx="0" ky="0" algn="bl" rotWithShape="0" blurRad="114300" dist="50800" dir="16200000">
              <a:srgbClr val="FF0040">
                <a:alpha val="40000"/>
              </a:srgbClr>
            </a:outerShdw>
          </a:effectLst>
        </p:spPr>
        <p:txBody>
          <a:bodyPr wrap="square" rtlCol="0" anchor="ctr"/>
          <a:lstStyle/>
          <a:p>
            <a:pPr indent="0" marL="0">
              <a:buNone/>
            </a:pPr>
            <a:endParaRPr lang="en-US" dirty="0"/>
          </a:p>
        </p:txBody>
      </p:sp>
      <p:sp>
        <p:nvSpPr>
          <p:cNvPr id="19" name="Text 17"/>
          <p:cNvSpPr/>
          <p:nvPr/>
        </p:nvSpPr>
        <p:spPr>
          <a:xfrm>
            <a:off x="4898938" y="3454561"/>
            <a:ext cx="3730712" cy="351077"/>
          </a:xfrm>
          <a:prstGeom prst="rect">
            <a:avLst/>
          </a:prstGeom>
          <a:noFill/>
          <a:ln/>
        </p:spPr>
        <p:txBody>
          <a:bodyPr wrap="square" lIns="0" tIns="0" rIns="0" bIns="0" rtlCol="0" anchor="t"/>
          <a:lstStyle/>
          <a:p>
            <a:pPr algn="l" indent="0" marL="0">
              <a:lnSpc>
                <a:spcPts val="1170"/>
              </a:lnSpc>
              <a:buNone/>
            </a:pPr>
            <a:r>
              <a:rPr lang="en-US" sz="800" dirty="0">
                <a:solidFill>
                  <a:srgbClr val="888888"/>
                </a:solidFill>
                <a:latin typeface="Carlito" pitchFamily="34" charset="0"/>
                <a:ea typeface="Carlito" pitchFamily="34" charset="-122"/>
                <a:cs typeface="Carlito" pitchFamily="34" charset="-120"/>
              </a:rPr>
              <a:t>The Fear Index quantifies your threat level on a scale from subtle to omnipotent. No other open-source tool does this.</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514350" y="342900"/>
            <a:ext cx="2009896" cy="444350"/>
          </a:xfrm>
          <a:prstGeom prst="rect">
            <a:avLst/>
          </a:prstGeom>
          <a:noFill/>
          <a:ln/>
          <a:effectLst>
            <a:outerShdw sx="100000" sy="100000" kx="0" ky="0" algn="bl" rotWithShape="0" blurRad="152400" dist="50800" dir="16200000">
              <a:srgbClr val="FF0040">
                <a:alpha val="40000"/>
              </a:srgbClr>
            </a:outerShdw>
          </a:effectLst>
        </p:spPr>
        <p:txBody>
          <a:bodyPr wrap="none" lIns="0" tIns="0" rIns="0" bIns="0" rtlCol="0" anchor="t"/>
          <a:lstStyle/>
          <a:p>
            <a:pPr algn="l" indent="0" marL="0">
              <a:lnSpc>
                <a:spcPts val="3240"/>
              </a:lnSpc>
              <a:buNone/>
            </a:pPr>
            <a:r>
              <a:rPr lang="en-US" sz="2025" b="1" spc="113" kern="0" dirty="0">
                <a:solidFill>
                  <a:srgbClr val="FF0040"/>
                </a:solidFill>
                <a:latin typeface="Courier New" pitchFamily="34" charset="0"/>
                <a:ea typeface="Courier New" pitchFamily="34" charset="-122"/>
                <a:cs typeface="Courier New" pitchFamily="34" charset="-120"/>
              </a:rPr>
              <a:t>OBLIVION</a:t>
            </a:r>
            <a:endParaRPr lang="en-US" sz="2025" dirty="0"/>
          </a:p>
        </p:txBody>
      </p:sp>
      <p:sp>
        <p:nvSpPr>
          <p:cNvPr id="3" name="Text 1"/>
          <p:cNvSpPr/>
          <p:nvPr/>
        </p:nvSpPr>
        <p:spPr>
          <a:xfrm>
            <a:off x="1985181" y="447935"/>
            <a:ext cx="2110085" cy="201364"/>
          </a:xfrm>
          <a:prstGeom prst="roundRect">
            <a:avLst>
              <a:gd name="adj" fmla="val 28381"/>
            </a:avLst>
          </a:prstGeom>
          <a:solidFill>
            <a:srgbClr val="FF0040">
              <a:alpha val="12000"/>
            </a:srgbClr>
          </a:solidFill>
          <a:ln w="7144">
            <a:solidFill>
              <a:srgbClr val="FF0040"/>
            </a:solidFill>
            <a:prstDash val="solid"/>
          </a:ln>
        </p:spPr>
        <p:txBody>
          <a:bodyPr wrap="square" rtlCol="0" anchor="ctr"/>
          <a:lstStyle/>
          <a:p>
            <a:pPr indent="0" marL="0">
              <a:buNone/>
            </a:pPr>
            <a:endParaRPr lang="en-US" dirty="0"/>
          </a:p>
        </p:txBody>
      </p:sp>
      <p:sp>
        <p:nvSpPr>
          <p:cNvPr id="4" name="Text 2"/>
          <p:cNvSpPr/>
          <p:nvPr/>
        </p:nvSpPr>
        <p:spPr>
          <a:xfrm>
            <a:off x="1981609" y="444364"/>
            <a:ext cx="6648041" cy="266891"/>
          </a:xfrm>
          <a:prstGeom prst="rect">
            <a:avLst/>
          </a:prstGeom>
          <a:noFill/>
          <a:ln/>
        </p:spPr>
        <p:txBody>
          <a:bodyPr wrap="square" lIns="85725" tIns="28575" rIns="85725" bIns="28575" rtlCol="0" anchor="t"/>
          <a:lstStyle/>
          <a:p>
            <a:pPr algn="l" indent="0" marL="0">
              <a:lnSpc>
                <a:spcPts val="1080"/>
              </a:lnSpc>
              <a:buNone/>
            </a:pPr>
            <a:r>
              <a:rPr lang="en-US" sz="800" spc="28" kern="0" dirty="0">
                <a:solidFill>
                  <a:srgbClr val="FF0040"/>
                </a:solidFill>
                <a:latin typeface="Liberation Sans Narrow" pitchFamily="34" charset="0"/>
                <a:ea typeface="Liberation Sans Narrow" pitchFamily="34" charset="-122"/>
                <a:cs typeface="Liberation Sans Narrow" pitchFamily="34" charset="-120"/>
              </a:rPr>
              <a:t>20-STAGE DEEP VULNERABILITY SCANNER</a:t>
            </a:r>
            <a:endParaRPr lang="en-US" sz="800" dirty="0"/>
          </a:p>
        </p:txBody>
      </p:sp>
      <p:sp>
        <p:nvSpPr>
          <p:cNvPr id="5" name="Text 3"/>
          <p:cNvSpPr/>
          <p:nvPr/>
        </p:nvSpPr>
        <p:spPr>
          <a:xfrm>
            <a:off x="514350" y="1822772"/>
            <a:ext cx="3900488" cy="590217"/>
          </a:xfrm>
          <a:prstGeom prst="rect">
            <a:avLst/>
          </a:prstGeom>
          <a:noFill/>
          <a:ln/>
        </p:spPr>
        <p:txBody>
          <a:bodyPr wrap="square" lIns="0" tIns="0" rIns="0" bIns="0" rtlCol="0" anchor="t"/>
          <a:lstStyle/>
          <a:p>
            <a:pPr algn="l" indent="0" marL="0">
              <a:lnSpc>
                <a:spcPts val="1434"/>
              </a:lnSpc>
              <a:buNone/>
            </a:pPr>
            <a:r>
              <a:rPr lang="en-US" sz="844" dirty="0">
                <a:solidFill>
                  <a:srgbClr val="E0E0E0"/>
                </a:solidFill>
                <a:latin typeface="Carlito" pitchFamily="34" charset="0"/>
                <a:ea typeface="Carlito" pitchFamily="34" charset="-122"/>
                <a:cs typeface="Carlito" pitchFamily="34" charset="-120"/>
              </a:rPr>
              <a:t>OBLIVION is the deep vulnerability scanner that goes where standard tools fear to tread. </a:t>
            </a:r>
            <a:pPr algn="l" indent="0" marL="0">
              <a:lnSpc>
                <a:spcPts val="1434"/>
              </a:lnSpc>
              <a:buNone/>
            </a:pPr>
            <a:r>
              <a:rPr lang="en-US" sz="844" b="1" dirty="0">
                <a:solidFill>
                  <a:srgbClr val="FFFFFF"/>
                </a:solidFill>
                <a:latin typeface="Liberation Sans Narrow" pitchFamily="34" charset="0"/>
                <a:ea typeface="Liberation Sans Narrow" pitchFamily="34" charset="-122"/>
                <a:cs typeface="Liberation Sans Narrow" pitchFamily="34" charset="-120"/>
              </a:rPr>
              <a:t>20 analysis stages</a:t>
            </a:r>
            <a:pPr algn="l" indent="0" marL="0">
              <a:lnSpc>
                <a:spcPts val="1434"/>
              </a:lnSpc>
              <a:buNone/>
            </a:pPr>
            <a:r>
              <a:rPr lang="en-US" sz="844" dirty="0">
                <a:solidFill>
                  <a:srgbClr val="E0E0E0"/>
                </a:solidFill>
                <a:latin typeface="Carlito" pitchFamily="34" charset="0"/>
                <a:ea typeface="Carlito" pitchFamily="34" charset="-122"/>
                <a:cs typeface="Carlito" pitchFamily="34" charset="-120"/>
              </a:rPr>
              <a:t> including SQL injection probing, XSS hunting, SSRF chain exploitation, path traversal detection, and more.</a:t>
            </a:r>
            <a:endParaRPr lang="en-US" sz="844" dirty="0"/>
          </a:p>
        </p:txBody>
      </p:sp>
      <p:sp>
        <p:nvSpPr>
          <p:cNvPr id="6" name="Text 4"/>
          <p:cNvSpPr/>
          <p:nvPr/>
        </p:nvSpPr>
        <p:spPr>
          <a:xfrm>
            <a:off x="514350" y="2512144"/>
            <a:ext cx="4212527" cy="185166"/>
          </a:xfrm>
          <a:prstGeom prst="rect">
            <a:avLst/>
          </a:prstGeom>
          <a:noFill/>
          <a:ln/>
        </p:spPr>
        <p:txBody>
          <a:bodyPr wrap="square" lIns="0" tIns="0" rIns="0" bIns="0" rtlCol="0" anchor="t"/>
          <a:lstStyle/>
          <a:p>
            <a:pPr algn="l" indent="0" marL="0">
              <a:lnSpc>
                <a:spcPts val="1350"/>
              </a:lnSpc>
              <a:buNone/>
            </a:pPr>
            <a:r>
              <a:rPr lang="en-US" sz="844" dirty="0">
                <a:solidFill>
                  <a:srgbClr val="888888"/>
                </a:solidFill>
                <a:latin typeface="Carlito" pitchFamily="34" charset="0"/>
                <a:ea typeface="Carlito" pitchFamily="34" charset="-122"/>
                <a:cs typeface="Carlito" pitchFamily="34" charset="-120"/>
              </a:rPr>
              <a:t>Every finding is scored on the </a:t>
            </a:r>
            <a:pPr algn="l" indent="0" marL="0">
              <a:lnSpc>
                <a:spcPts val="1350"/>
              </a:lnSpc>
              <a:buNone/>
            </a:pPr>
            <a:r>
              <a:rPr lang="en-US" sz="844" dirty="0">
                <a:solidFill>
                  <a:srgbClr val="FF0040"/>
                </a:solidFill>
                <a:latin typeface="Carlito" pitchFamily="34" charset="0"/>
                <a:ea typeface="Carlito" pitchFamily="34" charset="-122"/>
                <a:cs typeface="Carlito" pitchFamily="34" charset="-120"/>
              </a:rPr>
              <a:t>DREAD scale</a:t>
            </a:r>
            <a:pPr algn="l" indent="0" marL="0">
              <a:lnSpc>
                <a:spcPts val="1350"/>
              </a:lnSpc>
              <a:buNone/>
            </a:pPr>
            <a:r>
              <a:rPr lang="en-US" sz="844" dirty="0">
                <a:solidFill>
                  <a:srgbClr val="888888"/>
                </a:solidFill>
                <a:latin typeface="Carlito" pitchFamily="34" charset="0"/>
                <a:ea typeface="Carlito" pitchFamily="34" charset="-122"/>
                <a:cs typeface="Carlito" pitchFamily="34" charset="-120"/>
              </a:rPr>
              <a:t>.</a:t>
            </a:r>
            <a:endParaRPr lang="en-US" sz="844" dirty="0"/>
          </a:p>
        </p:txBody>
      </p:sp>
      <p:sp>
        <p:nvSpPr>
          <p:cNvPr id="7" name="Text 5"/>
          <p:cNvSpPr/>
          <p:nvPr/>
        </p:nvSpPr>
        <p:spPr>
          <a:xfrm>
            <a:off x="514350" y="2900697"/>
            <a:ext cx="57150" cy="57150"/>
          </a:xfrm>
          <a:prstGeom prst="roundRect">
            <a:avLst>
              <a:gd name="adj" fmla="val 33333"/>
            </a:avLst>
          </a:prstGeom>
          <a:solidFill>
            <a:srgbClr val="555555"/>
          </a:solidFill>
          <a:ln/>
        </p:spPr>
        <p:txBody>
          <a:bodyPr wrap="square" rtlCol="0" anchor="ctr"/>
          <a:lstStyle/>
          <a:p>
            <a:pPr indent="0" marL="0">
              <a:buNone/>
            </a:pPr>
            <a:endParaRPr lang="en-US" dirty="0"/>
          </a:p>
        </p:txBody>
      </p:sp>
      <p:sp>
        <p:nvSpPr>
          <p:cNvPr id="8" name="Text 6"/>
          <p:cNvSpPr/>
          <p:nvPr/>
        </p:nvSpPr>
        <p:spPr>
          <a:xfrm>
            <a:off x="642938" y="2855044"/>
            <a:ext cx="3771900" cy="175538"/>
          </a:xfrm>
          <a:prstGeom prst="rect">
            <a:avLst/>
          </a:prstGeom>
          <a:noFill/>
          <a:ln/>
        </p:spPr>
        <p:txBody>
          <a:bodyPr wrap="none" lIns="0" tIns="0" rIns="0" bIns="0" rtlCol="0" anchor="t"/>
          <a:lstStyle/>
          <a:p>
            <a:pPr algn="l" indent="0" marL="0">
              <a:lnSpc>
                <a:spcPts val="1170"/>
              </a:lnSpc>
              <a:buNone/>
            </a:pPr>
            <a:r>
              <a:rPr lang="en-US" sz="800" dirty="0">
                <a:solidFill>
                  <a:srgbClr val="888888"/>
                </a:solidFill>
                <a:latin typeface="Courier New" pitchFamily="34" charset="0"/>
                <a:ea typeface="Courier New" pitchFamily="34" charset="-122"/>
                <a:cs typeface="Courier New" pitchFamily="34" charset="-120"/>
              </a:rPr>
              <a:t>Info</a:t>
            </a:r>
            <a:endParaRPr lang="en-US" sz="800" dirty="0"/>
          </a:p>
        </p:txBody>
      </p:sp>
      <p:sp>
        <p:nvSpPr>
          <p:cNvPr id="9" name="Text 7"/>
          <p:cNvSpPr/>
          <p:nvPr/>
        </p:nvSpPr>
        <p:spPr>
          <a:xfrm>
            <a:off x="514350" y="3092128"/>
            <a:ext cx="57150" cy="57150"/>
          </a:xfrm>
          <a:prstGeom prst="roundRect">
            <a:avLst>
              <a:gd name="adj" fmla="val 33333"/>
            </a:avLst>
          </a:prstGeom>
          <a:solidFill>
            <a:srgbClr val="00FF41"/>
          </a:solidFill>
          <a:ln/>
        </p:spPr>
        <p:txBody>
          <a:bodyPr wrap="square" rtlCol="0" anchor="ctr"/>
          <a:lstStyle/>
          <a:p>
            <a:pPr indent="0" marL="0">
              <a:buNone/>
            </a:pPr>
            <a:endParaRPr lang="en-US" dirty="0"/>
          </a:p>
        </p:txBody>
      </p:sp>
      <p:sp>
        <p:nvSpPr>
          <p:cNvPr id="10" name="Text 8"/>
          <p:cNvSpPr/>
          <p:nvPr/>
        </p:nvSpPr>
        <p:spPr>
          <a:xfrm>
            <a:off x="642938" y="3046475"/>
            <a:ext cx="3771900" cy="175538"/>
          </a:xfrm>
          <a:prstGeom prst="rect">
            <a:avLst/>
          </a:prstGeom>
          <a:noFill/>
          <a:ln/>
        </p:spPr>
        <p:txBody>
          <a:bodyPr wrap="none" lIns="0" tIns="0" rIns="0" bIns="0" rtlCol="0" anchor="t"/>
          <a:lstStyle/>
          <a:p>
            <a:pPr algn="l" indent="0" marL="0">
              <a:lnSpc>
                <a:spcPts val="1170"/>
              </a:lnSpc>
              <a:buNone/>
            </a:pPr>
            <a:r>
              <a:rPr lang="en-US" sz="800" dirty="0">
                <a:solidFill>
                  <a:srgbClr val="00FF41"/>
                </a:solidFill>
                <a:latin typeface="Courier New" pitchFamily="34" charset="0"/>
                <a:ea typeface="Courier New" pitchFamily="34" charset="-122"/>
                <a:cs typeface="Courier New" pitchFamily="34" charset="-120"/>
              </a:rPr>
              <a:t>Low</a:t>
            </a:r>
            <a:endParaRPr lang="en-US" sz="800" dirty="0"/>
          </a:p>
        </p:txBody>
      </p:sp>
      <p:sp>
        <p:nvSpPr>
          <p:cNvPr id="11" name="Text 9"/>
          <p:cNvSpPr/>
          <p:nvPr/>
        </p:nvSpPr>
        <p:spPr>
          <a:xfrm>
            <a:off x="514350" y="3283558"/>
            <a:ext cx="57150" cy="57150"/>
          </a:xfrm>
          <a:prstGeom prst="roundRect">
            <a:avLst>
              <a:gd name="adj" fmla="val 33333"/>
            </a:avLst>
          </a:prstGeom>
          <a:solidFill>
            <a:srgbClr val="E6DB00"/>
          </a:solidFill>
          <a:ln/>
        </p:spPr>
        <p:txBody>
          <a:bodyPr wrap="square" rtlCol="0" anchor="ctr"/>
          <a:lstStyle/>
          <a:p>
            <a:pPr indent="0" marL="0">
              <a:buNone/>
            </a:pPr>
            <a:endParaRPr lang="en-US" dirty="0"/>
          </a:p>
        </p:txBody>
      </p:sp>
      <p:sp>
        <p:nvSpPr>
          <p:cNvPr id="12" name="Text 10"/>
          <p:cNvSpPr/>
          <p:nvPr/>
        </p:nvSpPr>
        <p:spPr>
          <a:xfrm>
            <a:off x="642938" y="3237905"/>
            <a:ext cx="3771900" cy="175538"/>
          </a:xfrm>
          <a:prstGeom prst="rect">
            <a:avLst/>
          </a:prstGeom>
          <a:noFill/>
          <a:ln/>
        </p:spPr>
        <p:txBody>
          <a:bodyPr wrap="none" lIns="0" tIns="0" rIns="0" bIns="0" rtlCol="0" anchor="t"/>
          <a:lstStyle/>
          <a:p>
            <a:pPr algn="l" indent="0" marL="0">
              <a:lnSpc>
                <a:spcPts val="1170"/>
              </a:lnSpc>
              <a:buNone/>
            </a:pPr>
            <a:r>
              <a:rPr lang="en-US" sz="800" dirty="0">
                <a:solidFill>
                  <a:srgbClr val="E6DB00"/>
                </a:solidFill>
                <a:latin typeface="Courier New" pitchFamily="34" charset="0"/>
                <a:ea typeface="Courier New" pitchFamily="34" charset="-122"/>
                <a:cs typeface="Courier New" pitchFamily="34" charset="-120"/>
              </a:rPr>
              <a:t>Medium</a:t>
            </a:r>
            <a:endParaRPr lang="en-US" sz="800" dirty="0"/>
          </a:p>
        </p:txBody>
      </p:sp>
      <p:sp>
        <p:nvSpPr>
          <p:cNvPr id="13" name="Text 11"/>
          <p:cNvSpPr/>
          <p:nvPr/>
        </p:nvSpPr>
        <p:spPr>
          <a:xfrm>
            <a:off x="514350" y="3474988"/>
            <a:ext cx="57150" cy="57150"/>
          </a:xfrm>
          <a:prstGeom prst="roundRect">
            <a:avLst>
              <a:gd name="adj" fmla="val 33333"/>
            </a:avLst>
          </a:prstGeom>
          <a:solidFill>
            <a:srgbClr val="FF8C00"/>
          </a:solidFill>
          <a:ln/>
        </p:spPr>
        <p:txBody>
          <a:bodyPr wrap="square" rtlCol="0" anchor="ctr"/>
          <a:lstStyle/>
          <a:p>
            <a:pPr indent="0" marL="0">
              <a:buNone/>
            </a:pPr>
            <a:endParaRPr lang="en-US" dirty="0"/>
          </a:p>
        </p:txBody>
      </p:sp>
      <p:sp>
        <p:nvSpPr>
          <p:cNvPr id="14" name="Text 12"/>
          <p:cNvSpPr/>
          <p:nvPr/>
        </p:nvSpPr>
        <p:spPr>
          <a:xfrm>
            <a:off x="642938" y="3429335"/>
            <a:ext cx="3771900" cy="175538"/>
          </a:xfrm>
          <a:prstGeom prst="rect">
            <a:avLst/>
          </a:prstGeom>
          <a:noFill/>
          <a:ln/>
        </p:spPr>
        <p:txBody>
          <a:bodyPr wrap="none" lIns="0" tIns="0" rIns="0" bIns="0" rtlCol="0" anchor="t"/>
          <a:lstStyle/>
          <a:p>
            <a:pPr algn="l" indent="0" marL="0">
              <a:lnSpc>
                <a:spcPts val="1170"/>
              </a:lnSpc>
              <a:buNone/>
            </a:pPr>
            <a:r>
              <a:rPr lang="en-US" sz="800" dirty="0">
                <a:solidFill>
                  <a:srgbClr val="FF8C00"/>
                </a:solidFill>
                <a:latin typeface="Courier New" pitchFamily="34" charset="0"/>
                <a:ea typeface="Courier New" pitchFamily="34" charset="-122"/>
                <a:cs typeface="Courier New" pitchFamily="34" charset="-120"/>
              </a:rPr>
              <a:t>High</a:t>
            </a:r>
            <a:endParaRPr lang="en-US" sz="800" dirty="0"/>
          </a:p>
        </p:txBody>
      </p:sp>
      <p:sp>
        <p:nvSpPr>
          <p:cNvPr id="15" name="Text 13"/>
          <p:cNvSpPr/>
          <p:nvPr/>
        </p:nvSpPr>
        <p:spPr>
          <a:xfrm>
            <a:off x="514350" y="3666418"/>
            <a:ext cx="57150" cy="57150"/>
          </a:xfrm>
          <a:prstGeom prst="roundRect">
            <a:avLst>
              <a:gd name="adj" fmla="val 33333"/>
            </a:avLst>
          </a:prstGeom>
          <a:solidFill>
            <a:srgbClr val="FF0040"/>
          </a:solidFill>
          <a:ln/>
        </p:spPr>
        <p:txBody>
          <a:bodyPr wrap="square" rtlCol="0" anchor="ctr"/>
          <a:lstStyle/>
          <a:p>
            <a:pPr indent="0" marL="0">
              <a:buNone/>
            </a:pPr>
            <a:endParaRPr lang="en-US" dirty="0"/>
          </a:p>
        </p:txBody>
      </p:sp>
      <p:sp>
        <p:nvSpPr>
          <p:cNvPr id="16" name="Text 14"/>
          <p:cNvSpPr/>
          <p:nvPr/>
        </p:nvSpPr>
        <p:spPr>
          <a:xfrm>
            <a:off x="642938" y="3620765"/>
            <a:ext cx="3771900" cy="175538"/>
          </a:xfrm>
          <a:prstGeom prst="rect">
            <a:avLst/>
          </a:prstGeom>
          <a:noFill/>
          <a:ln/>
        </p:spPr>
        <p:txBody>
          <a:bodyPr wrap="none" lIns="0" tIns="0" rIns="0" bIns="0" rtlCol="0" anchor="t"/>
          <a:lstStyle/>
          <a:p>
            <a:pPr algn="l" indent="0" marL="0">
              <a:lnSpc>
                <a:spcPts val="1170"/>
              </a:lnSpc>
              <a:buNone/>
            </a:pPr>
            <a:r>
              <a:rPr lang="en-US" sz="800" dirty="0">
                <a:solidFill>
                  <a:srgbClr val="FF0040"/>
                </a:solidFill>
                <a:latin typeface="Courier New" pitchFamily="34" charset="0"/>
                <a:ea typeface="Courier New" pitchFamily="34" charset="-122"/>
                <a:cs typeface="Courier New" pitchFamily="34" charset="-120"/>
              </a:rPr>
              <a:t>Critical</a:t>
            </a:r>
            <a:endParaRPr lang="en-US" sz="800" dirty="0"/>
          </a:p>
        </p:txBody>
      </p:sp>
      <p:sp>
        <p:nvSpPr>
          <p:cNvPr id="17" name="Text 15"/>
          <p:cNvSpPr/>
          <p:nvPr/>
        </p:nvSpPr>
        <p:spPr>
          <a:xfrm>
            <a:off x="514350" y="3857848"/>
            <a:ext cx="57150" cy="57150"/>
          </a:xfrm>
          <a:prstGeom prst="roundRect">
            <a:avLst>
              <a:gd name="adj" fmla="val 33333"/>
            </a:avLst>
          </a:prstGeom>
          <a:solidFill>
            <a:srgbClr val="FF0040"/>
          </a:solidFill>
          <a:ln/>
          <a:effectLst>
            <a:outerShdw sx="100000" sy="100000" kx="0" ky="0" algn="bl" rotWithShape="0" blurRad="76200" dist="50800" dir="16200000">
              <a:srgbClr val="FF0040">
                <a:alpha val="70000"/>
              </a:srgbClr>
            </a:outerShdw>
          </a:effectLst>
        </p:spPr>
        <p:txBody>
          <a:bodyPr wrap="square" rtlCol="0" anchor="ctr"/>
          <a:lstStyle/>
          <a:p>
            <a:pPr indent="0" marL="0">
              <a:buNone/>
            </a:pPr>
            <a:endParaRPr lang="en-US" dirty="0"/>
          </a:p>
        </p:txBody>
      </p:sp>
      <p:sp>
        <p:nvSpPr>
          <p:cNvPr id="18" name="Text 16"/>
          <p:cNvSpPr/>
          <p:nvPr/>
        </p:nvSpPr>
        <p:spPr>
          <a:xfrm>
            <a:off x="637653" y="3812195"/>
            <a:ext cx="847817" cy="175538"/>
          </a:xfrm>
          <a:prstGeom prst="rect">
            <a:avLst/>
          </a:prstGeom>
          <a:noFill/>
          <a:ln/>
          <a:effectLst>
            <a:outerShdw sx="100000" sy="100000" kx="0" ky="0" algn="bl" rotWithShape="0" blurRad="76200" dist="50800" dir="16200000">
              <a:srgbClr val="FF0040">
                <a:alpha val="60000"/>
              </a:srgbClr>
            </a:outerShdw>
          </a:effectLst>
        </p:spPr>
        <p:txBody>
          <a:bodyPr wrap="none" lIns="0" tIns="0" rIns="0" bIns="0" rtlCol="0" anchor="t"/>
          <a:lstStyle/>
          <a:p>
            <a:pPr algn="l" indent="0" marL="0">
              <a:lnSpc>
                <a:spcPts val="1170"/>
              </a:lnSpc>
              <a:buNone/>
            </a:pPr>
            <a:r>
              <a:rPr lang="en-US" sz="731" dirty="0">
                <a:solidFill>
                  <a:srgbClr val="FF0040"/>
                </a:solidFill>
                <a:latin typeface="Courier New" pitchFamily="34" charset="0"/>
                <a:ea typeface="Courier New" pitchFamily="34" charset="-122"/>
                <a:cs typeface="Courier New" pitchFamily="34" charset="-120"/>
              </a:rPr>
              <a:t>TRANSCENDENT</a:t>
            </a:r>
            <a:endParaRPr lang="en-US" sz="731" dirty="0"/>
          </a:p>
        </p:txBody>
      </p:sp>
      <p:sp>
        <p:nvSpPr>
          <p:cNvPr id="19" name="Text 17"/>
          <p:cNvSpPr/>
          <p:nvPr/>
        </p:nvSpPr>
        <p:spPr>
          <a:xfrm>
            <a:off x="1428750" y="3829273"/>
            <a:ext cx="2986088" cy="175565"/>
          </a:xfrm>
          <a:prstGeom prst="rect">
            <a:avLst/>
          </a:prstGeom>
          <a:noFill/>
          <a:ln/>
        </p:spPr>
        <p:txBody>
          <a:bodyPr wrap="square" lIns="0" tIns="0" rIns="0" bIns="0" rtlCol="0" anchor="t"/>
          <a:lstStyle/>
          <a:p>
            <a:pPr algn="l" indent="0" marL="0">
              <a:lnSpc>
                <a:spcPts val="900"/>
              </a:lnSpc>
              <a:buNone/>
            </a:pPr>
            <a:r>
              <a:rPr lang="en-US" sz="800" dirty="0">
                <a:solidFill>
                  <a:srgbClr val="888888"/>
                </a:solidFill>
                <a:latin typeface="Courier New" pitchFamily="34" charset="0"/>
                <a:ea typeface="Courier New" pitchFamily="34" charset="-122"/>
                <a:cs typeface="Courier New" pitchFamily="34" charset="-120"/>
              </a:rPr>
              <a:t>▲ unique to OBLIVION</a:t>
            </a:r>
            <a:endParaRPr lang="en-US" sz="800" dirty="0"/>
          </a:p>
        </p:txBody>
      </p:sp>
      <p:sp>
        <p:nvSpPr>
          <p:cNvPr id="20" name="Text 18"/>
          <p:cNvSpPr/>
          <p:nvPr/>
        </p:nvSpPr>
        <p:spPr>
          <a:xfrm>
            <a:off x="4729163" y="1808931"/>
            <a:ext cx="3900488" cy="1091319"/>
          </a:xfrm>
          <a:prstGeom prst="roundRect">
            <a:avLst>
              <a:gd name="adj" fmla="val 10474"/>
            </a:avLst>
          </a:prstGeom>
          <a:solidFill>
            <a:srgbClr val="111111"/>
          </a:solidFill>
          <a:ln/>
        </p:spPr>
        <p:txBody>
          <a:bodyPr wrap="square" rtlCol="0" anchor="ctr"/>
          <a:lstStyle/>
          <a:p>
            <a:pPr indent="0" marL="0">
              <a:buNone/>
            </a:pPr>
            <a:endParaRPr lang="en-US" dirty="0"/>
          </a:p>
        </p:txBody>
      </p:sp>
      <p:sp>
        <p:nvSpPr>
          <p:cNvPr id="21" name="Shape 19"/>
          <p:cNvSpPr/>
          <p:nvPr/>
        </p:nvSpPr>
        <p:spPr>
          <a:xfrm>
            <a:off x="4729163" y="1812503"/>
            <a:ext cx="3900488" cy="0"/>
          </a:xfrm>
          <a:prstGeom prst="line">
            <a:avLst/>
          </a:prstGeom>
          <a:noFill/>
          <a:ln w="7144">
            <a:solidFill>
              <a:srgbClr val="FF0040"/>
            </a:solidFill>
            <a:prstDash val="solid"/>
          </a:ln>
        </p:spPr>
      </p:sp>
      <p:sp>
        <p:nvSpPr>
          <p:cNvPr id="22" name="Shape 20"/>
          <p:cNvSpPr/>
          <p:nvPr/>
        </p:nvSpPr>
        <p:spPr>
          <a:xfrm>
            <a:off x="8626078" y="1808931"/>
            <a:ext cx="0" cy="1091319"/>
          </a:xfrm>
          <a:prstGeom prst="line">
            <a:avLst/>
          </a:prstGeom>
          <a:noFill/>
          <a:ln w="7144">
            <a:solidFill>
              <a:srgbClr val="FF0040"/>
            </a:solidFill>
            <a:prstDash val="solid"/>
          </a:ln>
        </p:spPr>
      </p:sp>
      <p:sp>
        <p:nvSpPr>
          <p:cNvPr id="23" name="Shape 21"/>
          <p:cNvSpPr/>
          <p:nvPr/>
        </p:nvSpPr>
        <p:spPr>
          <a:xfrm>
            <a:off x="4729163" y="2896679"/>
            <a:ext cx="3900488" cy="0"/>
          </a:xfrm>
          <a:prstGeom prst="line">
            <a:avLst/>
          </a:prstGeom>
          <a:noFill/>
          <a:ln w="7144">
            <a:solidFill>
              <a:srgbClr val="FF0040"/>
            </a:solidFill>
            <a:prstDash val="solid"/>
          </a:ln>
        </p:spPr>
      </p:sp>
      <p:sp>
        <p:nvSpPr>
          <p:cNvPr id="24" name="Shape 22"/>
          <p:cNvSpPr/>
          <p:nvPr/>
        </p:nvSpPr>
        <p:spPr>
          <a:xfrm>
            <a:off x="4739878" y="1808931"/>
            <a:ext cx="0" cy="1091319"/>
          </a:xfrm>
          <a:prstGeom prst="line">
            <a:avLst/>
          </a:prstGeom>
          <a:noFill/>
          <a:ln w="21431">
            <a:solidFill>
              <a:srgbClr val="FF0040"/>
            </a:solidFill>
            <a:prstDash val="solid"/>
          </a:ln>
        </p:spPr>
      </p:sp>
      <p:sp>
        <p:nvSpPr>
          <p:cNvPr id="25" name="Text 23"/>
          <p:cNvSpPr/>
          <p:nvPr/>
        </p:nvSpPr>
        <p:spPr>
          <a:xfrm>
            <a:off x="4922044" y="2000362"/>
            <a:ext cx="157163" cy="157163"/>
          </a:xfrm>
          <a:prstGeom prst="rect">
            <a:avLst/>
          </a:prstGeom>
          <a:noFill/>
          <a:ln/>
        </p:spPr>
        <p:txBody>
          <a:bodyPr wrap="none" lIns="0" tIns="0" rIns="0" bIns="0" rtlCol="0" anchor="ctr"/>
          <a:lstStyle/>
          <a:p>
            <a:pPr algn="ctr" indent="0" marL="0">
              <a:buNone/>
            </a:pPr>
            <a:r>
              <a:rPr lang="en-US" sz="1547" dirty="0">
                <a:solidFill>
                  <a:srgbClr val="FF0040"/>
                </a:solidFill>
                <a:latin typeface="Segoe UI Symbol" pitchFamily="34" charset="0"/>
                <a:ea typeface="Segoe UI Symbol" pitchFamily="34" charset="-122"/>
                <a:cs typeface="Segoe UI Symbol" pitchFamily="34" charset="-120"/>
              </a:rPr>
              <a:t>✦</a:t>
            </a:r>
            <a:endParaRPr lang="en-US" sz="1547" dirty="0"/>
          </a:p>
        </p:txBody>
      </p:sp>
      <p:sp>
        <p:nvSpPr>
          <p:cNvPr id="26" name="Text 24"/>
          <p:cNvSpPr/>
          <p:nvPr/>
        </p:nvSpPr>
        <p:spPr>
          <a:xfrm>
            <a:off x="5150644" y="1987525"/>
            <a:ext cx="3300413" cy="197462"/>
          </a:xfrm>
          <a:prstGeom prst="rect">
            <a:avLst/>
          </a:prstGeom>
          <a:noFill/>
          <a:ln/>
        </p:spPr>
        <p:txBody>
          <a:bodyPr wrap="none" lIns="0" tIns="0" rIns="0" bIns="0" rtlCol="0" anchor="t"/>
          <a:lstStyle/>
          <a:p>
            <a:pPr algn="l" indent="0" marL="0">
              <a:lnSpc>
                <a:spcPts val="1440"/>
              </a:lnSpc>
              <a:buNone/>
            </a:pPr>
            <a:r>
              <a:rPr lang="en-US" sz="900" spc="56" kern="0" dirty="0">
                <a:solidFill>
                  <a:srgbClr val="FFFFFF"/>
                </a:solidFill>
                <a:latin typeface="Courier New" pitchFamily="34" charset="0"/>
                <a:ea typeface="Courier New" pitchFamily="34" charset="-122"/>
                <a:cs typeface="Courier New" pitchFamily="34" charset="-120"/>
              </a:rPr>
              <a:t>Wisdom Verdict</a:t>
            </a:r>
            <a:endParaRPr lang="en-US" sz="900" dirty="0"/>
          </a:p>
        </p:txBody>
      </p:sp>
      <p:sp>
        <p:nvSpPr>
          <p:cNvPr id="27" name="Text 25"/>
          <p:cNvSpPr/>
          <p:nvPr/>
        </p:nvSpPr>
        <p:spPr>
          <a:xfrm>
            <a:off x="4922044" y="2241798"/>
            <a:ext cx="3529013" cy="479859"/>
          </a:xfrm>
          <a:prstGeom prst="rect">
            <a:avLst/>
          </a:prstGeom>
          <a:noFill/>
          <a:ln/>
        </p:spPr>
        <p:txBody>
          <a:bodyPr wrap="square" lIns="0" tIns="0" rIns="0" bIns="0" rtlCol="0" anchor="t"/>
          <a:lstStyle/>
          <a:p>
            <a:pPr algn="l" indent="0" marL="0">
              <a:lnSpc>
                <a:spcPts val="1260"/>
              </a:lnSpc>
              <a:buNone/>
            </a:pPr>
            <a:r>
              <a:rPr lang="en-US" sz="800" dirty="0">
                <a:solidFill>
                  <a:srgbClr val="888888"/>
                </a:solidFill>
                <a:latin typeface="Carlito" pitchFamily="34" charset="0"/>
                <a:ea typeface="Carlito" pitchFamily="34" charset="-122"/>
                <a:cs typeface="Carlito" pitchFamily="34" charset="-120"/>
              </a:rPr>
              <a:t>AI-powered summary of your security posture. OBLIVION synthesizes all twenty stages into a plain-English verdict — no more interpreting raw scanner output.</a:t>
            </a:r>
            <a:endParaRPr lang="en-US" sz="800" dirty="0"/>
          </a:p>
        </p:txBody>
      </p:sp>
      <p:sp>
        <p:nvSpPr>
          <p:cNvPr id="28" name="Text 26"/>
          <p:cNvSpPr/>
          <p:nvPr/>
        </p:nvSpPr>
        <p:spPr>
          <a:xfrm>
            <a:off x="4729163" y="3043126"/>
            <a:ext cx="3900488" cy="931366"/>
          </a:xfrm>
          <a:prstGeom prst="roundRect">
            <a:avLst>
              <a:gd name="adj" fmla="val 12272"/>
            </a:avLst>
          </a:prstGeom>
          <a:solidFill>
            <a:srgbClr val="111111"/>
          </a:solidFill>
          <a:ln/>
        </p:spPr>
        <p:txBody>
          <a:bodyPr wrap="square" rtlCol="0" anchor="ctr"/>
          <a:lstStyle/>
          <a:p>
            <a:pPr indent="0" marL="0">
              <a:buNone/>
            </a:pPr>
            <a:endParaRPr lang="en-US" dirty="0"/>
          </a:p>
        </p:txBody>
      </p:sp>
      <p:sp>
        <p:nvSpPr>
          <p:cNvPr id="29" name="Shape 27"/>
          <p:cNvSpPr/>
          <p:nvPr/>
        </p:nvSpPr>
        <p:spPr>
          <a:xfrm>
            <a:off x="4729163" y="3046698"/>
            <a:ext cx="3900488" cy="0"/>
          </a:xfrm>
          <a:prstGeom prst="line">
            <a:avLst/>
          </a:prstGeom>
          <a:noFill/>
          <a:ln w="7144">
            <a:solidFill>
              <a:srgbClr val="FF0040"/>
            </a:solidFill>
            <a:prstDash val="solid"/>
          </a:ln>
        </p:spPr>
      </p:sp>
      <p:sp>
        <p:nvSpPr>
          <p:cNvPr id="30" name="Shape 28"/>
          <p:cNvSpPr/>
          <p:nvPr/>
        </p:nvSpPr>
        <p:spPr>
          <a:xfrm>
            <a:off x="8626078" y="3043126"/>
            <a:ext cx="0" cy="931366"/>
          </a:xfrm>
          <a:prstGeom prst="line">
            <a:avLst/>
          </a:prstGeom>
          <a:noFill/>
          <a:ln w="7144">
            <a:solidFill>
              <a:srgbClr val="FF0040"/>
            </a:solidFill>
            <a:prstDash val="solid"/>
          </a:ln>
        </p:spPr>
      </p:sp>
      <p:sp>
        <p:nvSpPr>
          <p:cNvPr id="31" name="Shape 29"/>
          <p:cNvSpPr/>
          <p:nvPr/>
        </p:nvSpPr>
        <p:spPr>
          <a:xfrm>
            <a:off x="4729163" y="3970920"/>
            <a:ext cx="3900488" cy="0"/>
          </a:xfrm>
          <a:prstGeom prst="line">
            <a:avLst/>
          </a:prstGeom>
          <a:noFill/>
          <a:ln w="7144">
            <a:solidFill>
              <a:srgbClr val="FF0040"/>
            </a:solidFill>
            <a:prstDash val="solid"/>
          </a:ln>
        </p:spPr>
      </p:sp>
      <p:sp>
        <p:nvSpPr>
          <p:cNvPr id="32" name="Shape 30"/>
          <p:cNvSpPr/>
          <p:nvPr/>
        </p:nvSpPr>
        <p:spPr>
          <a:xfrm>
            <a:off x="4739878" y="3043126"/>
            <a:ext cx="0" cy="931366"/>
          </a:xfrm>
          <a:prstGeom prst="line">
            <a:avLst/>
          </a:prstGeom>
          <a:noFill/>
          <a:ln w="21431">
            <a:solidFill>
              <a:srgbClr val="FF0040"/>
            </a:solidFill>
            <a:prstDash val="solid"/>
          </a:ln>
        </p:spPr>
      </p:sp>
      <p:sp>
        <p:nvSpPr>
          <p:cNvPr id="33" name="Text 31"/>
          <p:cNvSpPr/>
          <p:nvPr/>
        </p:nvSpPr>
        <p:spPr>
          <a:xfrm>
            <a:off x="4922044" y="3234556"/>
            <a:ext cx="157163" cy="157163"/>
          </a:xfrm>
          <a:prstGeom prst="rect">
            <a:avLst/>
          </a:prstGeom>
          <a:noFill/>
          <a:ln/>
        </p:spPr>
        <p:txBody>
          <a:bodyPr wrap="none" lIns="0" tIns="0" rIns="0" bIns="0" rtlCol="0" anchor="ctr"/>
          <a:lstStyle/>
          <a:p>
            <a:pPr algn="ctr" indent="0" marL="0">
              <a:buNone/>
            </a:pPr>
            <a:r>
              <a:rPr lang="en-US" sz="1547" dirty="0">
                <a:solidFill>
                  <a:srgbClr val="FF0040"/>
                </a:solidFill>
                <a:latin typeface="Segoe UI Symbol" pitchFamily="34" charset="0"/>
                <a:ea typeface="Segoe UI Symbol" pitchFamily="34" charset="-122"/>
                <a:cs typeface="Segoe UI Symbol" pitchFamily="34" charset="-120"/>
              </a:rPr>
              <a:t>❄</a:t>
            </a:r>
            <a:endParaRPr lang="en-US" sz="1547" dirty="0"/>
          </a:p>
        </p:txBody>
      </p:sp>
      <p:sp>
        <p:nvSpPr>
          <p:cNvPr id="34" name="Text 32"/>
          <p:cNvSpPr/>
          <p:nvPr/>
        </p:nvSpPr>
        <p:spPr>
          <a:xfrm>
            <a:off x="5150644" y="3221720"/>
            <a:ext cx="3300413" cy="197462"/>
          </a:xfrm>
          <a:prstGeom prst="rect">
            <a:avLst/>
          </a:prstGeom>
          <a:noFill/>
          <a:ln/>
        </p:spPr>
        <p:txBody>
          <a:bodyPr wrap="none" lIns="0" tIns="0" rIns="0" bIns="0" rtlCol="0" anchor="t"/>
          <a:lstStyle/>
          <a:p>
            <a:pPr algn="l" indent="0" marL="0">
              <a:lnSpc>
                <a:spcPts val="1440"/>
              </a:lnSpc>
              <a:buNone/>
            </a:pPr>
            <a:r>
              <a:rPr lang="en-US" sz="900" spc="56" kern="0" dirty="0">
                <a:solidFill>
                  <a:srgbClr val="FFFFFF"/>
                </a:solidFill>
                <a:latin typeface="Courier New" pitchFamily="34" charset="0"/>
                <a:ea typeface="Courier New" pitchFamily="34" charset="-122"/>
                <a:cs typeface="Courier New" pitchFamily="34" charset="-120"/>
              </a:rPr>
              <a:t>Mirror Fracture</a:t>
            </a:r>
            <a:endParaRPr lang="en-US" sz="900" dirty="0"/>
          </a:p>
        </p:txBody>
      </p:sp>
      <p:sp>
        <p:nvSpPr>
          <p:cNvPr id="35" name="Text 33"/>
          <p:cNvSpPr/>
          <p:nvPr/>
        </p:nvSpPr>
        <p:spPr>
          <a:xfrm>
            <a:off x="4922044" y="3475992"/>
            <a:ext cx="3529013" cy="319906"/>
          </a:xfrm>
          <a:prstGeom prst="rect">
            <a:avLst/>
          </a:prstGeom>
          <a:noFill/>
          <a:ln/>
        </p:spPr>
        <p:txBody>
          <a:bodyPr wrap="square" lIns="0" tIns="0" rIns="0" bIns="0" rtlCol="0" anchor="t"/>
          <a:lstStyle/>
          <a:p>
            <a:pPr algn="l" indent="0" marL="0">
              <a:lnSpc>
                <a:spcPts val="1260"/>
              </a:lnSpc>
              <a:buNone/>
            </a:pPr>
            <a:r>
              <a:rPr lang="en-US" sz="800" dirty="0">
                <a:solidFill>
                  <a:srgbClr val="888888"/>
                </a:solidFill>
                <a:latin typeface="Carlito" pitchFamily="34" charset="0"/>
                <a:ea typeface="Carlito" pitchFamily="34" charset="-122"/>
                <a:cs typeface="Carlito" pitchFamily="34" charset="-120"/>
              </a:rPr>
              <a:t>Attack surface decomposition showing how vulnerabilities chain together. See the kill chain, not just isolated findings.</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485775" y="428625"/>
            <a:ext cx="2860151" cy="469063"/>
          </a:xfrm>
          <a:prstGeom prst="rect">
            <a:avLst/>
          </a:prstGeom>
          <a:noFill/>
          <a:ln/>
          <a:effectLst>
            <a:outerShdw sx="100000" sy="100000" kx="0" ky="0" algn="bl" rotWithShape="0" blurRad="190500" dist="50800" dir="16200000">
              <a:srgbClr val="00E5FF">
                <a:alpha val="50000"/>
              </a:srgbClr>
            </a:outerShdw>
          </a:effectLst>
        </p:spPr>
        <p:txBody>
          <a:bodyPr wrap="none" lIns="0" tIns="0" rIns="0" bIns="0" rtlCol="0" anchor="t"/>
          <a:lstStyle/>
          <a:p>
            <a:pPr algn="l" indent="0" marL="0">
              <a:lnSpc>
                <a:spcPts val="3420"/>
              </a:lnSpc>
              <a:buNone/>
            </a:pPr>
            <a:r>
              <a:rPr lang="en-US" sz="2138" dirty="0">
                <a:solidFill>
                  <a:srgbClr val="FFFFFF"/>
                </a:solidFill>
                <a:latin typeface="Courier New" pitchFamily="34" charset="0"/>
                <a:ea typeface="Courier New" pitchFamily="34" charset="-122"/>
                <a:cs typeface="Courier New" pitchFamily="34" charset="-120"/>
              </a:rPr>
              <a:t>PEGASUS HUNTER</a:t>
            </a:r>
            <a:endParaRPr lang="en-US" sz="2138" dirty="0"/>
          </a:p>
        </p:txBody>
      </p:sp>
      <p:sp>
        <p:nvSpPr>
          <p:cNvPr id="3" name="Text 1"/>
          <p:cNvSpPr/>
          <p:nvPr/>
        </p:nvSpPr>
        <p:spPr>
          <a:xfrm>
            <a:off x="2891768" y="550738"/>
            <a:ext cx="1501527" cy="189979"/>
          </a:xfrm>
          <a:prstGeom prst="roundRect">
            <a:avLst>
              <a:gd name="adj" fmla="val 30082"/>
            </a:avLst>
          </a:prstGeom>
          <a:solidFill>
            <a:srgbClr val="00E5FF">
              <a:alpha val="10000"/>
            </a:srgbClr>
          </a:solidFill>
          <a:ln w="7144">
            <a:solidFill>
              <a:srgbClr val="00E5FF"/>
            </a:solidFill>
            <a:prstDash val="solid"/>
          </a:ln>
        </p:spPr>
        <p:txBody>
          <a:bodyPr wrap="square" rtlCol="0" anchor="ctr"/>
          <a:lstStyle/>
          <a:p>
            <a:pPr indent="0" marL="0">
              <a:buNone/>
            </a:pPr>
            <a:endParaRPr lang="en-US" dirty="0"/>
          </a:p>
        </p:txBody>
      </p:sp>
      <p:sp>
        <p:nvSpPr>
          <p:cNvPr id="4" name="Text 2"/>
          <p:cNvSpPr/>
          <p:nvPr/>
        </p:nvSpPr>
        <p:spPr>
          <a:xfrm>
            <a:off x="2888196" y="547167"/>
            <a:ext cx="5770029" cy="275255"/>
          </a:xfrm>
          <a:prstGeom prst="rect">
            <a:avLst/>
          </a:prstGeom>
          <a:noFill/>
          <a:ln/>
        </p:spPr>
        <p:txBody>
          <a:bodyPr wrap="square" lIns="85725" tIns="28575" rIns="85725" bIns="28575" rtlCol="0" anchor="t"/>
          <a:lstStyle/>
          <a:p>
            <a:pPr algn="l" indent="0" marL="0">
              <a:lnSpc>
                <a:spcPts val="990"/>
              </a:lnSpc>
              <a:buNone/>
            </a:pPr>
            <a:r>
              <a:rPr lang="en-US" sz="800" spc="28" kern="0" dirty="0">
                <a:solidFill>
                  <a:srgbClr val="00E5FF"/>
                </a:solidFill>
                <a:latin typeface="Courier New" pitchFamily="34" charset="0"/>
                <a:ea typeface="Courier New" pitchFamily="34" charset="-122"/>
                <a:cs typeface="Courier New" pitchFamily="34" charset="-120"/>
              </a:rPr>
              <a:t>ADVANCED SPYWARE DETECTION</a:t>
            </a:r>
            <a:endParaRPr lang="en-US" sz="800" dirty="0"/>
          </a:p>
        </p:txBody>
      </p:sp>
      <p:sp>
        <p:nvSpPr>
          <p:cNvPr id="5" name="Text 3"/>
          <p:cNvSpPr/>
          <p:nvPr/>
        </p:nvSpPr>
        <p:spPr>
          <a:xfrm>
            <a:off x="485775" y="1062968"/>
            <a:ext cx="4494758" cy="1112804"/>
          </a:xfrm>
          <a:prstGeom prst="rect">
            <a:avLst/>
          </a:prstGeom>
          <a:noFill/>
          <a:ln/>
        </p:spPr>
        <p:txBody>
          <a:bodyPr wrap="square" lIns="0" tIns="0" rIns="0" bIns="0" rtlCol="0" anchor="t"/>
          <a:lstStyle/>
          <a:p>
            <a:pPr algn="l" indent="0" marL="0">
              <a:lnSpc>
                <a:spcPts val="1578"/>
              </a:lnSpc>
              <a:buNone/>
            </a:pPr>
            <a:r>
              <a:rPr lang="en-US" sz="956" dirty="0">
                <a:solidFill>
                  <a:srgbClr val="E0E0E0"/>
                </a:solidFill>
                <a:latin typeface="Carlito" pitchFamily="34" charset="0"/>
                <a:ea typeface="Carlito" pitchFamily="34" charset="-122"/>
                <a:cs typeface="Carlito" pitchFamily="34" charset="-120"/>
              </a:rPr>
              <a:t>PEGASUS HUNTER detects the world's most sophisticated spyware and APT indicators. It scans for </a:t>
            </a:r>
            <a:pPr algn="l" indent="0" marL="0">
              <a:lnSpc>
                <a:spcPts val="1578"/>
              </a:lnSpc>
              <a:buNone/>
            </a:pPr>
            <a:r>
              <a:rPr lang="en-US" sz="956" b="1" dirty="0">
                <a:solidFill>
                  <a:srgbClr val="00FF41"/>
                </a:solidFill>
                <a:latin typeface="Liberation Sans Narrow" pitchFamily="34" charset="0"/>
                <a:ea typeface="Liberation Sans Narrow" pitchFamily="34" charset="-122"/>
                <a:cs typeface="Liberation Sans Narrow" pitchFamily="34" charset="-120"/>
              </a:rPr>
              <a:t>135 known C2 domains</a:t>
            </a:r>
            <a:pPr algn="l" indent="0" marL="0">
              <a:lnSpc>
                <a:spcPts val="1578"/>
              </a:lnSpc>
              <a:buNone/>
            </a:pPr>
            <a:r>
              <a:rPr lang="en-US" sz="956" dirty="0">
                <a:solidFill>
                  <a:srgbClr val="E0E0E0"/>
                </a:solidFill>
                <a:latin typeface="Carlito" pitchFamily="34" charset="0"/>
                <a:ea typeface="Carlito" pitchFamily="34" charset="-122"/>
                <a:cs typeface="Carlito" pitchFamily="34" charset="-120"/>
              </a:rPr>
              <a:t> used by Pegasus, Hermit Worm, and similar nation-state malware. It checks </a:t>
            </a:r>
            <a:pPr algn="l" indent="0" marL="0">
              <a:lnSpc>
                <a:spcPts val="1578"/>
              </a:lnSpc>
              <a:buNone/>
            </a:pPr>
            <a:r>
              <a:rPr lang="en-US" sz="956" b="1" dirty="0">
                <a:solidFill>
                  <a:srgbClr val="00FF41"/>
                </a:solidFill>
                <a:latin typeface="Liberation Sans Narrow" pitchFamily="34" charset="0"/>
                <a:ea typeface="Liberation Sans Narrow" pitchFamily="34" charset="-122"/>
                <a:cs typeface="Liberation Sans Narrow" pitchFamily="34" charset="-120"/>
              </a:rPr>
              <a:t>11 SMS attack patterns</a:t>
            </a:r>
            <a:pPr algn="l" indent="0" marL="0">
              <a:lnSpc>
                <a:spcPts val="1578"/>
              </a:lnSpc>
              <a:buNone/>
            </a:pPr>
            <a:r>
              <a:rPr lang="en-US" sz="956" dirty="0">
                <a:solidFill>
                  <a:srgbClr val="E0E0E0"/>
                </a:solidFill>
                <a:latin typeface="Carlito" pitchFamily="34" charset="0"/>
                <a:ea typeface="Carlito" pitchFamily="34" charset="-122"/>
                <a:cs typeface="Carlito" pitchFamily="34" charset="-120"/>
              </a:rPr>
              <a:t>, </a:t>
            </a:r>
            <a:pPr algn="l" indent="0" marL="0">
              <a:lnSpc>
                <a:spcPts val="1578"/>
              </a:lnSpc>
              <a:buNone/>
            </a:pPr>
            <a:r>
              <a:rPr lang="en-US" sz="956" b="1" dirty="0">
                <a:solidFill>
                  <a:srgbClr val="00FF41"/>
                </a:solidFill>
                <a:latin typeface="Liberation Sans Narrow" pitchFamily="34" charset="0"/>
                <a:ea typeface="Liberation Sans Narrow" pitchFamily="34" charset="-122"/>
                <a:cs typeface="Liberation Sans Narrow" pitchFamily="34" charset="-120"/>
              </a:rPr>
              <a:t>19 suspicious process signatures</a:t>
            </a:r>
            <a:pPr algn="l" indent="0" marL="0">
              <a:lnSpc>
                <a:spcPts val="1578"/>
              </a:lnSpc>
              <a:buNone/>
            </a:pPr>
            <a:r>
              <a:rPr lang="en-US" sz="956" dirty="0">
                <a:solidFill>
                  <a:srgbClr val="E0E0E0"/>
                </a:solidFill>
                <a:latin typeface="Carlito" pitchFamily="34" charset="0"/>
                <a:ea typeface="Carlito" pitchFamily="34" charset="-122"/>
                <a:cs typeface="Carlito" pitchFamily="34" charset="-120"/>
              </a:rPr>
              <a:t>, and </a:t>
            </a:r>
            <a:pPr algn="l" indent="0" marL="0">
              <a:lnSpc>
                <a:spcPts val="1578"/>
              </a:lnSpc>
              <a:buNone/>
            </a:pPr>
            <a:r>
              <a:rPr lang="en-US" sz="956" b="1" dirty="0">
                <a:solidFill>
                  <a:srgbClr val="00FF41"/>
                </a:solidFill>
                <a:latin typeface="Liberation Sans Narrow" pitchFamily="34" charset="0"/>
                <a:ea typeface="Liberation Sans Narrow" pitchFamily="34" charset="-122"/>
                <a:cs typeface="Liberation Sans Narrow" pitchFamily="34" charset="-120"/>
              </a:rPr>
              <a:t>9 filesystem path indicators</a:t>
            </a:r>
            <a:pPr algn="l" indent="0" marL="0">
              <a:lnSpc>
                <a:spcPts val="1578"/>
              </a:lnSpc>
              <a:buNone/>
            </a:pPr>
            <a:r>
              <a:rPr lang="en-US" sz="956" dirty="0">
                <a:solidFill>
                  <a:srgbClr val="E0E0E0"/>
                </a:solidFill>
                <a:latin typeface="Carlito" pitchFamily="34" charset="0"/>
                <a:ea typeface="Carlito" pitchFamily="34" charset="-122"/>
                <a:cs typeface="Carlito" pitchFamily="34" charset="-120"/>
              </a:rPr>
              <a:t>.</a:t>
            </a:r>
            <a:endParaRPr lang="en-US" sz="956" dirty="0"/>
          </a:p>
        </p:txBody>
      </p:sp>
      <p:sp>
        <p:nvSpPr>
          <p:cNvPr id="6" name="Text 4"/>
          <p:cNvSpPr/>
          <p:nvPr/>
        </p:nvSpPr>
        <p:spPr>
          <a:xfrm>
            <a:off x="489347" y="2268364"/>
            <a:ext cx="2183085" cy="730002"/>
          </a:xfrm>
          <a:prstGeom prst="roundRect">
            <a:avLst>
              <a:gd name="adj" fmla="val 15657"/>
            </a:avLst>
          </a:prstGeom>
          <a:solidFill>
            <a:srgbClr val="111111"/>
          </a:solidFill>
          <a:ln w="7144">
            <a:solidFill>
              <a:srgbClr val="00FF41"/>
            </a:solidFill>
            <a:prstDash val="solid"/>
          </a:ln>
        </p:spPr>
        <p:txBody>
          <a:bodyPr wrap="square" rtlCol="0" anchor="ctr"/>
          <a:lstStyle/>
          <a:p>
            <a:pPr indent="0" marL="0">
              <a:buNone/>
            </a:pPr>
            <a:endParaRPr lang="en-US" dirty="0"/>
          </a:p>
        </p:txBody>
      </p:sp>
      <p:sp>
        <p:nvSpPr>
          <p:cNvPr id="7" name="Text 5"/>
          <p:cNvSpPr/>
          <p:nvPr/>
        </p:nvSpPr>
        <p:spPr>
          <a:xfrm>
            <a:off x="578644" y="2400523"/>
            <a:ext cx="2004492" cy="289684"/>
          </a:xfrm>
          <a:prstGeom prst="rect">
            <a:avLst/>
          </a:prstGeom>
          <a:noFill/>
          <a:ln/>
        </p:spPr>
        <p:txBody>
          <a:bodyPr wrap="none" lIns="0" tIns="0" rIns="0" bIns="0" rtlCol="0" anchor="t">
            <a:normAutofit/>
          </a:bodyPr>
          <a:lstStyle/>
          <a:p>
            <a:pPr algn="ctr" indent="0" marL="0">
              <a:lnSpc>
                <a:spcPts val="2160"/>
              </a:lnSpc>
              <a:buNone/>
            </a:pPr>
            <a:r>
              <a:rPr lang="en-US" sz="1800" b="1" dirty="0">
                <a:solidFill>
                  <a:srgbClr val="00FF41"/>
                </a:solidFill>
                <a:latin typeface="Liberation Sans Narrow" pitchFamily="34" charset="0"/>
                <a:ea typeface="Liberation Sans Narrow" pitchFamily="34" charset="-122"/>
                <a:cs typeface="Liberation Sans Narrow" pitchFamily="34" charset="-120"/>
              </a:rPr>
              <a:t>135</a:t>
            </a:r>
            <a:endParaRPr lang="en-US" sz="1800" dirty="0"/>
          </a:p>
        </p:txBody>
      </p:sp>
      <p:sp>
        <p:nvSpPr>
          <p:cNvPr id="8" name="Text 6"/>
          <p:cNvSpPr/>
          <p:nvPr/>
        </p:nvSpPr>
        <p:spPr>
          <a:xfrm>
            <a:off x="578644" y="2717639"/>
            <a:ext cx="2004492" cy="148568"/>
          </a:xfrm>
          <a:prstGeom prst="rect">
            <a:avLst/>
          </a:prstGeom>
          <a:noFill/>
          <a:ln/>
        </p:spPr>
        <p:txBody>
          <a:bodyPr wrap="none" lIns="0" tIns="0" rIns="0" bIns="0" rtlCol="0" anchor="t"/>
          <a:lstStyle/>
          <a:p>
            <a:pPr algn="ctr" indent="0" marL="0">
              <a:lnSpc>
                <a:spcPts val="1170"/>
              </a:lnSpc>
              <a:buNone/>
            </a:pPr>
            <a:r>
              <a:rPr lang="en-US" sz="800" spc="28" kern="0" dirty="0">
                <a:solidFill>
                  <a:srgbClr val="888888"/>
                </a:solidFill>
                <a:latin typeface="Liberation Sans Narrow" pitchFamily="34" charset="0"/>
                <a:ea typeface="Liberation Sans Narrow" pitchFamily="34" charset="-122"/>
                <a:cs typeface="Liberation Sans Narrow" pitchFamily="34" charset="-120"/>
              </a:rPr>
              <a:t>C2 DOMAINS</a:t>
            </a:r>
            <a:endParaRPr lang="en-US" sz="800" dirty="0"/>
          </a:p>
        </p:txBody>
      </p:sp>
      <p:sp>
        <p:nvSpPr>
          <p:cNvPr id="9" name="Text 7"/>
          <p:cNvSpPr/>
          <p:nvPr/>
        </p:nvSpPr>
        <p:spPr>
          <a:xfrm>
            <a:off x="2793876" y="2268364"/>
            <a:ext cx="2183085" cy="730002"/>
          </a:xfrm>
          <a:prstGeom prst="roundRect">
            <a:avLst>
              <a:gd name="adj" fmla="val 15657"/>
            </a:avLst>
          </a:prstGeom>
          <a:solidFill>
            <a:srgbClr val="111111"/>
          </a:solidFill>
          <a:ln w="7144">
            <a:solidFill>
              <a:srgbClr val="00FF41"/>
            </a:solidFill>
            <a:prstDash val="solid"/>
          </a:ln>
        </p:spPr>
        <p:txBody>
          <a:bodyPr wrap="square" rtlCol="0" anchor="ctr"/>
          <a:lstStyle/>
          <a:p>
            <a:pPr indent="0" marL="0">
              <a:buNone/>
            </a:pPr>
            <a:endParaRPr lang="en-US" dirty="0"/>
          </a:p>
        </p:txBody>
      </p:sp>
      <p:sp>
        <p:nvSpPr>
          <p:cNvPr id="10" name="Text 8"/>
          <p:cNvSpPr/>
          <p:nvPr/>
        </p:nvSpPr>
        <p:spPr>
          <a:xfrm>
            <a:off x="2883173" y="2400523"/>
            <a:ext cx="2004492" cy="289684"/>
          </a:xfrm>
          <a:prstGeom prst="rect">
            <a:avLst/>
          </a:prstGeom>
          <a:noFill/>
          <a:ln/>
        </p:spPr>
        <p:txBody>
          <a:bodyPr wrap="none" lIns="0" tIns="0" rIns="0" bIns="0" rtlCol="0" anchor="t">
            <a:normAutofit/>
          </a:bodyPr>
          <a:lstStyle/>
          <a:p>
            <a:pPr algn="ctr" indent="0" marL="0">
              <a:lnSpc>
                <a:spcPts val="2160"/>
              </a:lnSpc>
              <a:buNone/>
            </a:pPr>
            <a:r>
              <a:rPr lang="en-US" sz="1800" b="1" dirty="0">
                <a:solidFill>
                  <a:srgbClr val="00FF41"/>
                </a:solidFill>
                <a:latin typeface="Liberation Sans Narrow" pitchFamily="34" charset="0"/>
                <a:ea typeface="Liberation Sans Narrow" pitchFamily="34" charset="-122"/>
                <a:cs typeface="Liberation Sans Narrow" pitchFamily="34" charset="-120"/>
              </a:rPr>
              <a:t>11</a:t>
            </a:r>
            <a:endParaRPr lang="en-US" sz="1800" dirty="0"/>
          </a:p>
        </p:txBody>
      </p:sp>
      <p:sp>
        <p:nvSpPr>
          <p:cNvPr id="11" name="Text 9"/>
          <p:cNvSpPr/>
          <p:nvPr/>
        </p:nvSpPr>
        <p:spPr>
          <a:xfrm>
            <a:off x="2883173" y="2717639"/>
            <a:ext cx="2004492" cy="148568"/>
          </a:xfrm>
          <a:prstGeom prst="rect">
            <a:avLst/>
          </a:prstGeom>
          <a:noFill/>
          <a:ln/>
        </p:spPr>
        <p:txBody>
          <a:bodyPr wrap="none" lIns="0" tIns="0" rIns="0" bIns="0" rtlCol="0" anchor="t"/>
          <a:lstStyle/>
          <a:p>
            <a:pPr algn="ctr" indent="0" marL="0">
              <a:lnSpc>
                <a:spcPts val="1170"/>
              </a:lnSpc>
              <a:buNone/>
            </a:pPr>
            <a:r>
              <a:rPr lang="en-US" sz="800" spc="28" kern="0" dirty="0">
                <a:solidFill>
                  <a:srgbClr val="888888"/>
                </a:solidFill>
                <a:latin typeface="Carlito" pitchFamily="34" charset="0"/>
                <a:ea typeface="Carlito" pitchFamily="34" charset="-122"/>
                <a:cs typeface="Carlito" pitchFamily="34" charset="-120"/>
              </a:rPr>
              <a:t>SMS PATTERNS</a:t>
            </a:r>
            <a:endParaRPr lang="en-US" sz="800" dirty="0"/>
          </a:p>
        </p:txBody>
      </p:sp>
      <p:sp>
        <p:nvSpPr>
          <p:cNvPr id="12" name="Text 10"/>
          <p:cNvSpPr/>
          <p:nvPr/>
        </p:nvSpPr>
        <p:spPr>
          <a:xfrm>
            <a:off x="489347" y="3119810"/>
            <a:ext cx="2183085" cy="730002"/>
          </a:xfrm>
          <a:prstGeom prst="roundRect">
            <a:avLst>
              <a:gd name="adj" fmla="val 15657"/>
            </a:avLst>
          </a:prstGeom>
          <a:solidFill>
            <a:srgbClr val="111111"/>
          </a:solidFill>
          <a:ln w="7144">
            <a:solidFill>
              <a:srgbClr val="00FF41"/>
            </a:solidFill>
            <a:prstDash val="solid"/>
          </a:ln>
        </p:spPr>
        <p:txBody>
          <a:bodyPr wrap="square" rtlCol="0" anchor="ctr"/>
          <a:lstStyle/>
          <a:p>
            <a:pPr indent="0" marL="0">
              <a:buNone/>
            </a:pPr>
            <a:endParaRPr lang="en-US" dirty="0"/>
          </a:p>
        </p:txBody>
      </p:sp>
      <p:sp>
        <p:nvSpPr>
          <p:cNvPr id="13" name="Text 11"/>
          <p:cNvSpPr/>
          <p:nvPr/>
        </p:nvSpPr>
        <p:spPr>
          <a:xfrm>
            <a:off x="578644" y="3251969"/>
            <a:ext cx="2004492" cy="289684"/>
          </a:xfrm>
          <a:prstGeom prst="rect">
            <a:avLst/>
          </a:prstGeom>
          <a:noFill/>
          <a:ln/>
        </p:spPr>
        <p:txBody>
          <a:bodyPr wrap="none" lIns="0" tIns="0" rIns="0" bIns="0" rtlCol="0" anchor="t">
            <a:normAutofit/>
          </a:bodyPr>
          <a:lstStyle/>
          <a:p>
            <a:pPr algn="ctr" indent="0" marL="0">
              <a:lnSpc>
                <a:spcPts val="2160"/>
              </a:lnSpc>
              <a:buNone/>
            </a:pPr>
            <a:r>
              <a:rPr lang="en-US" sz="1800" b="1" dirty="0">
                <a:solidFill>
                  <a:srgbClr val="00FF41"/>
                </a:solidFill>
                <a:latin typeface="Liberation Sans Narrow" pitchFamily="34" charset="0"/>
                <a:ea typeface="Liberation Sans Narrow" pitchFamily="34" charset="-122"/>
                <a:cs typeface="Liberation Sans Narrow" pitchFamily="34" charset="-120"/>
              </a:rPr>
              <a:t>19</a:t>
            </a:r>
            <a:endParaRPr lang="en-US" sz="1800" dirty="0"/>
          </a:p>
        </p:txBody>
      </p:sp>
      <p:sp>
        <p:nvSpPr>
          <p:cNvPr id="14" name="Text 12"/>
          <p:cNvSpPr/>
          <p:nvPr/>
        </p:nvSpPr>
        <p:spPr>
          <a:xfrm>
            <a:off x="578644" y="3569084"/>
            <a:ext cx="2004492" cy="148568"/>
          </a:xfrm>
          <a:prstGeom prst="rect">
            <a:avLst/>
          </a:prstGeom>
          <a:noFill/>
          <a:ln/>
        </p:spPr>
        <p:txBody>
          <a:bodyPr wrap="none" lIns="0" tIns="0" rIns="0" bIns="0" rtlCol="0" anchor="t"/>
          <a:lstStyle/>
          <a:p>
            <a:pPr algn="ctr" indent="0" marL="0">
              <a:lnSpc>
                <a:spcPts val="1170"/>
              </a:lnSpc>
              <a:buNone/>
            </a:pPr>
            <a:r>
              <a:rPr lang="en-US" sz="800" spc="28" kern="0" dirty="0">
                <a:solidFill>
                  <a:srgbClr val="888888"/>
                </a:solidFill>
                <a:latin typeface="Carlito" pitchFamily="34" charset="0"/>
                <a:ea typeface="Carlito" pitchFamily="34" charset="-122"/>
                <a:cs typeface="Carlito" pitchFamily="34" charset="-120"/>
              </a:rPr>
              <a:t>PROCESS SIGNATURES</a:t>
            </a:r>
            <a:endParaRPr lang="en-US" sz="800" dirty="0"/>
          </a:p>
        </p:txBody>
      </p:sp>
      <p:sp>
        <p:nvSpPr>
          <p:cNvPr id="15" name="Text 13"/>
          <p:cNvSpPr/>
          <p:nvPr/>
        </p:nvSpPr>
        <p:spPr>
          <a:xfrm>
            <a:off x="2793876" y="3119810"/>
            <a:ext cx="2183085" cy="730002"/>
          </a:xfrm>
          <a:prstGeom prst="roundRect">
            <a:avLst>
              <a:gd name="adj" fmla="val 15657"/>
            </a:avLst>
          </a:prstGeom>
          <a:solidFill>
            <a:srgbClr val="111111"/>
          </a:solidFill>
          <a:ln w="7144">
            <a:solidFill>
              <a:srgbClr val="00FF41"/>
            </a:solidFill>
            <a:prstDash val="solid"/>
          </a:ln>
        </p:spPr>
        <p:txBody>
          <a:bodyPr wrap="square" rtlCol="0" anchor="ctr"/>
          <a:lstStyle/>
          <a:p>
            <a:pPr indent="0" marL="0">
              <a:buNone/>
            </a:pPr>
            <a:endParaRPr lang="en-US" dirty="0"/>
          </a:p>
        </p:txBody>
      </p:sp>
      <p:sp>
        <p:nvSpPr>
          <p:cNvPr id="16" name="Text 14"/>
          <p:cNvSpPr/>
          <p:nvPr/>
        </p:nvSpPr>
        <p:spPr>
          <a:xfrm>
            <a:off x="2883173" y="3251969"/>
            <a:ext cx="2004492" cy="289684"/>
          </a:xfrm>
          <a:prstGeom prst="rect">
            <a:avLst/>
          </a:prstGeom>
          <a:noFill/>
          <a:ln/>
        </p:spPr>
        <p:txBody>
          <a:bodyPr wrap="none" lIns="0" tIns="0" rIns="0" bIns="0" rtlCol="0" anchor="t">
            <a:normAutofit/>
          </a:bodyPr>
          <a:lstStyle/>
          <a:p>
            <a:pPr algn="ctr" indent="0" marL="0">
              <a:lnSpc>
                <a:spcPts val="2160"/>
              </a:lnSpc>
              <a:buNone/>
            </a:pPr>
            <a:r>
              <a:rPr lang="en-US" sz="1800" b="1" dirty="0">
                <a:solidFill>
                  <a:srgbClr val="00FF41"/>
                </a:solidFill>
                <a:latin typeface="Liberation Sans Narrow" pitchFamily="34" charset="0"/>
                <a:ea typeface="Liberation Sans Narrow" pitchFamily="34" charset="-122"/>
                <a:cs typeface="Liberation Sans Narrow" pitchFamily="34" charset="-120"/>
              </a:rPr>
              <a:t>9</a:t>
            </a:r>
            <a:endParaRPr lang="en-US" sz="1800" dirty="0"/>
          </a:p>
        </p:txBody>
      </p:sp>
      <p:sp>
        <p:nvSpPr>
          <p:cNvPr id="17" name="Text 15"/>
          <p:cNvSpPr/>
          <p:nvPr/>
        </p:nvSpPr>
        <p:spPr>
          <a:xfrm>
            <a:off x="2883173" y="3569084"/>
            <a:ext cx="2004492" cy="148568"/>
          </a:xfrm>
          <a:prstGeom prst="rect">
            <a:avLst/>
          </a:prstGeom>
          <a:noFill/>
          <a:ln/>
        </p:spPr>
        <p:txBody>
          <a:bodyPr wrap="none" lIns="0" tIns="0" rIns="0" bIns="0" rtlCol="0" anchor="t"/>
          <a:lstStyle/>
          <a:p>
            <a:pPr algn="ctr" indent="0" marL="0">
              <a:lnSpc>
                <a:spcPts val="1170"/>
              </a:lnSpc>
              <a:buNone/>
            </a:pPr>
            <a:r>
              <a:rPr lang="en-US" sz="800" spc="28" kern="0" dirty="0">
                <a:solidFill>
                  <a:srgbClr val="888888"/>
                </a:solidFill>
                <a:latin typeface="Carlito" pitchFamily="34" charset="0"/>
                <a:ea typeface="Carlito" pitchFamily="34" charset="-122"/>
                <a:cs typeface="Carlito" pitchFamily="34" charset="-120"/>
              </a:rPr>
              <a:t>PATH INDICATORS</a:t>
            </a:r>
            <a:endParaRPr lang="en-US" sz="800" dirty="0"/>
          </a:p>
        </p:txBody>
      </p:sp>
      <p:pic>
        <p:nvPicPr>
          <p:cNvPr id="18" name="Image 0" descr="/tmp/h2p-fit-1785903029665-5inwp0.png">    </p:cNvPr>
          <p:cNvPicPr>
            <a:picLocks noChangeAspect="1"/>
          </p:cNvPicPr>
          <p:nvPr/>
        </p:nvPicPr>
        <p:blipFill>
          <a:blip r:embed="rId1"/>
          <a:stretch>
            <a:fillRect/>
          </a:stretch>
        </p:blipFill>
        <p:spPr>
          <a:xfrm>
            <a:off x="5266283" y="1062968"/>
            <a:ext cx="3677580" cy="3677580"/>
          </a:xfrm>
          <a:prstGeom prst="rect">
            <a:avLst/>
          </a:prstGeom>
        </p:spPr>
      </p:pic>
      <p:pic>
        <p:nvPicPr>
          <p:cNvPr id="19" name="Image 1" descr="preencoded.png">    </p:cNvPr>
          <p:cNvPicPr>
            <a:picLocks noChangeAspect="1"/>
          </p:cNvPicPr>
          <p:nvPr/>
        </p:nvPicPr>
        <p:blipFill>
          <a:blip r:embed="rId2"/>
          <a:stretch>
            <a:fillRect/>
          </a:stretch>
        </p:blipFill>
        <p:spPr>
          <a:xfrm>
            <a:off x="5266283" y="1062968"/>
            <a:ext cx="3677580" cy="3677580"/>
          </a:xfrm>
          <a:prstGeom prst="rect">
            <a:avLst/>
          </a:prstGeom>
        </p:spPr>
      </p:pic>
      <p:sp>
        <p:nvSpPr>
          <p:cNvPr id="20" name="Text 16"/>
          <p:cNvSpPr/>
          <p:nvPr/>
        </p:nvSpPr>
        <p:spPr>
          <a:xfrm>
            <a:off x="5409158" y="4440510"/>
            <a:ext cx="157163" cy="157163"/>
          </a:xfrm>
          <a:prstGeom prst="rect">
            <a:avLst/>
          </a:prstGeom>
          <a:noFill/>
          <a:ln/>
        </p:spPr>
        <p:txBody>
          <a:bodyPr wrap="none" lIns="0" tIns="0" rIns="0" bIns="0" rtlCol="0" anchor="ctr"/>
          <a:lstStyle/>
          <a:p>
            <a:pPr algn="ctr" indent="0" marL="0">
              <a:buNone/>
            </a:pPr>
            <a:r>
              <a:rPr lang="en-US" sz="1547" dirty="0">
                <a:solidFill>
                  <a:srgbClr val="00E5FF"/>
                </a:solidFill>
                <a:latin typeface="Segoe UI Symbol" pitchFamily="34" charset="0"/>
                <a:ea typeface="Segoe UI Symbol" pitchFamily="34" charset="-122"/>
                <a:cs typeface="Segoe UI Symbol" pitchFamily="34" charset="-120"/>
              </a:rPr>
              <a:t>✦</a:t>
            </a:r>
            <a:endParaRPr lang="en-US" sz="1547" dirty="0"/>
          </a:p>
        </p:txBody>
      </p:sp>
      <p:sp>
        <p:nvSpPr>
          <p:cNvPr id="21" name="Text 17"/>
          <p:cNvSpPr/>
          <p:nvPr/>
        </p:nvSpPr>
        <p:spPr>
          <a:xfrm>
            <a:off x="5623471" y="4450556"/>
            <a:ext cx="3177518" cy="175451"/>
          </a:xfrm>
          <a:prstGeom prst="rect">
            <a:avLst/>
          </a:prstGeom>
          <a:noFill/>
          <a:ln/>
        </p:spPr>
        <p:txBody>
          <a:bodyPr wrap="square" lIns="0" tIns="0" rIns="0" bIns="0" rtlCol="0" anchor="t"/>
          <a:lstStyle/>
          <a:p>
            <a:pPr algn="l" indent="0" marL="0">
              <a:lnSpc>
                <a:spcPts val="1080"/>
              </a:lnSpc>
              <a:buNone/>
            </a:pPr>
            <a:r>
              <a:rPr lang="en-US" sz="800" spc="28" kern="0" dirty="0">
                <a:solidFill>
                  <a:srgbClr val="00E5FF"/>
                </a:solidFill>
                <a:latin typeface="Courier New" pitchFamily="34" charset="0"/>
                <a:ea typeface="Courier New" pitchFamily="34" charset="-122"/>
                <a:cs typeface="Courier New" pitchFamily="34" charset="-120"/>
              </a:rPr>
              <a:t>THREAT INTELLIGENCE DATABASE</a:t>
            </a:r>
            <a:endParaRPr lang="en-US" sz="800" dirty="0"/>
          </a:p>
        </p:txBody>
      </p:sp>
      <p:sp>
        <p:nvSpPr>
          <p:cNvPr id="22" name="Shape 18"/>
          <p:cNvSpPr/>
          <p:nvPr/>
        </p:nvSpPr>
        <p:spPr>
          <a:xfrm>
            <a:off x="485775" y="4744120"/>
            <a:ext cx="8172450" cy="0"/>
          </a:xfrm>
          <a:prstGeom prst="line">
            <a:avLst/>
          </a:prstGeom>
          <a:noFill/>
          <a:ln w="7144">
            <a:solidFill>
              <a:srgbClr val="FF0040"/>
            </a:solidFill>
            <a:prstDash val="solid"/>
          </a:ln>
        </p:spPr>
      </p:sp>
      <p:sp>
        <p:nvSpPr>
          <p:cNvPr id="23" name="Text 19"/>
          <p:cNvSpPr/>
          <p:nvPr/>
        </p:nvSpPr>
        <p:spPr>
          <a:xfrm>
            <a:off x="485775" y="4893357"/>
            <a:ext cx="142875" cy="142875"/>
          </a:xfrm>
          <a:prstGeom prst="rect">
            <a:avLst/>
          </a:prstGeom>
          <a:noFill/>
          <a:ln/>
        </p:spPr>
        <p:txBody>
          <a:bodyPr wrap="none" lIns="0" tIns="0" rIns="0" bIns="0" rtlCol="0" anchor="ctr"/>
          <a:lstStyle/>
          <a:p>
            <a:pPr algn="ctr" indent="0" marL="0">
              <a:buNone/>
            </a:pPr>
            <a:r>
              <a:rPr lang="en-US" sz="1406" dirty="0">
                <a:solidFill>
                  <a:srgbClr val="FF0040"/>
                </a:solidFill>
                <a:latin typeface="Segoe UI Symbol" pitchFamily="34" charset="0"/>
                <a:ea typeface="Segoe UI Symbol" pitchFamily="34" charset="-122"/>
                <a:cs typeface="Segoe UI Symbol" pitchFamily="34" charset="-120"/>
              </a:rPr>
              <a:t>⚠</a:t>
            </a:r>
            <a:endParaRPr lang="en-US" sz="1406" dirty="0"/>
          </a:p>
        </p:txBody>
      </p:sp>
      <p:sp>
        <p:nvSpPr>
          <p:cNvPr id="24" name="Text 20"/>
          <p:cNvSpPr/>
          <p:nvPr/>
        </p:nvSpPr>
        <p:spPr>
          <a:xfrm>
            <a:off x="700088" y="4890567"/>
            <a:ext cx="7958138" cy="148568"/>
          </a:xfrm>
          <a:prstGeom prst="rect">
            <a:avLst/>
          </a:prstGeom>
          <a:noFill/>
          <a:ln/>
        </p:spPr>
        <p:txBody>
          <a:bodyPr wrap="square" lIns="0" tIns="0" rIns="0" bIns="0" rtlCol="0" anchor="t"/>
          <a:lstStyle/>
          <a:p>
            <a:pPr algn="l" indent="0" marL="0">
              <a:lnSpc>
                <a:spcPts val="1170"/>
              </a:lnSpc>
              <a:buNone/>
            </a:pPr>
            <a:r>
              <a:rPr lang="en-US" sz="800" spc="17" kern="0" dirty="0">
                <a:solidFill>
                  <a:srgbClr val="FF0040"/>
                </a:solidFill>
                <a:latin typeface="Courier New" pitchFamily="34" charset="0"/>
                <a:ea typeface="Courier New" pitchFamily="34" charset="-122"/>
                <a:cs typeface="Courier New" pitchFamily="34" charset="-120"/>
              </a:rPr>
              <a:t>PEGASUS HUNTER is not a toy. These indicators track real threats used against journalists and activists.</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6294330" y="1785938"/>
            <a:ext cx="2849670" cy="1697355"/>
          </a:xfrm>
          <a:prstGeom prst="rect">
            <a:avLst/>
          </a:prstGeom>
          <a:noFill/>
          <a:ln/>
        </p:spPr>
        <p:txBody>
          <a:bodyPr wrap="none" lIns="0" tIns="0" rIns="0" bIns="0" rtlCol="0" anchor="t"/>
          <a:lstStyle/>
          <a:p>
            <a:pPr algn="l" indent="0" marL="0">
              <a:lnSpc>
                <a:spcPts val="12375"/>
              </a:lnSpc>
              <a:buNone/>
            </a:pPr>
            <a:r>
              <a:rPr lang="en-US" sz="12375" dirty="0">
                <a:solidFill>
                  <a:srgbClr val="00FF41">
                    <a:alpha val="7000"/>
                  </a:srgbClr>
                </a:solidFill>
                <a:latin typeface="Liberation Sans Narrow" pitchFamily="34" charset="0"/>
                <a:ea typeface="Liberation Sans Narrow" pitchFamily="34" charset="-122"/>
                <a:cs typeface="Liberation Sans Narrow" pitchFamily="34" charset="-120"/>
              </a:rPr>
              <a:t>02</a:t>
            </a:r>
            <a:endParaRPr lang="en-US" sz="12375" dirty="0"/>
          </a:p>
        </p:txBody>
      </p:sp>
      <p:sp>
        <p:nvSpPr>
          <p:cNvPr id="3" name="Text 1"/>
          <p:cNvSpPr/>
          <p:nvPr/>
        </p:nvSpPr>
        <p:spPr>
          <a:xfrm>
            <a:off x="0" y="0"/>
            <a:ext cx="9144000" cy="14288"/>
          </a:xfrm>
          <a:prstGeom prst="rect">
            <a:avLst/>
          </a:prstGeom>
          <a:solidFill>
            <a:srgbClr val="00FF41">
              <a:alpha val="6000"/>
            </a:srgbClr>
          </a:solidFill>
          <a:ln/>
        </p:spPr>
        <p:txBody>
          <a:bodyPr wrap="square" rtlCol="0" anchor="ctr"/>
          <a:lstStyle/>
          <a:p>
            <a:pPr indent="0" marL="0">
              <a:buNone/>
            </a:pPr>
            <a:endParaRPr lang="en-US" dirty="0"/>
          </a:p>
        </p:txBody>
      </p:sp>
      <p:sp>
        <p:nvSpPr>
          <p:cNvPr id="4" name="Text 2"/>
          <p:cNvSpPr/>
          <p:nvPr/>
        </p:nvSpPr>
        <p:spPr>
          <a:xfrm>
            <a:off x="0" y="857250"/>
            <a:ext cx="9144000" cy="14288"/>
          </a:xfrm>
          <a:prstGeom prst="rect">
            <a:avLst/>
          </a:prstGeom>
          <a:solidFill>
            <a:srgbClr val="00FF41">
              <a:alpha val="6000"/>
            </a:srgbClr>
          </a:solidFill>
          <a:ln/>
        </p:spPr>
        <p:txBody>
          <a:bodyPr wrap="square" rtlCol="0" anchor="ctr"/>
          <a:lstStyle/>
          <a:p>
            <a:pPr indent="0" marL="0">
              <a:buNone/>
            </a:pPr>
            <a:endParaRPr lang="en-US" dirty="0"/>
          </a:p>
        </p:txBody>
      </p:sp>
      <p:sp>
        <p:nvSpPr>
          <p:cNvPr id="5" name="Text 3"/>
          <p:cNvSpPr/>
          <p:nvPr/>
        </p:nvSpPr>
        <p:spPr>
          <a:xfrm>
            <a:off x="0" y="2571750"/>
            <a:ext cx="9144000" cy="14288"/>
          </a:xfrm>
          <a:prstGeom prst="rect">
            <a:avLst/>
          </a:prstGeom>
          <a:solidFill>
            <a:srgbClr val="00FF41">
              <a:alpha val="6000"/>
            </a:srgbClr>
          </a:solidFill>
          <a:ln/>
        </p:spPr>
        <p:txBody>
          <a:bodyPr wrap="square" rtlCol="0" anchor="ctr"/>
          <a:lstStyle/>
          <a:p>
            <a:pPr indent="0" marL="0">
              <a:buNone/>
            </a:pPr>
            <a:endParaRPr lang="en-US" dirty="0"/>
          </a:p>
        </p:txBody>
      </p:sp>
      <p:sp>
        <p:nvSpPr>
          <p:cNvPr id="6" name="Text 4"/>
          <p:cNvSpPr/>
          <p:nvPr/>
        </p:nvSpPr>
        <p:spPr>
          <a:xfrm>
            <a:off x="0" y="4286250"/>
            <a:ext cx="9144000" cy="14288"/>
          </a:xfrm>
          <a:prstGeom prst="rect">
            <a:avLst/>
          </a:prstGeom>
          <a:solidFill>
            <a:srgbClr val="00FF41">
              <a:alpha val="6000"/>
            </a:srgbClr>
          </a:solidFill>
          <a:ln/>
        </p:spPr>
        <p:txBody>
          <a:bodyPr wrap="square" rtlCol="0" anchor="ctr"/>
          <a:lstStyle/>
          <a:p>
            <a:pPr indent="0" marL="0">
              <a:buNone/>
            </a:pPr>
            <a:endParaRPr lang="en-US" dirty="0"/>
          </a:p>
        </p:txBody>
      </p:sp>
      <p:sp>
        <p:nvSpPr>
          <p:cNvPr id="7" name="Text 5"/>
          <p:cNvSpPr/>
          <p:nvPr/>
        </p:nvSpPr>
        <p:spPr>
          <a:xfrm>
            <a:off x="571500" y="1964531"/>
            <a:ext cx="1069749" cy="175538"/>
          </a:xfrm>
          <a:prstGeom prst="rect">
            <a:avLst/>
          </a:prstGeom>
          <a:noFill/>
          <a:ln/>
        </p:spPr>
        <p:txBody>
          <a:bodyPr wrap="none" lIns="0" tIns="0" rIns="0" bIns="0" rtlCol="0" anchor="t"/>
          <a:lstStyle/>
          <a:p>
            <a:pPr algn="l" indent="0" marL="0">
              <a:lnSpc>
                <a:spcPts val="1170"/>
              </a:lnSpc>
              <a:buNone/>
            </a:pPr>
            <a:r>
              <a:rPr lang="en-US" sz="800" spc="169" kern="0" dirty="0">
                <a:solidFill>
                  <a:srgbClr val="00FF41"/>
                </a:solidFill>
                <a:latin typeface="Liberation Sans Narrow" pitchFamily="34" charset="0"/>
                <a:ea typeface="Liberation Sans Narrow" pitchFamily="34" charset="-122"/>
                <a:cs typeface="Liberation Sans Narrow" pitchFamily="34" charset="-120"/>
              </a:rPr>
              <a:t>CHAPTER 02</a:t>
            </a:r>
            <a:endParaRPr lang="en-US" sz="800" dirty="0"/>
          </a:p>
        </p:txBody>
      </p:sp>
      <p:sp>
        <p:nvSpPr>
          <p:cNvPr id="8" name="Text 6"/>
          <p:cNvSpPr/>
          <p:nvPr/>
        </p:nvSpPr>
        <p:spPr>
          <a:xfrm>
            <a:off x="522369" y="2255974"/>
            <a:ext cx="3243697" cy="425785"/>
          </a:xfrm>
          <a:prstGeom prst="rect">
            <a:avLst/>
          </a:prstGeom>
          <a:noFill/>
          <a:ln/>
        </p:spPr>
        <p:txBody>
          <a:bodyPr wrap="none" lIns="0" tIns="0" rIns="0" bIns="0" rtlCol="0" anchor="t"/>
          <a:lstStyle/>
          <a:p>
            <a:pPr algn="l" indent="0" marL="0">
              <a:lnSpc>
                <a:spcPts val="3105"/>
              </a:lnSpc>
              <a:buNone/>
            </a:pPr>
            <a:r>
              <a:rPr lang="en-US" sz="2700" dirty="0">
                <a:solidFill>
                  <a:srgbClr val="FFFFFF"/>
                </a:solidFill>
                <a:latin typeface="Courier New" pitchFamily="34" charset="0"/>
                <a:ea typeface="Courier New" pitchFamily="34" charset="-122"/>
                <a:cs typeface="Courier New" pitchFamily="34" charset="-120"/>
              </a:rPr>
              <a:t>THE ECOSYSTEM</a:t>
            </a:r>
            <a:endParaRPr lang="en-US" sz="2700" dirty="0"/>
          </a:p>
        </p:txBody>
      </p:sp>
      <p:sp>
        <p:nvSpPr>
          <p:cNvPr id="9" name="Text 7"/>
          <p:cNvSpPr/>
          <p:nvPr/>
        </p:nvSpPr>
        <p:spPr>
          <a:xfrm>
            <a:off x="571500" y="2778807"/>
            <a:ext cx="571500" cy="14288"/>
          </a:xfrm>
          <a:prstGeom prst="rect">
            <a:avLst/>
          </a:prstGeom>
          <a:solidFill>
            <a:srgbClr val="00FF41"/>
          </a:solidFill>
          <a:ln/>
        </p:spPr>
        <p:txBody>
          <a:bodyPr wrap="square" rtlCol="0" anchor="ctr"/>
          <a:lstStyle/>
          <a:p>
            <a:pPr indent="0" marL="0">
              <a:buNone/>
            </a:pPr>
            <a:endParaRPr lang="en-US" dirty="0"/>
          </a:p>
        </p:txBody>
      </p:sp>
      <p:sp>
        <p:nvSpPr>
          <p:cNvPr id="10" name="Text 8"/>
          <p:cNvSpPr/>
          <p:nvPr/>
        </p:nvSpPr>
        <p:spPr>
          <a:xfrm>
            <a:off x="571500" y="2950257"/>
            <a:ext cx="3780383" cy="246888"/>
          </a:xfrm>
          <a:prstGeom prst="rect">
            <a:avLst/>
          </a:prstGeom>
          <a:noFill/>
          <a:ln/>
        </p:spPr>
        <p:txBody>
          <a:bodyPr wrap="square" lIns="0" tIns="0" rIns="0" bIns="0" rtlCol="0" anchor="t"/>
          <a:lstStyle/>
          <a:p>
            <a:pPr algn="l" indent="0" marL="0">
              <a:lnSpc>
                <a:spcPts val="1800"/>
              </a:lnSpc>
              <a:buNone/>
            </a:pPr>
            <a:r>
              <a:rPr lang="en-US" sz="1125" dirty="0">
                <a:solidFill>
                  <a:srgbClr val="888888"/>
                </a:solidFill>
                <a:latin typeface="Carlito" pitchFamily="34" charset="0"/>
                <a:ea typeface="Carlito" pitchFamily="34" charset="-122"/>
                <a:cs typeface="Carlito" pitchFamily="34" charset="-120"/>
              </a:rPr>
              <a:t>Modules, integrations, and compliance — all wired together.</a:t>
            </a:r>
            <a:endParaRPr lang="en-US" sz="112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428625" y="342900"/>
            <a:ext cx="8636000" cy="370332"/>
          </a:xfrm>
          <a:prstGeom prst="rect">
            <a:avLst/>
          </a:prstGeom>
          <a:noFill/>
          <a:ln/>
        </p:spPr>
        <p:txBody>
          <a:bodyPr wrap="square" lIns="0" tIns="0" rIns="0" bIns="0" rtlCol="0" anchor="t"/>
          <a:lstStyle/>
          <a:p>
            <a:pPr algn="l" indent="0" marL="0">
              <a:lnSpc>
                <a:spcPts val="2700"/>
              </a:lnSpc>
              <a:buNone/>
            </a:pPr>
            <a:r>
              <a:rPr lang="en-US" sz="1688" dirty="0">
                <a:solidFill>
                  <a:srgbClr val="FFFFFF"/>
                </a:solidFill>
                <a:latin typeface="Courier New" pitchFamily="34" charset="0"/>
                <a:ea typeface="Courier New" pitchFamily="34" charset="-122"/>
                <a:cs typeface="Courier New" pitchFamily="34" charset="-120"/>
              </a:rPr>
              <a:t>14 SCAN MODULES. ONE UNIFIED PLATFORM.</a:t>
            </a:r>
            <a:endParaRPr lang="en-US" sz="1688" dirty="0"/>
          </a:p>
        </p:txBody>
      </p:sp>
      <p:sp>
        <p:nvSpPr>
          <p:cNvPr id="3" name="Text 1"/>
          <p:cNvSpPr/>
          <p:nvPr/>
        </p:nvSpPr>
        <p:spPr>
          <a:xfrm>
            <a:off x="432197" y="832247"/>
            <a:ext cx="4100513" cy="501402"/>
          </a:xfrm>
          <a:prstGeom prst="roundRect">
            <a:avLst>
              <a:gd name="adj" fmla="val 18997"/>
            </a:avLst>
          </a:prstGeom>
          <a:solidFill>
            <a:srgbClr val="111111"/>
          </a:solidFill>
          <a:ln w="7144">
            <a:solidFill>
              <a:srgbClr val="FFFFFF"/>
            </a:solidFill>
            <a:prstDash val="solid"/>
          </a:ln>
        </p:spPr>
        <p:txBody>
          <a:bodyPr wrap="square" rtlCol="0" anchor="ctr"/>
          <a:lstStyle/>
          <a:p>
            <a:pPr indent="0" marL="0">
              <a:buNone/>
            </a:pPr>
            <a:endParaRPr lang="en-US" dirty="0"/>
          </a:p>
        </p:txBody>
      </p:sp>
      <p:sp>
        <p:nvSpPr>
          <p:cNvPr id="4" name="Text 2"/>
          <p:cNvSpPr/>
          <p:nvPr/>
        </p:nvSpPr>
        <p:spPr>
          <a:xfrm>
            <a:off x="550069" y="935831"/>
            <a:ext cx="228600" cy="228600"/>
          </a:xfrm>
          <a:prstGeom prst="roundRect">
            <a:avLst>
              <a:gd name="adj" fmla="val 25000"/>
            </a:avLst>
          </a:prstGeom>
          <a:solidFill>
            <a:srgbClr val="00FF41">
              <a:alpha val="8000"/>
            </a:srgbClr>
          </a:solidFill>
          <a:ln/>
        </p:spPr>
        <p:txBody>
          <a:bodyPr wrap="square" rtlCol="0" anchor="ctr"/>
          <a:lstStyle/>
          <a:p>
            <a:pPr indent="0" marL="0">
              <a:buNone/>
            </a:pPr>
            <a:endParaRPr lang="en-US" dirty="0"/>
          </a:p>
        </p:txBody>
      </p:sp>
      <p:sp>
        <p:nvSpPr>
          <p:cNvPr id="5" name="Text 3"/>
          <p:cNvSpPr/>
          <p:nvPr/>
        </p:nvSpPr>
        <p:spPr>
          <a:xfrm>
            <a:off x="560784" y="946547"/>
            <a:ext cx="207169" cy="207169"/>
          </a:xfrm>
          <a:prstGeom prst="rect">
            <a:avLst/>
          </a:prstGeom>
          <a:noFill/>
          <a:ln/>
        </p:spPr>
        <p:txBody>
          <a:bodyPr wrap="none" lIns="0" tIns="0" rIns="0" bIns="0" rtlCol="0" anchor="ctr"/>
          <a:lstStyle/>
          <a:p>
            <a:pPr algn="ctr" indent="0" marL="0">
              <a:buNone/>
            </a:pPr>
            <a:r>
              <a:rPr lang="en-US" sz="1406" dirty="0">
                <a:solidFill>
                  <a:srgbClr val="888888"/>
                </a:solidFill>
                <a:latin typeface="Segoe UI Symbol" pitchFamily="34" charset="0"/>
                <a:ea typeface="Segoe UI Symbol" pitchFamily="34" charset="-122"/>
                <a:cs typeface="Segoe UI Symbol" pitchFamily="34" charset="-120"/>
              </a:rPr>
              <a:t>⌕</a:t>
            </a:r>
            <a:endParaRPr lang="en-US" sz="1406" dirty="0"/>
          </a:p>
        </p:txBody>
      </p:sp>
      <p:sp>
        <p:nvSpPr>
          <p:cNvPr id="6" name="Text 4"/>
          <p:cNvSpPr/>
          <p:nvPr/>
        </p:nvSpPr>
        <p:spPr>
          <a:xfrm>
            <a:off x="850106" y="935831"/>
            <a:ext cx="1445810" cy="146809"/>
          </a:xfrm>
          <a:prstGeom prst="rect">
            <a:avLst/>
          </a:prstGeom>
          <a:noFill/>
          <a:ln/>
        </p:spPr>
        <p:txBody>
          <a:bodyPr wrap="none" lIns="0" tIns="0" rIns="0" bIns="0" rtlCol="0" anchor="t">
            <a:normAutofit/>
          </a:bodyPr>
          <a:lstStyle/>
          <a:p>
            <a:pPr algn="l" indent="0" marL="0">
              <a:lnSpc>
                <a:spcPts val="1260"/>
              </a:lnSpc>
              <a:buNone/>
            </a:pPr>
            <a:r>
              <a:rPr lang="en-US" sz="800" b="1" dirty="0">
                <a:solidFill>
                  <a:srgbClr val="FFFFFF"/>
                </a:solidFill>
                <a:latin typeface="Courier New" pitchFamily="34" charset="0"/>
                <a:ea typeface="Courier New" pitchFamily="34" charset="-122"/>
                <a:cs typeface="Courier New" pitchFamily="34" charset="-120"/>
              </a:rPr>
              <a:t>recon</a:t>
            </a:r>
            <a:endParaRPr lang="en-US" sz="800" dirty="0"/>
          </a:p>
        </p:txBody>
      </p:sp>
      <p:sp>
        <p:nvSpPr>
          <p:cNvPr id="7" name="Text 5"/>
          <p:cNvSpPr/>
          <p:nvPr/>
        </p:nvSpPr>
        <p:spPr>
          <a:xfrm>
            <a:off x="850106" y="1110072"/>
            <a:ext cx="1072462" cy="119993"/>
          </a:xfrm>
          <a:prstGeom prst="rect">
            <a:avLst/>
          </a:prstGeom>
          <a:noFill/>
          <a:ln/>
        </p:spPr>
        <p:txBody>
          <a:bodyPr wrap="none" lIns="0" tIns="0" rIns="0" bIns="0" rtlCol="0" anchor="t"/>
          <a:lstStyle/>
          <a:p>
            <a:pPr algn="l" indent="0" marL="0">
              <a:lnSpc>
                <a:spcPts val="945"/>
              </a:lnSpc>
              <a:buNone/>
            </a:pPr>
            <a:r>
              <a:rPr lang="en-US" sz="675" dirty="0">
                <a:solidFill>
                  <a:srgbClr val="888888"/>
                </a:solidFill>
                <a:latin typeface="Carlito" pitchFamily="34" charset="0"/>
                <a:ea typeface="Carlito" pitchFamily="34" charset="-122"/>
                <a:cs typeface="Carlito" pitchFamily="34" charset="-120"/>
              </a:rPr>
              <a:t>Reconnaissance engine</a:t>
            </a:r>
            <a:endParaRPr lang="en-US" sz="675" dirty="0"/>
          </a:p>
        </p:txBody>
      </p:sp>
      <p:sp>
        <p:nvSpPr>
          <p:cNvPr id="8" name="Text 6"/>
          <p:cNvSpPr/>
          <p:nvPr/>
        </p:nvSpPr>
        <p:spPr>
          <a:xfrm>
            <a:off x="4611291" y="832247"/>
            <a:ext cx="2010966" cy="501402"/>
          </a:xfrm>
          <a:prstGeom prst="roundRect">
            <a:avLst>
              <a:gd name="adj" fmla="val 18997"/>
            </a:avLst>
          </a:prstGeom>
          <a:solidFill>
            <a:srgbClr val="111111"/>
          </a:solidFill>
          <a:ln w="7144">
            <a:solidFill>
              <a:srgbClr val="FFFFFF"/>
            </a:solidFill>
            <a:prstDash val="solid"/>
          </a:ln>
        </p:spPr>
        <p:txBody>
          <a:bodyPr wrap="square" rtlCol="0" anchor="ctr"/>
          <a:lstStyle/>
          <a:p>
            <a:pPr indent="0" marL="0">
              <a:buNone/>
            </a:pPr>
            <a:endParaRPr lang="en-US" dirty="0"/>
          </a:p>
        </p:txBody>
      </p:sp>
      <p:sp>
        <p:nvSpPr>
          <p:cNvPr id="9" name="Text 7"/>
          <p:cNvSpPr/>
          <p:nvPr/>
        </p:nvSpPr>
        <p:spPr>
          <a:xfrm>
            <a:off x="4729163" y="935831"/>
            <a:ext cx="228600" cy="228600"/>
          </a:xfrm>
          <a:prstGeom prst="roundRect">
            <a:avLst>
              <a:gd name="adj" fmla="val 25000"/>
            </a:avLst>
          </a:prstGeom>
          <a:solidFill>
            <a:srgbClr val="00FF41">
              <a:alpha val="8000"/>
            </a:srgbClr>
          </a:solidFill>
          <a:ln/>
        </p:spPr>
        <p:txBody>
          <a:bodyPr wrap="square" rtlCol="0" anchor="ctr"/>
          <a:lstStyle/>
          <a:p>
            <a:pPr indent="0" marL="0">
              <a:buNone/>
            </a:pPr>
            <a:endParaRPr lang="en-US" dirty="0"/>
          </a:p>
        </p:txBody>
      </p:sp>
      <p:sp>
        <p:nvSpPr>
          <p:cNvPr id="10" name="Text 8"/>
          <p:cNvSpPr/>
          <p:nvPr/>
        </p:nvSpPr>
        <p:spPr>
          <a:xfrm>
            <a:off x="4739878" y="946547"/>
            <a:ext cx="207169" cy="207169"/>
          </a:xfrm>
          <a:prstGeom prst="rect">
            <a:avLst/>
          </a:prstGeom>
          <a:noFill/>
          <a:ln/>
        </p:spPr>
        <p:txBody>
          <a:bodyPr wrap="none" lIns="0" tIns="0" rIns="0" bIns="0" rtlCol="0" anchor="ctr"/>
          <a:lstStyle/>
          <a:p>
            <a:pPr algn="ctr" indent="0" marL="0">
              <a:buNone/>
            </a:pPr>
            <a:r>
              <a:rPr lang="en-US" sz="1406" dirty="0">
                <a:solidFill>
                  <a:srgbClr val="888888"/>
                </a:solidFill>
                <a:latin typeface="Segoe UI Symbol" pitchFamily="34" charset="0"/>
                <a:ea typeface="Segoe UI Symbol" pitchFamily="34" charset="-122"/>
                <a:cs typeface="Segoe UI Symbol" pitchFamily="34" charset="-120"/>
              </a:rPr>
              <a:t>〜</a:t>
            </a:r>
            <a:endParaRPr lang="en-US" sz="1406" dirty="0"/>
          </a:p>
        </p:txBody>
      </p:sp>
      <p:sp>
        <p:nvSpPr>
          <p:cNvPr id="11" name="Text 9"/>
          <p:cNvSpPr/>
          <p:nvPr/>
        </p:nvSpPr>
        <p:spPr>
          <a:xfrm>
            <a:off x="5029200" y="935831"/>
            <a:ext cx="1053132" cy="146809"/>
          </a:xfrm>
          <a:prstGeom prst="rect">
            <a:avLst/>
          </a:prstGeom>
          <a:noFill/>
          <a:ln/>
        </p:spPr>
        <p:txBody>
          <a:bodyPr wrap="none" lIns="0" tIns="0" rIns="0" bIns="0" rtlCol="0" anchor="t">
            <a:normAutofit/>
          </a:bodyPr>
          <a:lstStyle/>
          <a:p>
            <a:pPr algn="l" indent="0" marL="0">
              <a:lnSpc>
                <a:spcPts val="1260"/>
              </a:lnSpc>
              <a:buNone/>
            </a:pPr>
            <a:r>
              <a:rPr lang="en-US" sz="800" b="1" dirty="0">
                <a:solidFill>
                  <a:srgbClr val="FFFFFF"/>
                </a:solidFill>
                <a:latin typeface="Courier New" pitchFamily="34" charset="0"/>
                <a:ea typeface="Courier New" pitchFamily="34" charset="-122"/>
                <a:cs typeface="Courier New" pitchFamily="34" charset="-120"/>
              </a:rPr>
              <a:t>vibesec</a:t>
            </a:r>
            <a:endParaRPr lang="en-US" sz="800" dirty="0"/>
          </a:p>
        </p:txBody>
      </p:sp>
      <p:sp>
        <p:nvSpPr>
          <p:cNvPr id="12" name="Text 10"/>
          <p:cNvSpPr/>
          <p:nvPr/>
        </p:nvSpPr>
        <p:spPr>
          <a:xfrm>
            <a:off x="5029200" y="1110072"/>
            <a:ext cx="905035" cy="119993"/>
          </a:xfrm>
          <a:prstGeom prst="rect">
            <a:avLst/>
          </a:prstGeom>
          <a:noFill/>
          <a:ln/>
        </p:spPr>
        <p:txBody>
          <a:bodyPr wrap="square" lIns="0" tIns="0" rIns="0" bIns="0" rtlCol="0" anchor="t"/>
          <a:lstStyle/>
          <a:p>
            <a:pPr algn="l" indent="0" marL="0">
              <a:lnSpc>
                <a:spcPts val="945"/>
              </a:lnSpc>
              <a:buNone/>
            </a:pPr>
            <a:r>
              <a:rPr lang="en-US" sz="675" dirty="0">
                <a:solidFill>
                  <a:srgbClr val="888888"/>
                </a:solidFill>
                <a:latin typeface="Carlito" pitchFamily="34" charset="0"/>
                <a:ea typeface="Carlito" pitchFamily="34" charset="-122"/>
                <a:cs typeface="Carlito" pitchFamily="34" charset="-120"/>
              </a:rPr>
              <a:t>Vibe security analysis</a:t>
            </a:r>
            <a:endParaRPr lang="en-US" sz="675" dirty="0"/>
          </a:p>
        </p:txBody>
      </p:sp>
      <p:sp>
        <p:nvSpPr>
          <p:cNvPr id="13" name="Text 11"/>
          <p:cNvSpPr/>
          <p:nvPr/>
        </p:nvSpPr>
        <p:spPr>
          <a:xfrm>
            <a:off x="6700838" y="832247"/>
            <a:ext cx="2010966" cy="501402"/>
          </a:xfrm>
          <a:prstGeom prst="roundRect">
            <a:avLst>
              <a:gd name="adj" fmla="val 18997"/>
            </a:avLst>
          </a:prstGeom>
          <a:solidFill>
            <a:srgbClr val="111111"/>
          </a:solidFill>
          <a:ln w="7144">
            <a:solidFill>
              <a:srgbClr val="FFFFFF"/>
            </a:solidFill>
            <a:prstDash val="solid"/>
          </a:ln>
        </p:spPr>
        <p:txBody>
          <a:bodyPr wrap="square" rtlCol="0" anchor="ctr"/>
          <a:lstStyle/>
          <a:p>
            <a:pPr indent="0" marL="0">
              <a:buNone/>
            </a:pPr>
            <a:endParaRPr lang="en-US" dirty="0"/>
          </a:p>
        </p:txBody>
      </p:sp>
      <p:sp>
        <p:nvSpPr>
          <p:cNvPr id="14" name="Text 12"/>
          <p:cNvSpPr/>
          <p:nvPr/>
        </p:nvSpPr>
        <p:spPr>
          <a:xfrm>
            <a:off x="6818709" y="935831"/>
            <a:ext cx="228600" cy="228600"/>
          </a:xfrm>
          <a:prstGeom prst="roundRect">
            <a:avLst>
              <a:gd name="adj" fmla="val 25000"/>
            </a:avLst>
          </a:prstGeom>
          <a:solidFill>
            <a:srgbClr val="00FF41">
              <a:alpha val="8000"/>
            </a:srgbClr>
          </a:solidFill>
          <a:ln/>
        </p:spPr>
        <p:txBody>
          <a:bodyPr wrap="square" rtlCol="0" anchor="ctr"/>
          <a:lstStyle/>
          <a:p>
            <a:pPr indent="0" marL="0">
              <a:buNone/>
            </a:pPr>
            <a:endParaRPr lang="en-US" dirty="0"/>
          </a:p>
        </p:txBody>
      </p:sp>
      <p:sp>
        <p:nvSpPr>
          <p:cNvPr id="15" name="Text 13"/>
          <p:cNvSpPr/>
          <p:nvPr/>
        </p:nvSpPr>
        <p:spPr>
          <a:xfrm>
            <a:off x="6829425" y="946547"/>
            <a:ext cx="207169" cy="207169"/>
          </a:xfrm>
          <a:prstGeom prst="rect">
            <a:avLst/>
          </a:prstGeom>
          <a:noFill/>
          <a:ln/>
        </p:spPr>
        <p:txBody>
          <a:bodyPr wrap="none" lIns="0" tIns="0" rIns="0" bIns="0" rtlCol="0" anchor="ctr"/>
          <a:lstStyle/>
          <a:p>
            <a:pPr algn="ctr" indent="0" marL="0">
              <a:buNone/>
            </a:pPr>
            <a:r>
              <a:rPr lang="en-US" sz="1406" dirty="0">
                <a:solidFill>
                  <a:srgbClr val="888888"/>
                </a:solidFill>
                <a:latin typeface="Segoe UI Symbol" pitchFamily="34" charset="0"/>
                <a:ea typeface="Segoe UI Symbol" pitchFamily="34" charset="-122"/>
                <a:cs typeface="Segoe UI Symbol" pitchFamily="34" charset="-120"/>
              </a:rPr>
              <a:t>⚿</a:t>
            </a:r>
            <a:endParaRPr lang="en-US" sz="1406" dirty="0"/>
          </a:p>
        </p:txBody>
      </p:sp>
      <p:sp>
        <p:nvSpPr>
          <p:cNvPr id="16" name="Text 14"/>
          <p:cNvSpPr/>
          <p:nvPr/>
        </p:nvSpPr>
        <p:spPr>
          <a:xfrm>
            <a:off x="7118747" y="935831"/>
            <a:ext cx="1370680" cy="146809"/>
          </a:xfrm>
          <a:prstGeom prst="rect">
            <a:avLst/>
          </a:prstGeom>
          <a:noFill/>
          <a:ln/>
        </p:spPr>
        <p:txBody>
          <a:bodyPr wrap="none" lIns="0" tIns="0" rIns="0" bIns="0" rtlCol="0" anchor="t">
            <a:normAutofit/>
          </a:bodyPr>
          <a:lstStyle/>
          <a:p>
            <a:pPr algn="l" indent="0" marL="0">
              <a:lnSpc>
                <a:spcPts val="1260"/>
              </a:lnSpc>
              <a:buNone/>
            </a:pPr>
            <a:r>
              <a:rPr lang="en-US" sz="800" b="1" dirty="0">
                <a:solidFill>
                  <a:srgbClr val="FFFFFF"/>
                </a:solidFill>
                <a:latin typeface="Courier New" pitchFamily="34" charset="0"/>
                <a:ea typeface="Courier New" pitchFamily="34" charset="-122"/>
                <a:cs typeface="Courier New" pitchFamily="34" charset="-120"/>
              </a:rPr>
              <a:t>auth</a:t>
            </a:r>
            <a:endParaRPr lang="en-US" sz="800" dirty="0"/>
          </a:p>
        </p:txBody>
      </p:sp>
      <p:sp>
        <p:nvSpPr>
          <p:cNvPr id="17" name="Text 15"/>
          <p:cNvSpPr/>
          <p:nvPr/>
        </p:nvSpPr>
        <p:spPr>
          <a:xfrm>
            <a:off x="7118747" y="1110072"/>
            <a:ext cx="954271" cy="119993"/>
          </a:xfrm>
          <a:prstGeom prst="rect">
            <a:avLst/>
          </a:prstGeom>
          <a:noFill/>
          <a:ln/>
        </p:spPr>
        <p:txBody>
          <a:bodyPr wrap="square" lIns="0" tIns="0" rIns="0" bIns="0" rtlCol="0" anchor="t"/>
          <a:lstStyle/>
          <a:p>
            <a:pPr algn="l" indent="0" marL="0">
              <a:lnSpc>
                <a:spcPts val="945"/>
              </a:lnSpc>
              <a:buNone/>
            </a:pPr>
            <a:r>
              <a:rPr lang="en-US" sz="675" dirty="0">
                <a:solidFill>
                  <a:srgbClr val="888888"/>
                </a:solidFill>
                <a:latin typeface="Carlito" pitchFamily="34" charset="0"/>
                <a:ea typeface="Carlito" pitchFamily="34" charset="-122"/>
                <a:cs typeface="Carlito" pitchFamily="34" charset="-120"/>
              </a:rPr>
              <a:t>Authentication auditing</a:t>
            </a:r>
            <a:endParaRPr lang="en-US" sz="675" dirty="0"/>
          </a:p>
        </p:txBody>
      </p:sp>
      <p:sp>
        <p:nvSpPr>
          <p:cNvPr id="18" name="Text 16"/>
          <p:cNvSpPr/>
          <p:nvPr/>
        </p:nvSpPr>
        <p:spPr>
          <a:xfrm>
            <a:off x="432197" y="1412230"/>
            <a:ext cx="2010966" cy="621395"/>
          </a:xfrm>
          <a:prstGeom prst="roundRect">
            <a:avLst>
              <a:gd name="adj" fmla="val 15328"/>
            </a:avLst>
          </a:prstGeom>
          <a:solidFill>
            <a:srgbClr val="111111"/>
          </a:solidFill>
          <a:ln w="7144">
            <a:solidFill>
              <a:srgbClr val="FFFFFF"/>
            </a:solidFill>
            <a:prstDash val="solid"/>
          </a:ln>
        </p:spPr>
        <p:txBody>
          <a:bodyPr wrap="square" rtlCol="0" anchor="ctr"/>
          <a:lstStyle/>
          <a:p>
            <a:pPr indent="0" marL="0">
              <a:buNone/>
            </a:pPr>
            <a:endParaRPr lang="en-US" dirty="0"/>
          </a:p>
        </p:txBody>
      </p:sp>
      <p:sp>
        <p:nvSpPr>
          <p:cNvPr id="19" name="Text 17"/>
          <p:cNvSpPr/>
          <p:nvPr/>
        </p:nvSpPr>
        <p:spPr>
          <a:xfrm>
            <a:off x="550069" y="1515814"/>
            <a:ext cx="228600" cy="228600"/>
          </a:xfrm>
          <a:prstGeom prst="roundRect">
            <a:avLst>
              <a:gd name="adj" fmla="val 25000"/>
            </a:avLst>
          </a:prstGeom>
          <a:solidFill>
            <a:srgbClr val="00FF41">
              <a:alpha val="8000"/>
            </a:srgbClr>
          </a:solidFill>
          <a:ln/>
        </p:spPr>
        <p:txBody>
          <a:bodyPr wrap="square" rtlCol="0" anchor="ctr"/>
          <a:lstStyle/>
          <a:p>
            <a:pPr indent="0" marL="0">
              <a:buNone/>
            </a:pPr>
            <a:endParaRPr lang="en-US" dirty="0"/>
          </a:p>
        </p:txBody>
      </p:sp>
      <p:sp>
        <p:nvSpPr>
          <p:cNvPr id="20" name="Text 18"/>
          <p:cNvSpPr/>
          <p:nvPr/>
        </p:nvSpPr>
        <p:spPr>
          <a:xfrm>
            <a:off x="560784" y="1526530"/>
            <a:ext cx="207169" cy="207169"/>
          </a:xfrm>
          <a:prstGeom prst="rect">
            <a:avLst/>
          </a:prstGeom>
          <a:noFill/>
          <a:ln/>
        </p:spPr>
        <p:txBody>
          <a:bodyPr wrap="none" lIns="0" tIns="0" rIns="0" bIns="0" rtlCol="0" anchor="ctr"/>
          <a:lstStyle/>
          <a:p>
            <a:pPr algn="ctr" indent="0" marL="0">
              <a:buNone/>
            </a:pPr>
            <a:r>
              <a:rPr lang="en-US" sz="1406" dirty="0">
                <a:solidFill>
                  <a:srgbClr val="888888"/>
                </a:solidFill>
                <a:latin typeface="Segoe UI Symbol" pitchFamily="34" charset="0"/>
                <a:ea typeface="Segoe UI Symbol" pitchFamily="34" charset="-122"/>
                <a:cs typeface="Segoe UI Symbol" pitchFamily="34" charset="-120"/>
              </a:rPr>
              <a:t>⌘</a:t>
            </a:r>
            <a:endParaRPr lang="en-US" sz="1406" dirty="0"/>
          </a:p>
        </p:txBody>
      </p:sp>
      <p:sp>
        <p:nvSpPr>
          <p:cNvPr id="21" name="Text 19"/>
          <p:cNvSpPr/>
          <p:nvPr/>
        </p:nvSpPr>
        <p:spPr>
          <a:xfrm>
            <a:off x="850106" y="1515814"/>
            <a:ext cx="1295021" cy="146809"/>
          </a:xfrm>
          <a:prstGeom prst="rect">
            <a:avLst/>
          </a:prstGeom>
          <a:noFill/>
          <a:ln/>
        </p:spPr>
        <p:txBody>
          <a:bodyPr wrap="none" lIns="0" tIns="0" rIns="0" bIns="0" rtlCol="0" anchor="t">
            <a:normAutofit/>
          </a:bodyPr>
          <a:lstStyle/>
          <a:p>
            <a:pPr algn="l" indent="0" marL="0">
              <a:lnSpc>
                <a:spcPts val="1260"/>
              </a:lnSpc>
              <a:buNone/>
            </a:pPr>
            <a:r>
              <a:rPr lang="en-US" sz="800" b="1" dirty="0">
                <a:solidFill>
                  <a:srgbClr val="FFFFFF"/>
                </a:solidFill>
                <a:latin typeface="Courier New" pitchFamily="34" charset="0"/>
                <a:ea typeface="Courier New" pitchFamily="34" charset="-122"/>
                <a:cs typeface="Courier New" pitchFamily="34" charset="-120"/>
              </a:rPr>
              <a:t>chain</a:t>
            </a:r>
            <a:endParaRPr lang="en-US" sz="800" dirty="0"/>
          </a:p>
        </p:txBody>
      </p:sp>
      <p:sp>
        <p:nvSpPr>
          <p:cNvPr id="22" name="Text 20"/>
          <p:cNvSpPr/>
          <p:nvPr/>
        </p:nvSpPr>
        <p:spPr>
          <a:xfrm>
            <a:off x="850106" y="1690055"/>
            <a:ext cx="960611" cy="153591"/>
          </a:xfrm>
          <a:prstGeom prst="rect">
            <a:avLst/>
          </a:prstGeom>
          <a:noFill/>
          <a:ln/>
        </p:spPr>
        <p:txBody>
          <a:bodyPr wrap="none" lIns="0" tIns="0" rIns="0" bIns="0" rtlCol="0" anchor="t"/>
          <a:lstStyle/>
          <a:p>
            <a:pPr algn="l" indent="0" marL="0">
              <a:lnSpc>
                <a:spcPts val="945"/>
              </a:lnSpc>
              <a:buNone/>
            </a:pPr>
            <a:r>
              <a:rPr lang="en-US" sz="675" dirty="0">
                <a:solidFill>
                  <a:srgbClr val="888888"/>
                </a:solidFill>
                <a:latin typeface="Carlito" pitchFamily="34" charset="0"/>
                <a:ea typeface="Carlito" pitchFamily="34" charset="-122"/>
                <a:cs typeface="Carlito" pitchFamily="34" charset="-120"/>
              </a:rPr>
              <a:t>Attack chain mapping</a:t>
            </a:r>
            <a:endParaRPr lang="en-US" sz="675" dirty="0"/>
          </a:p>
        </p:txBody>
      </p:sp>
      <p:sp>
        <p:nvSpPr>
          <p:cNvPr id="23" name="Text 21"/>
          <p:cNvSpPr/>
          <p:nvPr/>
        </p:nvSpPr>
        <p:spPr>
          <a:xfrm>
            <a:off x="2521744" y="1412230"/>
            <a:ext cx="4100513" cy="621395"/>
          </a:xfrm>
          <a:prstGeom prst="roundRect">
            <a:avLst>
              <a:gd name="adj" fmla="val 15328"/>
            </a:avLst>
          </a:prstGeom>
          <a:solidFill>
            <a:srgbClr val="111111"/>
          </a:solidFill>
          <a:ln w="7144">
            <a:solidFill>
              <a:srgbClr val="FFFFFF"/>
            </a:solidFill>
            <a:prstDash val="solid"/>
          </a:ln>
        </p:spPr>
        <p:txBody>
          <a:bodyPr wrap="square" rtlCol="0" anchor="ctr"/>
          <a:lstStyle/>
          <a:p>
            <a:pPr indent="0" marL="0">
              <a:buNone/>
            </a:pPr>
            <a:endParaRPr lang="en-US" dirty="0"/>
          </a:p>
        </p:txBody>
      </p:sp>
      <p:sp>
        <p:nvSpPr>
          <p:cNvPr id="24" name="Text 22"/>
          <p:cNvSpPr/>
          <p:nvPr/>
        </p:nvSpPr>
        <p:spPr>
          <a:xfrm>
            <a:off x="2639616" y="1515814"/>
            <a:ext cx="228600" cy="228600"/>
          </a:xfrm>
          <a:prstGeom prst="roundRect">
            <a:avLst>
              <a:gd name="adj" fmla="val 25000"/>
            </a:avLst>
          </a:prstGeom>
          <a:solidFill>
            <a:srgbClr val="00FF41">
              <a:alpha val="8000"/>
            </a:srgbClr>
          </a:solidFill>
          <a:ln/>
        </p:spPr>
        <p:txBody>
          <a:bodyPr wrap="square" rtlCol="0" anchor="ctr"/>
          <a:lstStyle/>
          <a:p>
            <a:pPr indent="0" marL="0">
              <a:buNone/>
            </a:pPr>
            <a:endParaRPr lang="en-US" dirty="0"/>
          </a:p>
        </p:txBody>
      </p:sp>
      <p:sp>
        <p:nvSpPr>
          <p:cNvPr id="25" name="Text 23"/>
          <p:cNvSpPr/>
          <p:nvPr/>
        </p:nvSpPr>
        <p:spPr>
          <a:xfrm>
            <a:off x="2650331" y="1526530"/>
            <a:ext cx="207169" cy="207169"/>
          </a:xfrm>
          <a:prstGeom prst="rect">
            <a:avLst/>
          </a:prstGeom>
          <a:noFill/>
          <a:ln/>
        </p:spPr>
        <p:txBody>
          <a:bodyPr wrap="none" lIns="0" tIns="0" rIns="0" bIns="0" rtlCol="0" anchor="ctr"/>
          <a:lstStyle/>
          <a:p>
            <a:pPr algn="ctr" indent="0" marL="0">
              <a:buNone/>
            </a:pPr>
            <a:r>
              <a:rPr lang="en-US" sz="1406" dirty="0">
                <a:solidFill>
                  <a:srgbClr val="888888"/>
                </a:solidFill>
                <a:latin typeface="Segoe UI Symbol" pitchFamily="34" charset="0"/>
                <a:ea typeface="Segoe UI Symbol" pitchFamily="34" charset="-122"/>
                <a:cs typeface="Segoe UI Symbol" pitchFamily="34" charset="-120"/>
              </a:rPr>
              <a:t>✦</a:t>
            </a:r>
            <a:endParaRPr lang="en-US" sz="1406" dirty="0"/>
          </a:p>
        </p:txBody>
      </p:sp>
      <p:sp>
        <p:nvSpPr>
          <p:cNvPr id="26" name="Text 24"/>
          <p:cNvSpPr/>
          <p:nvPr/>
        </p:nvSpPr>
        <p:spPr>
          <a:xfrm>
            <a:off x="2939653" y="1515814"/>
            <a:ext cx="3564731" cy="146809"/>
          </a:xfrm>
          <a:prstGeom prst="rect">
            <a:avLst/>
          </a:prstGeom>
          <a:noFill/>
          <a:ln/>
        </p:spPr>
        <p:txBody>
          <a:bodyPr wrap="none" lIns="0" tIns="0" rIns="0" bIns="0" rtlCol="0" anchor="t">
            <a:normAutofit/>
          </a:bodyPr>
          <a:lstStyle/>
          <a:p>
            <a:pPr algn="l" indent="0" marL="0">
              <a:lnSpc>
                <a:spcPts val="1260"/>
              </a:lnSpc>
              <a:buNone/>
            </a:pPr>
            <a:r>
              <a:rPr lang="en-US" sz="800" b="1" dirty="0">
                <a:solidFill>
                  <a:srgbClr val="FFFFFF"/>
                </a:solidFill>
                <a:latin typeface="Courier New" pitchFamily="34" charset="0"/>
                <a:ea typeface="Courier New" pitchFamily="34" charset="-122"/>
                <a:cs typeface="Courier New" pitchFamily="34" charset="-120"/>
              </a:rPr>
              <a:t>bot</a:t>
            </a:r>
            <a:endParaRPr lang="en-US" sz="800" dirty="0"/>
          </a:p>
        </p:txBody>
      </p:sp>
      <p:sp>
        <p:nvSpPr>
          <p:cNvPr id="27" name="Text 25"/>
          <p:cNvSpPr/>
          <p:nvPr/>
        </p:nvSpPr>
        <p:spPr>
          <a:xfrm>
            <a:off x="2939653" y="1690055"/>
            <a:ext cx="3564731" cy="239985"/>
          </a:xfrm>
          <a:prstGeom prst="rect">
            <a:avLst/>
          </a:prstGeom>
          <a:noFill/>
          <a:ln/>
        </p:spPr>
        <p:txBody>
          <a:bodyPr wrap="square" lIns="0" tIns="0" rIns="0" bIns="0" rtlCol="0" anchor="t"/>
          <a:lstStyle/>
          <a:p>
            <a:pPr algn="l" indent="0" marL="0">
              <a:lnSpc>
                <a:spcPts val="945"/>
              </a:lnSpc>
              <a:buNone/>
            </a:pPr>
            <a:r>
              <a:rPr lang="en-US" sz="800" dirty="0">
                <a:solidFill>
                  <a:srgbClr val="888888"/>
                </a:solidFill>
                <a:latin typeface="Carlito" pitchFamily="34" charset="0"/>
                <a:ea typeface="Carlito" pitchFamily="34" charset="-122"/>
                <a:cs typeface="Carlito" pitchFamily="34" charset="-120"/>
              </a:rPr>
              <a:t>Botnet detection — Cobalt Strike, Metasploit, Emotet, TrickBot, QakBot, SolarWinds, Log4Shell</a:t>
            </a:r>
            <a:endParaRPr lang="en-US" sz="800" dirty="0"/>
          </a:p>
        </p:txBody>
      </p:sp>
      <p:sp>
        <p:nvSpPr>
          <p:cNvPr id="28" name="Text 26"/>
          <p:cNvSpPr/>
          <p:nvPr/>
        </p:nvSpPr>
        <p:spPr>
          <a:xfrm>
            <a:off x="6700838" y="1412230"/>
            <a:ext cx="2010966" cy="621395"/>
          </a:xfrm>
          <a:prstGeom prst="roundRect">
            <a:avLst>
              <a:gd name="adj" fmla="val 15328"/>
            </a:avLst>
          </a:prstGeom>
          <a:solidFill>
            <a:srgbClr val="111111"/>
          </a:solidFill>
          <a:ln w="7144">
            <a:solidFill>
              <a:srgbClr val="00FF41"/>
            </a:solidFill>
            <a:prstDash val="solid"/>
          </a:ln>
        </p:spPr>
        <p:txBody>
          <a:bodyPr wrap="square" rtlCol="0" anchor="ctr"/>
          <a:lstStyle/>
          <a:p>
            <a:pPr indent="0" marL="0">
              <a:buNone/>
            </a:pPr>
            <a:endParaRPr lang="en-US" dirty="0"/>
          </a:p>
        </p:txBody>
      </p:sp>
      <p:sp>
        <p:nvSpPr>
          <p:cNvPr id="29" name="Text 27"/>
          <p:cNvSpPr/>
          <p:nvPr/>
        </p:nvSpPr>
        <p:spPr>
          <a:xfrm>
            <a:off x="6818709" y="1515814"/>
            <a:ext cx="228600" cy="228600"/>
          </a:xfrm>
          <a:prstGeom prst="roundRect">
            <a:avLst>
              <a:gd name="adj" fmla="val 25000"/>
            </a:avLst>
          </a:prstGeom>
          <a:solidFill>
            <a:srgbClr val="00FF41">
              <a:alpha val="15000"/>
            </a:srgbClr>
          </a:solidFill>
          <a:ln/>
        </p:spPr>
        <p:txBody>
          <a:bodyPr wrap="square" rtlCol="0" anchor="ctr"/>
          <a:lstStyle/>
          <a:p>
            <a:pPr indent="0" marL="0">
              <a:buNone/>
            </a:pPr>
            <a:endParaRPr lang="en-US" dirty="0"/>
          </a:p>
        </p:txBody>
      </p:sp>
      <p:sp>
        <p:nvSpPr>
          <p:cNvPr id="30" name="Text 28"/>
          <p:cNvSpPr/>
          <p:nvPr/>
        </p:nvSpPr>
        <p:spPr>
          <a:xfrm>
            <a:off x="6829425" y="1526530"/>
            <a:ext cx="207169" cy="207169"/>
          </a:xfrm>
          <a:prstGeom prst="rect">
            <a:avLst/>
          </a:prstGeom>
          <a:noFill/>
          <a:ln/>
        </p:spPr>
        <p:txBody>
          <a:bodyPr wrap="none" lIns="0" tIns="0" rIns="0" bIns="0" rtlCol="0" anchor="ctr"/>
          <a:lstStyle/>
          <a:p>
            <a:pPr algn="ctr" indent="0" marL="0">
              <a:buNone/>
            </a:pPr>
            <a:r>
              <a:rPr lang="en-US" sz="1406" dirty="0">
                <a:solidFill>
                  <a:srgbClr val="00FF41"/>
                </a:solidFill>
                <a:latin typeface="Segoe UI Symbol" pitchFamily="34" charset="0"/>
                <a:ea typeface="Segoe UI Symbol" pitchFamily="34" charset="-122"/>
                <a:cs typeface="Segoe UI Symbol" pitchFamily="34" charset="-120"/>
              </a:rPr>
              <a:t>✦</a:t>
            </a:r>
            <a:endParaRPr lang="en-US" sz="1406" dirty="0"/>
          </a:p>
        </p:txBody>
      </p:sp>
      <p:sp>
        <p:nvSpPr>
          <p:cNvPr id="31" name="Text 29"/>
          <p:cNvSpPr/>
          <p:nvPr/>
        </p:nvSpPr>
        <p:spPr>
          <a:xfrm>
            <a:off x="7118747" y="1515814"/>
            <a:ext cx="1475184" cy="146809"/>
          </a:xfrm>
          <a:prstGeom prst="rect">
            <a:avLst/>
          </a:prstGeom>
          <a:noFill/>
          <a:ln/>
        </p:spPr>
        <p:txBody>
          <a:bodyPr wrap="none" lIns="0" tIns="0" rIns="0" bIns="0" rtlCol="0" anchor="t">
            <a:normAutofit/>
          </a:bodyPr>
          <a:lstStyle/>
          <a:p>
            <a:pPr algn="l" indent="0" marL="0">
              <a:lnSpc>
                <a:spcPts val="1260"/>
              </a:lnSpc>
              <a:buNone/>
            </a:pPr>
            <a:r>
              <a:rPr lang="en-US" sz="800" b="1" dirty="0">
                <a:solidFill>
                  <a:srgbClr val="00FF41"/>
                </a:solidFill>
                <a:latin typeface="Courier New" pitchFamily="34" charset="0"/>
                <a:ea typeface="Courier New" pitchFamily="34" charset="-122"/>
                <a:cs typeface="Courier New" pitchFamily="34" charset="-120"/>
              </a:rPr>
              <a:t>gorgon</a:t>
            </a:r>
            <a:endParaRPr lang="en-US" sz="800" dirty="0"/>
          </a:p>
        </p:txBody>
      </p:sp>
      <p:sp>
        <p:nvSpPr>
          <p:cNvPr id="32" name="Text 30"/>
          <p:cNvSpPr/>
          <p:nvPr/>
        </p:nvSpPr>
        <p:spPr>
          <a:xfrm>
            <a:off x="7118747" y="1690055"/>
            <a:ext cx="1305324" cy="153591"/>
          </a:xfrm>
          <a:prstGeom prst="rect">
            <a:avLst/>
          </a:prstGeom>
          <a:noFill/>
          <a:ln/>
        </p:spPr>
        <p:txBody>
          <a:bodyPr wrap="square" lIns="0" tIns="0" rIns="0" bIns="0" rtlCol="0" anchor="t"/>
          <a:lstStyle/>
          <a:p>
            <a:pPr algn="l" indent="0" marL="0">
              <a:lnSpc>
                <a:spcPts val="945"/>
              </a:lnSpc>
              <a:buNone/>
            </a:pPr>
            <a:r>
              <a:rPr lang="en-US" sz="675" dirty="0">
                <a:solidFill>
                  <a:srgbClr val="888888"/>
                </a:solidFill>
                <a:latin typeface="Carlito" pitchFamily="34" charset="0"/>
                <a:ea typeface="Carlito" pitchFamily="34" charset="-122"/>
                <a:cs typeface="Carlito" pitchFamily="34" charset="-120"/>
              </a:rPr>
              <a:t>GORGON ULTRA threat engine</a:t>
            </a:r>
            <a:endParaRPr lang="en-US" sz="675" dirty="0"/>
          </a:p>
        </p:txBody>
      </p:sp>
      <p:sp>
        <p:nvSpPr>
          <p:cNvPr id="33" name="Text 31"/>
          <p:cNvSpPr/>
          <p:nvPr/>
        </p:nvSpPr>
        <p:spPr>
          <a:xfrm>
            <a:off x="432197" y="2112206"/>
            <a:ext cx="4100513" cy="501402"/>
          </a:xfrm>
          <a:prstGeom prst="roundRect">
            <a:avLst>
              <a:gd name="adj" fmla="val 18997"/>
            </a:avLst>
          </a:prstGeom>
          <a:solidFill>
            <a:srgbClr val="111111"/>
          </a:solidFill>
          <a:ln w="7144">
            <a:solidFill>
              <a:srgbClr val="00FF41"/>
            </a:solidFill>
            <a:prstDash val="solid"/>
          </a:ln>
        </p:spPr>
        <p:txBody>
          <a:bodyPr wrap="square" rtlCol="0" anchor="ctr"/>
          <a:lstStyle/>
          <a:p>
            <a:pPr indent="0" marL="0">
              <a:buNone/>
            </a:pPr>
            <a:endParaRPr lang="en-US" dirty="0"/>
          </a:p>
        </p:txBody>
      </p:sp>
      <p:sp>
        <p:nvSpPr>
          <p:cNvPr id="34" name="Text 32"/>
          <p:cNvSpPr/>
          <p:nvPr/>
        </p:nvSpPr>
        <p:spPr>
          <a:xfrm>
            <a:off x="550069" y="2215790"/>
            <a:ext cx="228600" cy="228600"/>
          </a:xfrm>
          <a:prstGeom prst="roundRect">
            <a:avLst>
              <a:gd name="adj" fmla="val 25000"/>
            </a:avLst>
          </a:prstGeom>
          <a:solidFill>
            <a:srgbClr val="00FF41">
              <a:alpha val="15000"/>
            </a:srgbClr>
          </a:solidFill>
          <a:ln/>
        </p:spPr>
        <p:txBody>
          <a:bodyPr wrap="square" rtlCol="0" anchor="ctr"/>
          <a:lstStyle/>
          <a:p>
            <a:pPr indent="0" marL="0">
              <a:buNone/>
            </a:pPr>
            <a:endParaRPr lang="en-US" dirty="0"/>
          </a:p>
        </p:txBody>
      </p:sp>
      <p:sp>
        <p:nvSpPr>
          <p:cNvPr id="35" name="Text 33"/>
          <p:cNvSpPr/>
          <p:nvPr/>
        </p:nvSpPr>
        <p:spPr>
          <a:xfrm>
            <a:off x="560784" y="2226506"/>
            <a:ext cx="207169" cy="207169"/>
          </a:xfrm>
          <a:prstGeom prst="rect">
            <a:avLst/>
          </a:prstGeom>
          <a:noFill/>
          <a:ln/>
        </p:spPr>
        <p:txBody>
          <a:bodyPr wrap="none" lIns="0" tIns="0" rIns="0" bIns="0" rtlCol="0" anchor="ctr"/>
          <a:lstStyle/>
          <a:p>
            <a:pPr algn="ctr" indent="0" marL="0">
              <a:buNone/>
            </a:pPr>
            <a:r>
              <a:rPr lang="en-US" sz="1406" dirty="0">
                <a:solidFill>
                  <a:srgbClr val="00FF41"/>
                </a:solidFill>
                <a:latin typeface="Segoe UI Symbol" pitchFamily="34" charset="0"/>
                <a:ea typeface="Segoe UI Symbol" pitchFamily="34" charset="-122"/>
                <a:cs typeface="Segoe UI Symbol" pitchFamily="34" charset="-120"/>
              </a:rPr>
              <a:t>⛨</a:t>
            </a:r>
            <a:endParaRPr lang="en-US" sz="1406" dirty="0"/>
          </a:p>
        </p:txBody>
      </p:sp>
      <p:sp>
        <p:nvSpPr>
          <p:cNvPr id="36" name="Text 34"/>
          <p:cNvSpPr/>
          <p:nvPr/>
        </p:nvSpPr>
        <p:spPr>
          <a:xfrm>
            <a:off x="850106" y="2215790"/>
            <a:ext cx="1213866" cy="146809"/>
          </a:xfrm>
          <a:prstGeom prst="rect">
            <a:avLst/>
          </a:prstGeom>
          <a:noFill/>
          <a:ln/>
        </p:spPr>
        <p:txBody>
          <a:bodyPr wrap="none" lIns="0" tIns="0" rIns="0" bIns="0" rtlCol="0" anchor="t">
            <a:normAutofit/>
          </a:bodyPr>
          <a:lstStyle/>
          <a:p>
            <a:pPr algn="l" indent="0" marL="0">
              <a:lnSpc>
                <a:spcPts val="1260"/>
              </a:lnSpc>
              <a:buNone/>
            </a:pPr>
            <a:r>
              <a:rPr lang="en-US" sz="800" b="1" dirty="0">
                <a:solidFill>
                  <a:srgbClr val="00FF41"/>
                </a:solidFill>
                <a:latin typeface="Courier New" pitchFamily="34" charset="0"/>
                <a:ea typeface="Courier New" pitchFamily="34" charset="-122"/>
                <a:cs typeface="Courier New" pitchFamily="34" charset="-120"/>
              </a:rPr>
              <a:t>oblivion</a:t>
            </a:r>
            <a:endParaRPr lang="en-US" sz="800" dirty="0"/>
          </a:p>
        </p:txBody>
      </p:sp>
      <p:sp>
        <p:nvSpPr>
          <p:cNvPr id="37" name="Text 35"/>
          <p:cNvSpPr/>
          <p:nvPr/>
        </p:nvSpPr>
        <p:spPr>
          <a:xfrm>
            <a:off x="850106" y="2390031"/>
            <a:ext cx="1111446" cy="119993"/>
          </a:xfrm>
          <a:prstGeom prst="rect">
            <a:avLst/>
          </a:prstGeom>
          <a:noFill/>
          <a:ln/>
        </p:spPr>
        <p:txBody>
          <a:bodyPr wrap="none" lIns="0" tIns="0" rIns="0" bIns="0" rtlCol="0" anchor="t"/>
          <a:lstStyle/>
          <a:p>
            <a:pPr algn="l" indent="0" marL="0">
              <a:lnSpc>
                <a:spcPts val="945"/>
              </a:lnSpc>
              <a:buNone/>
            </a:pPr>
            <a:r>
              <a:rPr lang="en-US" sz="675" dirty="0">
                <a:solidFill>
                  <a:srgbClr val="888888"/>
                </a:solidFill>
                <a:latin typeface="Carlito" pitchFamily="34" charset="0"/>
                <a:ea typeface="Carlito" pitchFamily="34" charset="-122"/>
                <a:cs typeface="Carlito" pitchFamily="34" charset="-120"/>
              </a:rPr>
              <a:t>OBLIVION deep scanner</a:t>
            </a:r>
            <a:endParaRPr lang="en-US" sz="675" dirty="0"/>
          </a:p>
        </p:txBody>
      </p:sp>
      <p:sp>
        <p:nvSpPr>
          <p:cNvPr id="38" name="Text 36"/>
          <p:cNvSpPr/>
          <p:nvPr/>
        </p:nvSpPr>
        <p:spPr>
          <a:xfrm>
            <a:off x="4611291" y="2112206"/>
            <a:ext cx="4100513" cy="501402"/>
          </a:xfrm>
          <a:prstGeom prst="roundRect">
            <a:avLst>
              <a:gd name="adj" fmla="val 18997"/>
            </a:avLst>
          </a:prstGeom>
          <a:solidFill>
            <a:srgbClr val="111111"/>
          </a:solidFill>
          <a:ln w="7144">
            <a:solidFill>
              <a:srgbClr val="00FF41"/>
            </a:solidFill>
            <a:prstDash val="solid"/>
          </a:ln>
        </p:spPr>
        <p:txBody>
          <a:bodyPr wrap="square" rtlCol="0" anchor="ctr"/>
          <a:lstStyle/>
          <a:p>
            <a:pPr indent="0" marL="0">
              <a:buNone/>
            </a:pPr>
            <a:endParaRPr lang="en-US" dirty="0"/>
          </a:p>
        </p:txBody>
      </p:sp>
      <p:sp>
        <p:nvSpPr>
          <p:cNvPr id="39" name="Text 37"/>
          <p:cNvSpPr/>
          <p:nvPr/>
        </p:nvSpPr>
        <p:spPr>
          <a:xfrm>
            <a:off x="4729163" y="2215790"/>
            <a:ext cx="228600" cy="228600"/>
          </a:xfrm>
          <a:prstGeom prst="roundRect">
            <a:avLst>
              <a:gd name="adj" fmla="val 25000"/>
            </a:avLst>
          </a:prstGeom>
          <a:solidFill>
            <a:srgbClr val="00FF41">
              <a:alpha val="15000"/>
            </a:srgbClr>
          </a:solidFill>
          <a:ln/>
        </p:spPr>
        <p:txBody>
          <a:bodyPr wrap="square" rtlCol="0" anchor="ctr"/>
          <a:lstStyle/>
          <a:p>
            <a:pPr indent="0" marL="0">
              <a:buNone/>
            </a:pPr>
            <a:endParaRPr lang="en-US" dirty="0"/>
          </a:p>
        </p:txBody>
      </p:sp>
      <p:sp>
        <p:nvSpPr>
          <p:cNvPr id="40" name="Text 38"/>
          <p:cNvSpPr/>
          <p:nvPr/>
        </p:nvSpPr>
        <p:spPr>
          <a:xfrm>
            <a:off x="4739878" y="2226506"/>
            <a:ext cx="207169" cy="207169"/>
          </a:xfrm>
          <a:prstGeom prst="rect">
            <a:avLst/>
          </a:prstGeom>
          <a:noFill/>
          <a:ln/>
        </p:spPr>
        <p:txBody>
          <a:bodyPr wrap="none" lIns="0" tIns="0" rIns="0" bIns="0" rtlCol="0" anchor="ctr"/>
          <a:lstStyle/>
          <a:p>
            <a:pPr algn="ctr" indent="0" marL="0">
              <a:buNone/>
            </a:pPr>
            <a:r>
              <a:rPr lang="en-US" sz="1406" dirty="0">
                <a:solidFill>
                  <a:srgbClr val="00FF41"/>
                </a:solidFill>
                <a:latin typeface="Segoe UI Symbol" pitchFamily="34" charset="0"/>
                <a:ea typeface="Segoe UI Symbol" pitchFamily="34" charset="-122"/>
                <a:cs typeface="Segoe UI Symbol" pitchFamily="34" charset="-120"/>
              </a:rPr>
              <a:t>✦</a:t>
            </a:r>
            <a:endParaRPr lang="en-US" sz="1406" dirty="0"/>
          </a:p>
        </p:txBody>
      </p:sp>
      <p:sp>
        <p:nvSpPr>
          <p:cNvPr id="41" name="Text 39"/>
          <p:cNvSpPr/>
          <p:nvPr/>
        </p:nvSpPr>
        <p:spPr>
          <a:xfrm>
            <a:off x="5029200" y="2215790"/>
            <a:ext cx="1311307" cy="146809"/>
          </a:xfrm>
          <a:prstGeom prst="rect">
            <a:avLst/>
          </a:prstGeom>
          <a:noFill/>
          <a:ln/>
        </p:spPr>
        <p:txBody>
          <a:bodyPr wrap="none" lIns="0" tIns="0" rIns="0" bIns="0" rtlCol="0" anchor="t">
            <a:normAutofit/>
          </a:bodyPr>
          <a:lstStyle/>
          <a:p>
            <a:pPr algn="l" indent="0" marL="0">
              <a:lnSpc>
                <a:spcPts val="1260"/>
              </a:lnSpc>
              <a:buNone/>
            </a:pPr>
            <a:r>
              <a:rPr lang="en-US" sz="800" b="1" dirty="0">
                <a:solidFill>
                  <a:srgbClr val="00FF41"/>
                </a:solidFill>
                <a:latin typeface="Courier New" pitchFamily="34" charset="0"/>
                <a:ea typeface="Courier New" pitchFamily="34" charset="-122"/>
                <a:cs typeface="Courier New" pitchFamily="34" charset="-120"/>
              </a:rPr>
              <a:t>pegasus</a:t>
            </a:r>
            <a:endParaRPr lang="en-US" sz="800" dirty="0"/>
          </a:p>
        </p:txBody>
      </p:sp>
      <p:sp>
        <p:nvSpPr>
          <p:cNvPr id="42" name="Text 40"/>
          <p:cNvSpPr/>
          <p:nvPr/>
        </p:nvSpPr>
        <p:spPr>
          <a:xfrm>
            <a:off x="5029200" y="2390031"/>
            <a:ext cx="1126904" cy="119993"/>
          </a:xfrm>
          <a:prstGeom prst="rect">
            <a:avLst/>
          </a:prstGeom>
          <a:noFill/>
          <a:ln/>
        </p:spPr>
        <p:txBody>
          <a:bodyPr wrap="none" lIns="0" tIns="0" rIns="0" bIns="0" rtlCol="0" anchor="t"/>
          <a:lstStyle/>
          <a:p>
            <a:pPr algn="l" indent="0" marL="0">
              <a:lnSpc>
                <a:spcPts val="945"/>
              </a:lnSpc>
              <a:buNone/>
            </a:pPr>
            <a:r>
              <a:rPr lang="en-US" sz="675" dirty="0">
                <a:solidFill>
                  <a:srgbClr val="888888"/>
                </a:solidFill>
                <a:latin typeface="Carlito" pitchFamily="34" charset="0"/>
                <a:ea typeface="Carlito" pitchFamily="34" charset="-122"/>
                <a:cs typeface="Carlito" pitchFamily="34" charset="-120"/>
              </a:rPr>
              <a:t>PEGASUS spyware hunter</a:t>
            </a:r>
            <a:endParaRPr lang="en-US" sz="675" dirty="0"/>
          </a:p>
        </p:txBody>
      </p:sp>
      <p:sp>
        <p:nvSpPr>
          <p:cNvPr id="43" name="Text 41"/>
          <p:cNvSpPr/>
          <p:nvPr/>
        </p:nvSpPr>
        <p:spPr>
          <a:xfrm>
            <a:off x="432197" y="2692189"/>
            <a:ext cx="2010966" cy="501402"/>
          </a:xfrm>
          <a:prstGeom prst="roundRect">
            <a:avLst>
              <a:gd name="adj" fmla="val 18997"/>
            </a:avLst>
          </a:prstGeom>
          <a:solidFill>
            <a:srgbClr val="111111"/>
          </a:solidFill>
          <a:ln w="7144">
            <a:solidFill>
              <a:srgbClr val="FFFFFF"/>
            </a:solidFill>
            <a:prstDash val="solid"/>
          </a:ln>
        </p:spPr>
        <p:txBody>
          <a:bodyPr wrap="square" rtlCol="0" anchor="ctr"/>
          <a:lstStyle/>
          <a:p>
            <a:pPr indent="0" marL="0">
              <a:buNone/>
            </a:pPr>
            <a:endParaRPr lang="en-US" dirty="0"/>
          </a:p>
        </p:txBody>
      </p:sp>
      <p:sp>
        <p:nvSpPr>
          <p:cNvPr id="44" name="Text 42"/>
          <p:cNvSpPr/>
          <p:nvPr/>
        </p:nvSpPr>
        <p:spPr>
          <a:xfrm>
            <a:off x="550069" y="2795774"/>
            <a:ext cx="228600" cy="228600"/>
          </a:xfrm>
          <a:prstGeom prst="roundRect">
            <a:avLst>
              <a:gd name="adj" fmla="val 25000"/>
            </a:avLst>
          </a:prstGeom>
          <a:solidFill>
            <a:srgbClr val="00FF41">
              <a:alpha val="8000"/>
            </a:srgbClr>
          </a:solidFill>
          <a:ln/>
        </p:spPr>
        <p:txBody>
          <a:bodyPr wrap="square" rtlCol="0" anchor="ctr"/>
          <a:lstStyle/>
          <a:p>
            <a:pPr indent="0" marL="0">
              <a:buNone/>
            </a:pPr>
            <a:endParaRPr lang="en-US" dirty="0"/>
          </a:p>
        </p:txBody>
      </p:sp>
      <p:sp>
        <p:nvSpPr>
          <p:cNvPr id="45" name="Text 43"/>
          <p:cNvSpPr/>
          <p:nvPr/>
        </p:nvSpPr>
        <p:spPr>
          <a:xfrm>
            <a:off x="560784" y="2806489"/>
            <a:ext cx="207169" cy="207169"/>
          </a:xfrm>
          <a:prstGeom prst="rect">
            <a:avLst/>
          </a:prstGeom>
          <a:noFill/>
          <a:ln/>
        </p:spPr>
        <p:txBody>
          <a:bodyPr wrap="none" lIns="0" tIns="0" rIns="0" bIns="0" rtlCol="0" anchor="ctr"/>
          <a:lstStyle/>
          <a:p>
            <a:pPr algn="ctr" indent="0" marL="0">
              <a:buNone/>
            </a:pPr>
            <a:r>
              <a:rPr lang="en-US" sz="1406" dirty="0">
                <a:solidFill>
                  <a:srgbClr val="888888"/>
                </a:solidFill>
                <a:latin typeface="Segoe UI Symbol" pitchFamily="34" charset="0"/>
                <a:ea typeface="Segoe UI Symbol" pitchFamily="34" charset="-122"/>
                <a:cs typeface="Segoe UI Symbol" pitchFamily="34" charset="-120"/>
              </a:rPr>
              <a:t>✦</a:t>
            </a:r>
            <a:endParaRPr lang="en-US" sz="1406" dirty="0"/>
          </a:p>
        </p:txBody>
      </p:sp>
      <p:sp>
        <p:nvSpPr>
          <p:cNvPr id="46" name="Text 44"/>
          <p:cNvSpPr/>
          <p:nvPr/>
        </p:nvSpPr>
        <p:spPr>
          <a:xfrm>
            <a:off x="850106" y="2795774"/>
            <a:ext cx="1475184" cy="146809"/>
          </a:xfrm>
          <a:prstGeom prst="rect">
            <a:avLst/>
          </a:prstGeom>
          <a:noFill/>
          <a:ln/>
        </p:spPr>
        <p:txBody>
          <a:bodyPr wrap="none" lIns="0" tIns="0" rIns="0" bIns="0" rtlCol="0" anchor="t">
            <a:normAutofit/>
          </a:bodyPr>
          <a:lstStyle/>
          <a:p>
            <a:pPr algn="l" indent="0" marL="0">
              <a:lnSpc>
                <a:spcPts val="1260"/>
              </a:lnSpc>
              <a:buNone/>
            </a:pPr>
            <a:r>
              <a:rPr lang="en-US" sz="800" b="1" dirty="0">
                <a:solidFill>
                  <a:srgbClr val="FFFFFF"/>
                </a:solidFill>
                <a:latin typeface="Courier New" pitchFamily="34" charset="0"/>
                <a:ea typeface="Courier New" pitchFamily="34" charset="-122"/>
                <a:cs typeface="Courier New" pitchFamily="34" charset="-120"/>
              </a:rPr>
              <a:t>nhi</a:t>
            </a:r>
            <a:endParaRPr lang="en-US" sz="800" dirty="0"/>
          </a:p>
        </p:txBody>
      </p:sp>
      <p:sp>
        <p:nvSpPr>
          <p:cNvPr id="47" name="Text 45"/>
          <p:cNvSpPr/>
          <p:nvPr/>
        </p:nvSpPr>
        <p:spPr>
          <a:xfrm>
            <a:off x="850106" y="2970014"/>
            <a:ext cx="1029263" cy="119993"/>
          </a:xfrm>
          <a:prstGeom prst="rect">
            <a:avLst/>
          </a:prstGeom>
          <a:noFill/>
          <a:ln/>
        </p:spPr>
        <p:txBody>
          <a:bodyPr wrap="square" lIns="0" tIns="0" rIns="0" bIns="0" rtlCol="0" anchor="t"/>
          <a:lstStyle/>
          <a:p>
            <a:pPr algn="l" indent="0" marL="0">
              <a:lnSpc>
                <a:spcPts val="945"/>
              </a:lnSpc>
              <a:buNone/>
            </a:pPr>
            <a:r>
              <a:rPr lang="en-US" sz="675" dirty="0">
                <a:solidFill>
                  <a:srgbClr val="888888"/>
                </a:solidFill>
                <a:latin typeface="Carlito" pitchFamily="34" charset="0"/>
                <a:ea typeface="Carlito" pitchFamily="34" charset="-122"/>
                <a:cs typeface="Carlito" pitchFamily="34" charset="-120"/>
              </a:rPr>
              <a:t>Network host intelligence</a:t>
            </a:r>
            <a:endParaRPr lang="en-US" sz="675" dirty="0"/>
          </a:p>
        </p:txBody>
      </p:sp>
      <p:sp>
        <p:nvSpPr>
          <p:cNvPr id="48" name="Text 46"/>
          <p:cNvSpPr/>
          <p:nvPr/>
        </p:nvSpPr>
        <p:spPr>
          <a:xfrm>
            <a:off x="2521744" y="2692189"/>
            <a:ext cx="2010966" cy="501402"/>
          </a:xfrm>
          <a:prstGeom prst="roundRect">
            <a:avLst>
              <a:gd name="adj" fmla="val 18997"/>
            </a:avLst>
          </a:prstGeom>
          <a:solidFill>
            <a:srgbClr val="111111"/>
          </a:solidFill>
          <a:ln w="7144">
            <a:solidFill>
              <a:srgbClr val="FFFFFF"/>
            </a:solidFill>
            <a:prstDash val="solid"/>
          </a:ln>
        </p:spPr>
        <p:txBody>
          <a:bodyPr wrap="square" rtlCol="0" anchor="ctr"/>
          <a:lstStyle/>
          <a:p>
            <a:pPr indent="0" marL="0">
              <a:buNone/>
            </a:pPr>
            <a:endParaRPr lang="en-US" dirty="0"/>
          </a:p>
        </p:txBody>
      </p:sp>
      <p:sp>
        <p:nvSpPr>
          <p:cNvPr id="49" name="Text 47"/>
          <p:cNvSpPr/>
          <p:nvPr/>
        </p:nvSpPr>
        <p:spPr>
          <a:xfrm>
            <a:off x="2639616" y="2795774"/>
            <a:ext cx="228600" cy="228600"/>
          </a:xfrm>
          <a:prstGeom prst="roundRect">
            <a:avLst>
              <a:gd name="adj" fmla="val 25000"/>
            </a:avLst>
          </a:prstGeom>
          <a:solidFill>
            <a:srgbClr val="00FF41">
              <a:alpha val="8000"/>
            </a:srgbClr>
          </a:solidFill>
          <a:ln/>
        </p:spPr>
        <p:txBody>
          <a:bodyPr wrap="square" rtlCol="0" anchor="ctr"/>
          <a:lstStyle/>
          <a:p>
            <a:pPr indent="0" marL="0">
              <a:buNone/>
            </a:pPr>
            <a:endParaRPr lang="en-US" dirty="0"/>
          </a:p>
        </p:txBody>
      </p:sp>
      <p:sp>
        <p:nvSpPr>
          <p:cNvPr id="50" name="Text 48"/>
          <p:cNvSpPr/>
          <p:nvPr/>
        </p:nvSpPr>
        <p:spPr>
          <a:xfrm>
            <a:off x="2650331" y="2806489"/>
            <a:ext cx="207169" cy="207169"/>
          </a:xfrm>
          <a:prstGeom prst="rect">
            <a:avLst/>
          </a:prstGeom>
          <a:noFill/>
          <a:ln/>
        </p:spPr>
        <p:txBody>
          <a:bodyPr wrap="none" lIns="0" tIns="0" rIns="0" bIns="0" rtlCol="0" anchor="ctr"/>
          <a:lstStyle/>
          <a:p>
            <a:pPr algn="ctr" indent="0" marL="0">
              <a:buNone/>
            </a:pPr>
            <a:r>
              <a:rPr lang="en-US" sz="1406" dirty="0">
                <a:solidFill>
                  <a:srgbClr val="888888"/>
                </a:solidFill>
                <a:latin typeface="Segoe UI Symbol" pitchFamily="34" charset="0"/>
                <a:ea typeface="Segoe UI Symbol" pitchFamily="34" charset="-122"/>
                <a:cs typeface="Segoe UI Symbol" pitchFamily="34" charset="-120"/>
              </a:rPr>
              <a:t>▢</a:t>
            </a:r>
            <a:endParaRPr lang="en-US" sz="1406" dirty="0"/>
          </a:p>
        </p:txBody>
      </p:sp>
      <p:sp>
        <p:nvSpPr>
          <p:cNvPr id="51" name="Text 49"/>
          <p:cNvSpPr/>
          <p:nvPr/>
        </p:nvSpPr>
        <p:spPr>
          <a:xfrm>
            <a:off x="2939653" y="2795774"/>
            <a:ext cx="1076510" cy="146809"/>
          </a:xfrm>
          <a:prstGeom prst="rect">
            <a:avLst/>
          </a:prstGeom>
          <a:noFill/>
          <a:ln/>
        </p:spPr>
        <p:txBody>
          <a:bodyPr wrap="none" lIns="0" tIns="0" rIns="0" bIns="0" rtlCol="0" anchor="t">
            <a:normAutofit/>
          </a:bodyPr>
          <a:lstStyle/>
          <a:p>
            <a:pPr algn="l" indent="0" marL="0">
              <a:lnSpc>
                <a:spcPts val="1260"/>
              </a:lnSpc>
              <a:buNone/>
            </a:pPr>
            <a:r>
              <a:rPr lang="en-US" sz="800" b="1" dirty="0">
                <a:solidFill>
                  <a:srgbClr val="FFFFFF"/>
                </a:solidFill>
                <a:latin typeface="Courier New" pitchFamily="34" charset="0"/>
                <a:ea typeface="Courier New" pitchFamily="34" charset="-122"/>
                <a:cs typeface="Courier New" pitchFamily="34" charset="-120"/>
              </a:rPr>
              <a:t>host</a:t>
            </a:r>
            <a:endParaRPr lang="en-US" sz="800" dirty="0"/>
          </a:p>
        </p:txBody>
      </p:sp>
      <p:sp>
        <p:nvSpPr>
          <p:cNvPr id="52" name="Text 50"/>
          <p:cNvSpPr/>
          <p:nvPr/>
        </p:nvSpPr>
        <p:spPr>
          <a:xfrm>
            <a:off x="2939653" y="2970014"/>
            <a:ext cx="798525" cy="119993"/>
          </a:xfrm>
          <a:prstGeom prst="rect">
            <a:avLst/>
          </a:prstGeom>
          <a:noFill/>
          <a:ln/>
        </p:spPr>
        <p:txBody>
          <a:bodyPr wrap="none" lIns="0" tIns="0" rIns="0" bIns="0" rtlCol="0" anchor="t"/>
          <a:lstStyle/>
          <a:p>
            <a:pPr algn="l" indent="0" marL="0">
              <a:lnSpc>
                <a:spcPts val="945"/>
              </a:lnSpc>
              <a:buNone/>
            </a:pPr>
            <a:r>
              <a:rPr lang="en-US" sz="675" dirty="0">
                <a:solidFill>
                  <a:srgbClr val="888888"/>
                </a:solidFill>
                <a:latin typeface="Carlito" pitchFamily="34" charset="0"/>
                <a:ea typeface="Carlito" pitchFamily="34" charset="-122"/>
                <a:cs typeface="Carlito" pitchFamily="34" charset="-120"/>
              </a:rPr>
              <a:t>Host system audit</a:t>
            </a:r>
            <a:endParaRPr lang="en-US" sz="675" dirty="0"/>
          </a:p>
        </p:txBody>
      </p:sp>
      <p:sp>
        <p:nvSpPr>
          <p:cNvPr id="53" name="Text 51"/>
          <p:cNvSpPr/>
          <p:nvPr/>
        </p:nvSpPr>
        <p:spPr>
          <a:xfrm>
            <a:off x="4611291" y="2692189"/>
            <a:ext cx="2010966" cy="501402"/>
          </a:xfrm>
          <a:prstGeom prst="roundRect">
            <a:avLst>
              <a:gd name="adj" fmla="val 18997"/>
            </a:avLst>
          </a:prstGeom>
          <a:solidFill>
            <a:srgbClr val="111111"/>
          </a:solidFill>
          <a:ln w="7144">
            <a:solidFill>
              <a:srgbClr val="FFFFFF"/>
            </a:solidFill>
            <a:prstDash val="solid"/>
          </a:ln>
        </p:spPr>
        <p:txBody>
          <a:bodyPr wrap="square" rtlCol="0" anchor="ctr"/>
          <a:lstStyle/>
          <a:p>
            <a:pPr indent="0" marL="0">
              <a:buNone/>
            </a:pPr>
            <a:endParaRPr lang="en-US" dirty="0"/>
          </a:p>
        </p:txBody>
      </p:sp>
      <p:sp>
        <p:nvSpPr>
          <p:cNvPr id="54" name="Text 52"/>
          <p:cNvSpPr/>
          <p:nvPr/>
        </p:nvSpPr>
        <p:spPr>
          <a:xfrm>
            <a:off x="4729163" y="2795774"/>
            <a:ext cx="228600" cy="228600"/>
          </a:xfrm>
          <a:prstGeom prst="roundRect">
            <a:avLst>
              <a:gd name="adj" fmla="val 25000"/>
            </a:avLst>
          </a:prstGeom>
          <a:solidFill>
            <a:srgbClr val="00FF41">
              <a:alpha val="8000"/>
            </a:srgbClr>
          </a:solidFill>
          <a:ln/>
        </p:spPr>
        <p:txBody>
          <a:bodyPr wrap="square" rtlCol="0" anchor="ctr"/>
          <a:lstStyle/>
          <a:p>
            <a:pPr indent="0" marL="0">
              <a:buNone/>
            </a:pPr>
            <a:endParaRPr lang="en-US" dirty="0"/>
          </a:p>
        </p:txBody>
      </p:sp>
      <p:sp>
        <p:nvSpPr>
          <p:cNvPr id="55" name="Text 53"/>
          <p:cNvSpPr/>
          <p:nvPr/>
        </p:nvSpPr>
        <p:spPr>
          <a:xfrm>
            <a:off x="4739878" y="2806489"/>
            <a:ext cx="207169" cy="207169"/>
          </a:xfrm>
          <a:prstGeom prst="rect">
            <a:avLst/>
          </a:prstGeom>
          <a:noFill/>
          <a:ln/>
        </p:spPr>
        <p:txBody>
          <a:bodyPr wrap="none" lIns="0" tIns="0" rIns="0" bIns="0" rtlCol="0" anchor="ctr"/>
          <a:lstStyle/>
          <a:p>
            <a:pPr algn="ctr" indent="0" marL="0">
              <a:buNone/>
            </a:pPr>
            <a:r>
              <a:rPr lang="en-US" sz="1406" dirty="0">
                <a:solidFill>
                  <a:srgbClr val="888888"/>
                </a:solidFill>
                <a:latin typeface="Segoe UI Symbol" pitchFamily="34" charset="0"/>
                <a:ea typeface="Segoe UI Symbol" pitchFamily="34" charset="-122"/>
                <a:cs typeface="Segoe UI Symbol" pitchFamily="34" charset="-120"/>
              </a:rPr>
              <a:t>✦</a:t>
            </a:r>
            <a:endParaRPr lang="en-US" sz="1406" dirty="0"/>
          </a:p>
        </p:txBody>
      </p:sp>
      <p:sp>
        <p:nvSpPr>
          <p:cNvPr id="56" name="Text 54"/>
          <p:cNvSpPr/>
          <p:nvPr/>
        </p:nvSpPr>
        <p:spPr>
          <a:xfrm>
            <a:off x="5029200" y="2795774"/>
            <a:ext cx="1445457" cy="146809"/>
          </a:xfrm>
          <a:prstGeom prst="rect">
            <a:avLst/>
          </a:prstGeom>
          <a:noFill/>
          <a:ln/>
        </p:spPr>
        <p:txBody>
          <a:bodyPr wrap="none" lIns="0" tIns="0" rIns="0" bIns="0" rtlCol="0" anchor="t">
            <a:normAutofit/>
          </a:bodyPr>
          <a:lstStyle/>
          <a:p>
            <a:pPr algn="l" indent="0" marL="0">
              <a:lnSpc>
                <a:spcPts val="1260"/>
              </a:lnSpc>
              <a:buNone/>
            </a:pPr>
            <a:r>
              <a:rPr lang="en-US" sz="800" b="1" dirty="0">
                <a:solidFill>
                  <a:srgbClr val="FFFFFF"/>
                </a:solidFill>
                <a:latin typeface="Courier New" pitchFamily="34" charset="0"/>
                <a:ea typeface="Courier New" pitchFamily="34" charset="-122"/>
                <a:cs typeface="Courier New" pitchFamily="34" charset="-120"/>
              </a:rPr>
              <a:t>dev</a:t>
            </a:r>
            <a:endParaRPr lang="en-US" sz="800" dirty="0"/>
          </a:p>
        </p:txBody>
      </p:sp>
      <p:sp>
        <p:nvSpPr>
          <p:cNvPr id="57" name="Text 55"/>
          <p:cNvSpPr/>
          <p:nvPr/>
        </p:nvSpPr>
        <p:spPr>
          <a:xfrm>
            <a:off x="5029200" y="2970014"/>
            <a:ext cx="1006331" cy="119993"/>
          </a:xfrm>
          <a:prstGeom prst="rect">
            <a:avLst/>
          </a:prstGeom>
          <a:noFill/>
          <a:ln/>
        </p:spPr>
        <p:txBody>
          <a:bodyPr wrap="none" lIns="0" tIns="0" rIns="0" bIns="0" rtlCol="0" anchor="t"/>
          <a:lstStyle/>
          <a:p>
            <a:pPr algn="l" indent="0" marL="0">
              <a:lnSpc>
                <a:spcPts val="945"/>
              </a:lnSpc>
              <a:buNone/>
            </a:pPr>
            <a:r>
              <a:rPr lang="en-US" sz="675" dirty="0">
                <a:solidFill>
                  <a:srgbClr val="888888"/>
                </a:solidFill>
                <a:latin typeface="Carlito" pitchFamily="34" charset="0"/>
                <a:ea typeface="Carlito" pitchFamily="34" charset="-122"/>
                <a:cs typeface="Carlito" pitchFamily="34" charset="-120"/>
              </a:rPr>
              <a:t>Developer security tools</a:t>
            </a:r>
            <a:endParaRPr lang="en-US" sz="675" dirty="0"/>
          </a:p>
        </p:txBody>
      </p:sp>
      <p:sp>
        <p:nvSpPr>
          <p:cNvPr id="58" name="Text 56"/>
          <p:cNvSpPr/>
          <p:nvPr/>
        </p:nvSpPr>
        <p:spPr>
          <a:xfrm>
            <a:off x="6700838" y="2692189"/>
            <a:ext cx="2010966" cy="501402"/>
          </a:xfrm>
          <a:prstGeom prst="roundRect">
            <a:avLst>
              <a:gd name="adj" fmla="val 18997"/>
            </a:avLst>
          </a:prstGeom>
          <a:solidFill>
            <a:srgbClr val="111111"/>
          </a:solidFill>
          <a:ln w="7144">
            <a:solidFill>
              <a:srgbClr val="FFFFFF"/>
            </a:solidFill>
            <a:prstDash val="solid"/>
          </a:ln>
        </p:spPr>
        <p:txBody>
          <a:bodyPr wrap="square" rtlCol="0" anchor="ctr"/>
          <a:lstStyle/>
          <a:p>
            <a:pPr indent="0" marL="0">
              <a:buNone/>
            </a:pPr>
            <a:endParaRPr lang="en-US" dirty="0"/>
          </a:p>
        </p:txBody>
      </p:sp>
      <p:sp>
        <p:nvSpPr>
          <p:cNvPr id="59" name="Text 57"/>
          <p:cNvSpPr/>
          <p:nvPr/>
        </p:nvSpPr>
        <p:spPr>
          <a:xfrm>
            <a:off x="6818709" y="2795774"/>
            <a:ext cx="228600" cy="228600"/>
          </a:xfrm>
          <a:prstGeom prst="roundRect">
            <a:avLst>
              <a:gd name="adj" fmla="val 25000"/>
            </a:avLst>
          </a:prstGeom>
          <a:solidFill>
            <a:srgbClr val="00FF41">
              <a:alpha val="8000"/>
            </a:srgbClr>
          </a:solidFill>
          <a:ln/>
        </p:spPr>
        <p:txBody>
          <a:bodyPr wrap="square" rtlCol="0" anchor="ctr"/>
          <a:lstStyle/>
          <a:p>
            <a:pPr indent="0" marL="0">
              <a:buNone/>
            </a:pPr>
            <a:endParaRPr lang="en-US" dirty="0"/>
          </a:p>
        </p:txBody>
      </p:sp>
      <p:sp>
        <p:nvSpPr>
          <p:cNvPr id="60" name="Text 58"/>
          <p:cNvSpPr/>
          <p:nvPr/>
        </p:nvSpPr>
        <p:spPr>
          <a:xfrm>
            <a:off x="6829425" y="2806489"/>
            <a:ext cx="207169" cy="207169"/>
          </a:xfrm>
          <a:prstGeom prst="rect">
            <a:avLst/>
          </a:prstGeom>
          <a:noFill/>
          <a:ln/>
        </p:spPr>
        <p:txBody>
          <a:bodyPr wrap="none" lIns="0" tIns="0" rIns="0" bIns="0" rtlCol="0" anchor="ctr"/>
          <a:lstStyle/>
          <a:p>
            <a:pPr algn="ctr" indent="0" marL="0">
              <a:buNone/>
            </a:pPr>
            <a:r>
              <a:rPr lang="en-US" sz="1406" dirty="0">
                <a:solidFill>
                  <a:srgbClr val="888888"/>
                </a:solidFill>
                <a:latin typeface="Segoe UI Symbol" pitchFamily="34" charset="0"/>
                <a:ea typeface="Segoe UI Symbol" pitchFamily="34" charset="-122"/>
                <a:cs typeface="Segoe UI Symbol" pitchFamily="34" charset="-120"/>
              </a:rPr>
              <a:t>✚</a:t>
            </a:r>
            <a:endParaRPr lang="en-US" sz="1406" dirty="0"/>
          </a:p>
        </p:txBody>
      </p:sp>
      <p:sp>
        <p:nvSpPr>
          <p:cNvPr id="61" name="Text 59"/>
          <p:cNvSpPr/>
          <p:nvPr/>
        </p:nvSpPr>
        <p:spPr>
          <a:xfrm>
            <a:off x="7118747" y="2795774"/>
            <a:ext cx="945404" cy="146809"/>
          </a:xfrm>
          <a:prstGeom prst="rect">
            <a:avLst/>
          </a:prstGeom>
          <a:noFill/>
          <a:ln/>
        </p:spPr>
        <p:txBody>
          <a:bodyPr wrap="none" lIns="0" tIns="0" rIns="0" bIns="0" rtlCol="0" anchor="t">
            <a:normAutofit/>
          </a:bodyPr>
          <a:lstStyle/>
          <a:p>
            <a:pPr algn="l" indent="0" marL="0">
              <a:lnSpc>
                <a:spcPts val="1260"/>
              </a:lnSpc>
              <a:buNone/>
            </a:pPr>
            <a:r>
              <a:rPr lang="en-US" sz="800" b="1" dirty="0">
                <a:solidFill>
                  <a:srgbClr val="FFFFFF"/>
                </a:solidFill>
                <a:latin typeface="Courier New" pitchFamily="34" charset="0"/>
                <a:ea typeface="Courier New" pitchFamily="34" charset="-122"/>
                <a:cs typeface="Courier New" pitchFamily="34" charset="-120"/>
              </a:rPr>
              <a:t>doctor</a:t>
            </a:r>
            <a:endParaRPr lang="en-US" sz="800" dirty="0"/>
          </a:p>
        </p:txBody>
      </p:sp>
      <p:sp>
        <p:nvSpPr>
          <p:cNvPr id="62" name="Text 60"/>
          <p:cNvSpPr/>
          <p:nvPr/>
        </p:nvSpPr>
        <p:spPr>
          <a:xfrm>
            <a:off x="7118747" y="2970014"/>
            <a:ext cx="865635" cy="119993"/>
          </a:xfrm>
          <a:prstGeom prst="rect">
            <a:avLst/>
          </a:prstGeom>
          <a:noFill/>
          <a:ln/>
        </p:spPr>
        <p:txBody>
          <a:bodyPr wrap="none" lIns="0" tIns="0" rIns="0" bIns="0" rtlCol="0" anchor="t"/>
          <a:lstStyle/>
          <a:p>
            <a:pPr algn="l" indent="0" marL="0">
              <a:lnSpc>
                <a:spcPts val="945"/>
              </a:lnSpc>
              <a:buNone/>
            </a:pPr>
            <a:r>
              <a:rPr lang="en-US" sz="675" dirty="0">
                <a:solidFill>
                  <a:srgbClr val="888888"/>
                </a:solidFill>
                <a:latin typeface="Carlito" pitchFamily="34" charset="0"/>
                <a:ea typeface="Carlito" pitchFamily="34" charset="-122"/>
                <a:cs typeface="Carlito" pitchFamily="34" charset="-120"/>
              </a:rPr>
              <a:t>System diagnostics</a:t>
            </a:r>
            <a:endParaRPr lang="en-US" sz="675" dirty="0"/>
          </a:p>
        </p:txBody>
      </p:sp>
      <p:sp>
        <p:nvSpPr>
          <p:cNvPr id="63" name="Text 61"/>
          <p:cNvSpPr/>
          <p:nvPr/>
        </p:nvSpPr>
        <p:spPr>
          <a:xfrm>
            <a:off x="432197" y="3272172"/>
            <a:ext cx="2010966" cy="501402"/>
          </a:xfrm>
          <a:prstGeom prst="roundRect">
            <a:avLst>
              <a:gd name="adj" fmla="val 18997"/>
            </a:avLst>
          </a:prstGeom>
          <a:solidFill>
            <a:srgbClr val="111111"/>
          </a:solidFill>
          <a:ln w="7144">
            <a:solidFill>
              <a:srgbClr val="FFFFFF"/>
            </a:solidFill>
            <a:prstDash val="solid"/>
          </a:ln>
        </p:spPr>
        <p:txBody>
          <a:bodyPr wrap="square" rtlCol="0" anchor="ctr"/>
          <a:lstStyle/>
          <a:p>
            <a:pPr indent="0" marL="0">
              <a:buNone/>
            </a:pPr>
            <a:endParaRPr lang="en-US" dirty="0"/>
          </a:p>
        </p:txBody>
      </p:sp>
      <p:sp>
        <p:nvSpPr>
          <p:cNvPr id="64" name="Text 62"/>
          <p:cNvSpPr/>
          <p:nvPr/>
        </p:nvSpPr>
        <p:spPr>
          <a:xfrm>
            <a:off x="550069" y="3375757"/>
            <a:ext cx="228600" cy="228600"/>
          </a:xfrm>
          <a:prstGeom prst="roundRect">
            <a:avLst>
              <a:gd name="adj" fmla="val 25000"/>
            </a:avLst>
          </a:prstGeom>
          <a:solidFill>
            <a:srgbClr val="00FF41">
              <a:alpha val="8000"/>
            </a:srgbClr>
          </a:solidFill>
          <a:ln/>
        </p:spPr>
        <p:txBody>
          <a:bodyPr wrap="square" rtlCol="0" anchor="ctr"/>
          <a:lstStyle/>
          <a:p>
            <a:pPr indent="0" marL="0">
              <a:buNone/>
            </a:pPr>
            <a:endParaRPr lang="en-US" dirty="0"/>
          </a:p>
        </p:txBody>
      </p:sp>
      <p:sp>
        <p:nvSpPr>
          <p:cNvPr id="65" name="Text 63"/>
          <p:cNvSpPr/>
          <p:nvPr/>
        </p:nvSpPr>
        <p:spPr>
          <a:xfrm>
            <a:off x="560784" y="3386472"/>
            <a:ext cx="207169" cy="207169"/>
          </a:xfrm>
          <a:prstGeom prst="rect">
            <a:avLst/>
          </a:prstGeom>
          <a:noFill/>
          <a:ln/>
        </p:spPr>
        <p:txBody>
          <a:bodyPr wrap="none" lIns="0" tIns="0" rIns="0" bIns="0" rtlCol="0" anchor="ctr"/>
          <a:lstStyle/>
          <a:p>
            <a:pPr algn="ctr" indent="0" marL="0">
              <a:buNone/>
            </a:pPr>
            <a:r>
              <a:rPr lang="en-US" sz="1406" dirty="0">
                <a:solidFill>
                  <a:srgbClr val="888888"/>
                </a:solidFill>
                <a:latin typeface="Segoe UI Symbol" pitchFamily="34" charset="0"/>
                <a:ea typeface="Segoe UI Symbol" pitchFamily="34" charset="-122"/>
                <a:cs typeface="Segoe UI Symbol" pitchFamily="34" charset="-120"/>
              </a:rPr>
              <a:t>☁</a:t>
            </a:r>
            <a:endParaRPr lang="en-US" sz="1406" dirty="0"/>
          </a:p>
        </p:txBody>
      </p:sp>
      <p:sp>
        <p:nvSpPr>
          <p:cNvPr id="66" name="Text 64"/>
          <p:cNvSpPr/>
          <p:nvPr/>
        </p:nvSpPr>
        <p:spPr>
          <a:xfrm>
            <a:off x="850106" y="3375757"/>
            <a:ext cx="1156056" cy="146809"/>
          </a:xfrm>
          <a:prstGeom prst="rect">
            <a:avLst/>
          </a:prstGeom>
          <a:noFill/>
          <a:ln/>
        </p:spPr>
        <p:txBody>
          <a:bodyPr wrap="none" lIns="0" tIns="0" rIns="0" bIns="0" rtlCol="0" anchor="t">
            <a:normAutofit/>
          </a:bodyPr>
          <a:lstStyle/>
          <a:p>
            <a:pPr algn="l" indent="0" marL="0">
              <a:lnSpc>
                <a:spcPts val="1260"/>
              </a:lnSpc>
              <a:buNone/>
            </a:pPr>
            <a:r>
              <a:rPr lang="en-US" sz="800" b="1" dirty="0">
                <a:solidFill>
                  <a:srgbClr val="FFFFFF"/>
                </a:solidFill>
                <a:latin typeface="Courier New" pitchFamily="34" charset="0"/>
                <a:ea typeface="Courier New" pitchFamily="34" charset="-122"/>
                <a:cs typeface="Courier New" pitchFamily="34" charset="-120"/>
              </a:rPr>
              <a:t>cloud_recon</a:t>
            </a:r>
            <a:endParaRPr lang="en-US" sz="800" dirty="0"/>
          </a:p>
        </p:txBody>
      </p:sp>
      <p:sp>
        <p:nvSpPr>
          <p:cNvPr id="67" name="Text 65"/>
          <p:cNvSpPr/>
          <p:nvPr/>
        </p:nvSpPr>
        <p:spPr>
          <a:xfrm>
            <a:off x="850106" y="3549997"/>
            <a:ext cx="1065307" cy="119993"/>
          </a:xfrm>
          <a:prstGeom prst="rect">
            <a:avLst/>
          </a:prstGeom>
          <a:noFill/>
          <a:ln/>
        </p:spPr>
        <p:txBody>
          <a:bodyPr wrap="square" lIns="0" tIns="0" rIns="0" bIns="0" rtlCol="0" anchor="t"/>
          <a:lstStyle/>
          <a:p>
            <a:pPr algn="l" indent="0" marL="0">
              <a:lnSpc>
                <a:spcPts val="945"/>
              </a:lnSpc>
              <a:buNone/>
            </a:pPr>
            <a:r>
              <a:rPr lang="en-US" sz="675" dirty="0">
                <a:solidFill>
                  <a:srgbClr val="888888"/>
                </a:solidFill>
                <a:latin typeface="Carlito" pitchFamily="34" charset="0"/>
                <a:ea typeface="Carlito" pitchFamily="34" charset="-122"/>
                <a:cs typeface="Carlito" pitchFamily="34" charset="-120"/>
              </a:rPr>
              <a:t>Cloud infrastructure recon</a:t>
            </a:r>
            <a:endParaRPr lang="en-US" sz="675" dirty="0"/>
          </a:p>
        </p:txBody>
      </p:sp>
      <p:sp>
        <p:nvSpPr>
          <p:cNvPr id="68" name="Text 66"/>
          <p:cNvSpPr/>
          <p:nvPr/>
        </p:nvSpPr>
        <p:spPr>
          <a:xfrm>
            <a:off x="2521744" y="3272172"/>
            <a:ext cx="2010966" cy="501402"/>
          </a:xfrm>
          <a:prstGeom prst="roundRect">
            <a:avLst>
              <a:gd name="adj" fmla="val 18997"/>
            </a:avLst>
          </a:prstGeom>
          <a:solidFill>
            <a:srgbClr val="111111"/>
          </a:solidFill>
          <a:ln w="7144">
            <a:solidFill>
              <a:srgbClr val="FFFFFF"/>
            </a:solidFill>
            <a:prstDash val="solid"/>
          </a:ln>
        </p:spPr>
        <p:txBody>
          <a:bodyPr wrap="square" rtlCol="0" anchor="ctr"/>
          <a:lstStyle/>
          <a:p>
            <a:pPr indent="0" marL="0">
              <a:buNone/>
            </a:pPr>
            <a:endParaRPr lang="en-US" dirty="0"/>
          </a:p>
        </p:txBody>
      </p:sp>
      <p:sp>
        <p:nvSpPr>
          <p:cNvPr id="69" name="Text 67"/>
          <p:cNvSpPr/>
          <p:nvPr/>
        </p:nvSpPr>
        <p:spPr>
          <a:xfrm>
            <a:off x="2639616" y="3375757"/>
            <a:ext cx="228600" cy="228600"/>
          </a:xfrm>
          <a:prstGeom prst="roundRect">
            <a:avLst>
              <a:gd name="adj" fmla="val 25000"/>
            </a:avLst>
          </a:prstGeom>
          <a:solidFill>
            <a:srgbClr val="00FF41">
              <a:alpha val="8000"/>
            </a:srgbClr>
          </a:solidFill>
          <a:ln/>
        </p:spPr>
        <p:txBody>
          <a:bodyPr wrap="square" rtlCol="0" anchor="ctr"/>
          <a:lstStyle/>
          <a:p>
            <a:pPr indent="0" marL="0">
              <a:buNone/>
            </a:pPr>
            <a:endParaRPr lang="en-US" dirty="0"/>
          </a:p>
        </p:txBody>
      </p:sp>
      <p:sp>
        <p:nvSpPr>
          <p:cNvPr id="70" name="Text 68"/>
          <p:cNvSpPr/>
          <p:nvPr/>
        </p:nvSpPr>
        <p:spPr>
          <a:xfrm>
            <a:off x="2650331" y="3386472"/>
            <a:ext cx="207169" cy="207169"/>
          </a:xfrm>
          <a:prstGeom prst="rect">
            <a:avLst/>
          </a:prstGeom>
          <a:noFill/>
          <a:ln/>
        </p:spPr>
        <p:txBody>
          <a:bodyPr wrap="none" lIns="0" tIns="0" rIns="0" bIns="0" rtlCol="0" anchor="ctr"/>
          <a:lstStyle/>
          <a:p>
            <a:pPr algn="ctr" indent="0" marL="0">
              <a:buNone/>
            </a:pPr>
            <a:r>
              <a:rPr lang="en-US" sz="1406" dirty="0">
                <a:solidFill>
                  <a:srgbClr val="888888"/>
                </a:solidFill>
                <a:latin typeface="Segoe UI Symbol" pitchFamily="34" charset="0"/>
                <a:ea typeface="Segoe UI Symbol" pitchFamily="34" charset="-122"/>
                <a:cs typeface="Segoe UI Symbol" pitchFamily="34" charset="-120"/>
              </a:rPr>
              <a:t>♟</a:t>
            </a:r>
            <a:endParaRPr lang="en-US" sz="1406" dirty="0"/>
          </a:p>
        </p:txBody>
      </p:sp>
      <p:sp>
        <p:nvSpPr>
          <p:cNvPr id="71" name="Text 69"/>
          <p:cNvSpPr/>
          <p:nvPr/>
        </p:nvSpPr>
        <p:spPr>
          <a:xfrm>
            <a:off x="2939653" y="3375757"/>
            <a:ext cx="1159576" cy="146809"/>
          </a:xfrm>
          <a:prstGeom prst="rect">
            <a:avLst/>
          </a:prstGeom>
          <a:noFill/>
          <a:ln/>
        </p:spPr>
        <p:txBody>
          <a:bodyPr wrap="none" lIns="0" tIns="0" rIns="0" bIns="0" rtlCol="0" anchor="t">
            <a:normAutofit/>
          </a:bodyPr>
          <a:lstStyle/>
          <a:p>
            <a:pPr algn="l" indent="0" marL="0">
              <a:lnSpc>
                <a:spcPts val="1260"/>
              </a:lnSpc>
              <a:buNone/>
            </a:pPr>
            <a:r>
              <a:rPr lang="en-US" sz="800" b="1" dirty="0">
                <a:solidFill>
                  <a:srgbClr val="FFFFFF"/>
                </a:solidFill>
                <a:latin typeface="Courier New" pitchFamily="34" charset="0"/>
                <a:ea typeface="Courier New" pitchFamily="34" charset="-122"/>
                <a:cs typeface="Courier New" pitchFamily="34" charset="-120"/>
              </a:rPr>
              <a:t>team</a:t>
            </a:r>
            <a:endParaRPr lang="en-US" sz="800" dirty="0"/>
          </a:p>
        </p:txBody>
      </p:sp>
      <p:sp>
        <p:nvSpPr>
          <p:cNvPr id="72" name="Text 70"/>
          <p:cNvSpPr/>
          <p:nvPr/>
        </p:nvSpPr>
        <p:spPr>
          <a:xfrm>
            <a:off x="2939653" y="3549997"/>
            <a:ext cx="860141" cy="119993"/>
          </a:xfrm>
          <a:prstGeom prst="rect">
            <a:avLst/>
          </a:prstGeom>
          <a:noFill/>
          <a:ln/>
        </p:spPr>
        <p:txBody>
          <a:bodyPr wrap="none" lIns="0" tIns="0" rIns="0" bIns="0" rtlCol="0" anchor="t"/>
          <a:lstStyle/>
          <a:p>
            <a:pPr algn="l" indent="0" marL="0">
              <a:lnSpc>
                <a:spcPts val="945"/>
              </a:lnSpc>
              <a:buNone/>
            </a:pPr>
            <a:r>
              <a:rPr lang="en-US" sz="675" dirty="0">
                <a:solidFill>
                  <a:srgbClr val="888888"/>
                </a:solidFill>
                <a:latin typeface="Carlito" pitchFamily="34" charset="0"/>
                <a:ea typeface="Carlito" pitchFamily="34" charset="-122"/>
                <a:cs typeface="Carlito" pitchFamily="34" charset="-120"/>
              </a:rPr>
              <a:t>Team management</a:t>
            </a:r>
            <a:endParaRPr lang="en-US" sz="675"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485775" y="342900"/>
            <a:ext cx="8636000" cy="370332"/>
          </a:xfrm>
          <a:prstGeom prst="rect">
            <a:avLst/>
          </a:prstGeom>
          <a:noFill/>
          <a:ln/>
        </p:spPr>
        <p:txBody>
          <a:bodyPr wrap="square" lIns="0" tIns="0" rIns="0" bIns="0" rtlCol="0" anchor="t"/>
          <a:lstStyle/>
          <a:p>
            <a:pPr algn="l" indent="0" marL="0">
              <a:lnSpc>
                <a:spcPts val="2700"/>
              </a:lnSpc>
              <a:buNone/>
            </a:pPr>
            <a:r>
              <a:rPr lang="en-US" sz="1688" dirty="0">
                <a:solidFill>
                  <a:srgbClr val="FFFFFF"/>
                </a:solidFill>
                <a:latin typeface="Courier New" pitchFamily="34" charset="0"/>
                <a:ea typeface="Courier New" pitchFamily="34" charset="-122"/>
                <a:cs typeface="Courier New" pitchFamily="34" charset="-120"/>
              </a:rPr>
              <a:t>6 ENTERPRISE INTEGRATIONS. ZERO CONFIG HEADACHES.</a:t>
            </a:r>
            <a:endParaRPr lang="en-US" sz="1688" dirty="0"/>
          </a:p>
        </p:txBody>
      </p:sp>
      <p:sp>
        <p:nvSpPr>
          <p:cNvPr id="3" name="Text 1"/>
          <p:cNvSpPr/>
          <p:nvPr/>
        </p:nvSpPr>
        <p:spPr>
          <a:xfrm>
            <a:off x="485775" y="857250"/>
            <a:ext cx="2657475" cy="1797323"/>
          </a:xfrm>
          <a:prstGeom prst="rect">
            <a:avLst/>
          </a:prstGeom>
          <a:solidFill>
            <a:srgbClr val="111111"/>
          </a:solidFill>
          <a:ln/>
        </p:spPr>
        <p:txBody>
          <a:bodyPr wrap="square" rtlCol="0" anchor="ctr"/>
          <a:lstStyle/>
          <a:p>
            <a:pPr indent="0" marL="0">
              <a:buNone/>
            </a:pPr>
            <a:endParaRPr lang="en-US" dirty="0"/>
          </a:p>
        </p:txBody>
      </p:sp>
      <p:sp>
        <p:nvSpPr>
          <p:cNvPr id="4" name="Shape 2"/>
          <p:cNvSpPr/>
          <p:nvPr/>
        </p:nvSpPr>
        <p:spPr>
          <a:xfrm>
            <a:off x="496491" y="857250"/>
            <a:ext cx="0" cy="1797323"/>
          </a:xfrm>
          <a:prstGeom prst="line">
            <a:avLst/>
          </a:prstGeom>
          <a:noFill/>
          <a:ln w="21431">
            <a:solidFill>
              <a:srgbClr val="00FF41"/>
            </a:solidFill>
            <a:prstDash val="solid"/>
          </a:ln>
        </p:spPr>
      </p:sp>
      <p:sp>
        <p:nvSpPr>
          <p:cNvPr id="5" name="Text 3"/>
          <p:cNvSpPr/>
          <p:nvPr/>
        </p:nvSpPr>
        <p:spPr>
          <a:xfrm>
            <a:off x="864394" y="1465138"/>
            <a:ext cx="495598" cy="162020"/>
          </a:xfrm>
          <a:prstGeom prst="rect">
            <a:avLst/>
          </a:prstGeom>
          <a:noFill/>
          <a:ln/>
        </p:spPr>
        <p:txBody>
          <a:bodyPr wrap="none" lIns="0" tIns="0" rIns="0" bIns="0" rtlCol="0" anchor="t"/>
          <a:lstStyle/>
          <a:p>
            <a:pPr algn="l" indent="0" marL="0">
              <a:lnSpc>
                <a:spcPts val="1620"/>
              </a:lnSpc>
              <a:buNone/>
            </a:pPr>
            <a:r>
              <a:rPr lang="en-US" sz="1013" b="1" dirty="0">
                <a:solidFill>
                  <a:srgbClr val="00FF41"/>
                </a:solidFill>
                <a:latin typeface="Courier New" pitchFamily="34" charset="0"/>
                <a:ea typeface="Courier New" pitchFamily="34" charset="-122"/>
                <a:cs typeface="Courier New" pitchFamily="34" charset="-120"/>
              </a:rPr>
              <a:t>Jira</a:t>
            </a:r>
            <a:endParaRPr lang="en-US" sz="1013" dirty="0"/>
          </a:p>
        </p:txBody>
      </p:sp>
      <p:sp>
        <p:nvSpPr>
          <p:cNvPr id="6" name="Text 4"/>
          <p:cNvSpPr/>
          <p:nvPr/>
        </p:nvSpPr>
        <p:spPr>
          <a:xfrm>
            <a:off x="664369" y="1475073"/>
            <a:ext cx="142875" cy="142875"/>
          </a:xfrm>
          <a:prstGeom prst="rect">
            <a:avLst/>
          </a:prstGeom>
          <a:noFill/>
          <a:ln/>
        </p:spPr>
        <p:txBody>
          <a:bodyPr wrap="none" lIns="0" tIns="0" rIns="0" bIns="0" rtlCol="0" anchor="ctr"/>
          <a:lstStyle/>
          <a:p>
            <a:pPr algn="ctr" indent="0" marL="0">
              <a:buNone/>
            </a:pPr>
            <a:r>
              <a:rPr lang="en-US" sz="1406" dirty="0">
                <a:solidFill>
                  <a:srgbClr val="00FF41"/>
                </a:solidFill>
                <a:latin typeface="Segoe UI Symbol" pitchFamily="34" charset="0"/>
                <a:ea typeface="Segoe UI Symbol" pitchFamily="34" charset="-122"/>
                <a:cs typeface="Segoe UI Symbol" pitchFamily="34" charset="-120"/>
              </a:rPr>
              <a:t>▤</a:t>
            </a:r>
            <a:endParaRPr lang="en-US" sz="1406" dirty="0"/>
          </a:p>
        </p:txBody>
      </p:sp>
      <p:sp>
        <p:nvSpPr>
          <p:cNvPr id="7" name="Text 5"/>
          <p:cNvSpPr/>
          <p:nvPr/>
        </p:nvSpPr>
        <p:spPr>
          <a:xfrm>
            <a:off x="664369" y="1692287"/>
            <a:ext cx="2431447" cy="162020"/>
          </a:xfrm>
          <a:prstGeom prst="rect">
            <a:avLst/>
          </a:prstGeom>
          <a:noFill/>
          <a:ln/>
        </p:spPr>
        <p:txBody>
          <a:bodyPr wrap="square" lIns="0" tIns="0" rIns="0" bIns="0" rtlCol="0" anchor="t"/>
          <a:lstStyle/>
          <a:p>
            <a:pPr algn="l" indent="0" marL="0">
              <a:lnSpc>
                <a:spcPts val="1181"/>
              </a:lnSpc>
              <a:buNone/>
            </a:pPr>
            <a:r>
              <a:rPr lang="en-US" sz="844" dirty="0">
                <a:solidFill>
                  <a:srgbClr val="E0E0E0"/>
                </a:solidFill>
                <a:latin typeface="Carlito" pitchFamily="34" charset="0"/>
                <a:ea typeface="Carlito" pitchFamily="34" charset="-122"/>
                <a:cs typeface="Carlito" pitchFamily="34" charset="-120"/>
              </a:rPr>
              <a:t>Auto-create tickets from findings</a:t>
            </a:r>
            <a:endParaRPr lang="en-US" sz="844" dirty="0"/>
          </a:p>
        </p:txBody>
      </p:sp>
      <p:sp>
        <p:nvSpPr>
          <p:cNvPr id="8" name="Text 6"/>
          <p:cNvSpPr/>
          <p:nvPr/>
        </p:nvSpPr>
        <p:spPr>
          <a:xfrm>
            <a:off x="643513" y="1904488"/>
            <a:ext cx="563093" cy="172772"/>
          </a:xfrm>
          <a:prstGeom prst="roundRect">
            <a:avLst>
              <a:gd name="adj" fmla="val 22052"/>
            </a:avLst>
          </a:prstGeom>
          <a:solidFill>
            <a:srgbClr val="00FF41">
              <a:alpha val="6000"/>
            </a:srgbClr>
          </a:solidFill>
          <a:ln/>
        </p:spPr>
        <p:txBody>
          <a:bodyPr wrap="square" rtlCol="0" anchor="ctr"/>
          <a:lstStyle/>
          <a:p>
            <a:pPr indent="0" marL="0">
              <a:buNone/>
            </a:pPr>
            <a:endParaRPr lang="en-US" dirty="0"/>
          </a:p>
        </p:txBody>
      </p:sp>
      <p:sp>
        <p:nvSpPr>
          <p:cNvPr id="9" name="Text 7"/>
          <p:cNvSpPr/>
          <p:nvPr/>
        </p:nvSpPr>
        <p:spPr>
          <a:xfrm>
            <a:off x="630339" y="1913744"/>
            <a:ext cx="589443" cy="154260"/>
          </a:xfrm>
          <a:prstGeom prst="rect">
            <a:avLst/>
          </a:prstGeom>
          <a:noFill/>
          <a:ln/>
        </p:spPr>
        <p:txBody>
          <a:bodyPr wrap="none" lIns="0" tIns="0" rIns="0" bIns="0" rtlCol="0" anchor="ctr"/>
          <a:lstStyle/>
          <a:p>
            <a:pPr algn="ctr" indent="0" marL="0">
              <a:lnSpc>
                <a:spcPts val="990"/>
              </a:lnSpc>
              <a:buNone/>
            </a:pPr>
            <a:r>
              <a:rPr lang="en-US" sz="800" spc="28" kern="0" dirty="0">
                <a:solidFill>
                  <a:srgbClr val="888888"/>
                </a:solidFill>
                <a:latin typeface="Courier New" pitchFamily="34" charset="0"/>
                <a:ea typeface="Courier New" pitchFamily="34" charset="-122"/>
                <a:cs typeface="Courier New" pitchFamily="34" charset="-120"/>
              </a:rPr>
              <a:t>REST API</a:t>
            </a:r>
            <a:endParaRPr lang="en-US" sz="800" dirty="0"/>
          </a:p>
        </p:txBody>
      </p:sp>
      <p:sp>
        <p:nvSpPr>
          <p:cNvPr id="10" name="Text 8"/>
          <p:cNvSpPr/>
          <p:nvPr/>
        </p:nvSpPr>
        <p:spPr>
          <a:xfrm>
            <a:off x="3243263" y="857250"/>
            <a:ext cx="2657475" cy="1797323"/>
          </a:xfrm>
          <a:prstGeom prst="rect">
            <a:avLst/>
          </a:prstGeom>
          <a:solidFill>
            <a:srgbClr val="111111"/>
          </a:solidFill>
          <a:ln/>
        </p:spPr>
        <p:txBody>
          <a:bodyPr wrap="square" rtlCol="0" anchor="ctr"/>
          <a:lstStyle/>
          <a:p>
            <a:pPr indent="0" marL="0">
              <a:buNone/>
            </a:pPr>
            <a:endParaRPr lang="en-US" dirty="0"/>
          </a:p>
        </p:txBody>
      </p:sp>
      <p:sp>
        <p:nvSpPr>
          <p:cNvPr id="11" name="Shape 9"/>
          <p:cNvSpPr/>
          <p:nvPr/>
        </p:nvSpPr>
        <p:spPr>
          <a:xfrm>
            <a:off x="3253978" y="857250"/>
            <a:ext cx="0" cy="1797323"/>
          </a:xfrm>
          <a:prstGeom prst="line">
            <a:avLst/>
          </a:prstGeom>
          <a:noFill/>
          <a:ln w="21431">
            <a:solidFill>
              <a:srgbClr val="00FF41"/>
            </a:solidFill>
            <a:prstDash val="solid"/>
          </a:ln>
        </p:spPr>
      </p:sp>
      <p:sp>
        <p:nvSpPr>
          <p:cNvPr id="12" name="Text 10"/>
          <p:cNvSpPr/>
          <p:nvPr/>
        </p:nvSpPr>
        <p:spPr>
          <a:xfrm>
            <a:off x="3621881" y="1465138"/>
            <a:ext cx="619363" cy="162020"/>
          </a:xfrm>
          <a:prstGeom prst="rect">
            <a:avLst/>
          </a:prstGeom>
          <a:noFill/>
          <a:ln/>
        </p:spPr>
        <p:txBody>
          <a:bodyPr wrap="none" lIns="0" tIns="0" rIns="0" bIns="0" rtlCol="0" anchor="t"/>
          <a:lstStyle/>
          <a:p>
            <a:pPr algn="l" indent="0" marL="0">
              <a:lnSpc>
                <a:spcPts val="1620"/>
              </a:lnSpc>
              <a:buNone/>
            </a:pPr>
            <a:r>
              <a:rPr lang="en-US" sz="1013" b="1" dirty="0">
                <a:solidFill>
                  <a:srgbClr val="00FF41"/>
                </a:solidFill>
                <a:latin typeface="Courier New" pitchFamily="34" charset="0"/>
                <a:ea typeface="Courier New" pitchFamily="34" charset="-122"/>
                <a:cs typeface="Courier New" pitchFamily="34" charset="-120"/>
              </a:rPr>
              <a:t>Slack</a:t>
            </a:r>
            <a:endParaRPr lang="en-US" sz="1013" dirty="0"/>
          </a:p>
        </p:txBody>
      </p:sp>
      <p:sp>
        <p:nvSpPr>
          <p:cNvPr id="13" name="Text 11"/>
          <p:cNvSpPr/>
          <p:nvPr/>
        </p:nvSpPr>
        <p:spPr>
          <a:xfrm>
            <a:off x="3421856" y="1475073"/>
            <a:ext cx="142875" cy="142875"/>
          </a:xfrm>
          <a:prstGeom prst="rect">
            <a:avLst/>
          </a:prstGeom>
          <a:noFill/>
          <a:ln/>
        </p:spPr>
        <p:txBody>
          <a:bodyPr wrap="none" lIns="0" tIns="0" rIns="0" bIns="0" rtlCol="0" anchor="ctr"/>
          <a:lstStyle/>
          <a:p>
            <a:pPr algn="ctr" indent="0" marL="0">
              <a:buNone/>
            </a:pPr>
            <a:r>
              <a:rPr lang="en-US" sz="1406" dirty="0">
                <a:solidFill>
                  <a:srgbClr val="00FF41"/>
                </a:solidFill>
                <a:latin typeface="Segoe UI Symbol" pitchFamily="34" charset="0"/>
                <a:ea typeface="Segoe UI Symbol" pitchFamily="34" charset="-122"/>
                <a:cs typeface="Segoe UI Symbol" pitchFamily="34" charset="-120"/>
              </a:rPr>
              <a:t>◌</a:t>
            </a:r>
            <a:endParaRPr lang="en-US" sz="1406" dirty="0"/>
          </a:p>
        </p:txBody>
      </p:sp>
      <p:sp>
        <p:nvSpPr>
          <p:cNvPr id="14" name="Text 12"/>
          <p:cNvSpPr/>
          <p:nvPr/>
        </p:nvSpPr>
        <p:spPr>
          <a:xfrm>
            <a:off x="3421856" y="1692287"/>
            <a:ext cx="2431447" cy="162020"/>
          </a:xfrm>
          <a:prstGeom prst="rect">
            <a:avLst/>
          </a:prstGeom>
          <a:noFill/>
          <a:ln/>
        </p:spPr>
        <p:txBody>
          <a:bodyPr wrap="square" lIns="0" tIns="0" rIns="0" bIns="0" rtlCol="0" anchor="t"/>
          <a:lstStyle/>
          <a:p>
            <a:pPr algn="l" indent="0" marL="0">
              <a:lnSpc>
                <a:spcPts val="1181"/>
              </a:lnSpc>
              <a:buNone/>
            </a:pPr>
            <a:r>
              <a:rPr lang="en-US" sz="844" dirty="0">
                <a:solidFill>
                  <a:srgbClr val="E0E0E0"/>
                </a:solidFill>
                <a:latin typeface="Carlito" pitchFamily="34" charset="0"/>
                <a:ea typeface="Carlito" pitchFamily="34" charset="-122"/>
                <a:cs typeface="Carlito" pitchFamily="34" charset="-120"/>
              </a:rPr>
              <a:t>Real-time alerts to channels</a:t>
            </a:r>
            <a:endParaRPr lang="en-US" sz="844" dirty="0"/>
          </a:p>
        </p:txBody>
      </p:sp>
      <p:sp>
        <p:nvSpPr>
          <p:cNvPr id="15" name="Text 13"/>
          <p:cNvSpPr/>
          <p:nvPr/>
        </p:nvSpPr>
        <p:spPr>
          <a:xfrm>
            <a:off x="3403037" y="1904488"/>
            <a:ext cx="508122" cy="172772"/>
          </a:xfrm>
          <a:prstGeom prst="roundRect">
            <a:avLst>
              <a:gd name="adj" fmla="val 22052"/>
            </a:avLst>
          </a:prstGeom>
          <a:solidFill>
            <a:srgbClr val="00FF41">
              <a:alpha val="6000"/>
            </a:srgbClr>
          </a:solidFill>
          <a:ln/>
        </p:spPr>
        <p:txBody>
          <a:bodyPr wrap="square" rtlCol="0" anchor="ctr"/>
          <a:lstStyle/>
          <a:p>
            <a:pPr indent="0" marL="0">
              <a:buNone/>
            </a:pPr>
            <a:endParaRPr lang="en-US" dirty="0"/>
          </a:p>
        </p:txBody>
      </p:sp>
      <p:sp>
        <p:nvSpPr>
          <p:cNvPr id="16" name="Text 14"/>
          <p:cNvSpPr/>
          <p:nvPr/>
        </p:nvSpPr>
        <p:spPr>
          <a:xfrm>
            <a:off x="3415127" y="1913744"/>
            <a:ext cx="483941" cy="154260"/>
          </a:xfrm>
          <a:prstGeom prst="rect">
            <a:avLst/>
          </a:prstGeom>
          <a:noFill/>
          <a:ln/>
        </p:spPr>
        <p:txBody>
          <a:bodyPr wrap="none" lIns="0" tIns="0" rIns="0" bIns="0" rtlCol="0" anchor="ctr"/>
          <a:lstStyle/>
          <a:p>
            <a:pPr algn="ctr" indent="0" marL="0">
              <a:lnSpc>
                <a:spcPts val="990"/>
              </a:lnSpc>
              <a:buNone/>
            </a:pPr>
            <a:r>
              <a:rPr lang="en-US" sz="800" spc="28" kern="0" dirty="0">
                <a:solidFill>
                  <a:srgbClr val="888888"/>
                </a:solidFill>
                <a:latin typeface="Courier New" pitchFamily="34" charset="0"/>
                <a:ea typeface="Courier New" pitchFamily="34" charset="-122"/>
                <a:cs typeface="Courier New" pitchFamily="34" charset="-120"/>
              </a:rPr>
              <a:t>Webhook</a:t>
            </a:r>
            <a:endParaRPr lang="en-US" sz="800" dirty="0"/>
          </a:p>
        </p:txBody>
      </p:sp>
      <p:sp>
        <p:nvSpPr>
          <p:cNvPr id="17" name="Text 15"/>
          <p:cNvSpPr/>
          <p:nvPr/>
        </p:nvSpPr>
        <p:spPr>
          <a:xfrm>
            <a:off x="6000750" y="857250"/>
            <a:ext cx="2657475" cy="1797323"/>
          </a:xfrm>
          <a:prstGeom prst="rect">
            <a:avLst/>
          </a:prstGeom>
          <a:solidFill>
            <a:srgbClr val="111111"/>
          </a:solidFill>
          <a:ln/>
        </p:spPr>
        <p:txBody>
          <a:bodyPr wrap="square" rtlCol="0" anchor="ctr"/>
          <a:lstStyle/>
          <a:p>
            <a:pPr indent="0" marL="0">
              <a:buNone/>
            </a:pPr>
            <a:endParaRPr lang="en-US" dirty="0"/>
          </a:p>
        </p:txBody>
      </p:sp>
      <p:sp>
        <p:nvSpPr>
          <p:cNvPr id="18" name="Shape 16"/>
          <p:cNvSpPr/>
          <p:nvPr/>
        </p:nvSpPr>
        <p:spPr>
          <a:xfrm>
            <a:off x="6011466" y="857250"/>
            <a:ext cx="0" cy="1797323"/>
          </a:xfrm>
          <a:prstGeom prst="line">
            <a:avLst/>
          </a:prstGeom>
          <a:noFill/>
          <a:ln w="21431">
            <a:solidFill>
              <a:srgbClr val="00FF41"/>
            </a:solidFill>
            <a:prstDash val="solid"/>
          </a:ln>
        </p:spPr>
      </p:sp>
      <p:sp>
        <p:nvSpPr>
          <p:cNvPr id="19" name="Text 17"/>
          <p:cNvSpPr/>
          <p:nvPr/>
        </p:nvSpPr>
        <p:spPr>
          <a:xfrm>
            <a:off x="6379369" y="1465138"/>
            <a:ext cx="664331" cy="162020"/>
          </a:xfrm>
          <a:prstGeom prst="rect">
            <a:avLst/>
          </a:prstGeom>
          <a:noFill/>
          <a:ln/>
        </p:spPr>
        <p:txBody>
          <a:bodyPr wrap="none" lIns="0" tIns="0" rIns="0" bIns="0" rtlCol="0" anchor="t"/>
          <a:lstStyle/>
          <a:p>
            <a:pPr algn="l" indent="0" marL="0">
              <a:lnSpc>
                <a:spcPts val="1620"/>
              </a:lnSpc>
              <a:buNone/>
            </a:pPr>
            <a:r>
              <a:rPr lang="en-US" sz="1013" b="1" dirty="0">
                <a:solidFill>
                  <a:srgbClr val="00FF41"/>
                </a:solidFill>
                <a:latin typeface="Courier New" pitchFamily="34" charset="0"/>
                <a:ea typeface="Courier New" pitchFamily="34" charset="-122"/>
                <a:cs typeface="Courier New" pitchFamily="34" charset="-120"/>
              </a:rPr>
              <a:t>GitHub</a:t>
            </a:r>
            <a:endParaRPr lang="en-US" sz="1013" dirty="0"/>
          </a:p>
        </p:txBody>
      </p:sp>
      <p:sp>
        <p:nvSpPr>
          <p:cNvPr id="20" name="Text 18"/>
          <p:cNvSpPr/>
          <p:nvPr/>
        </p:nvSpPr>
        <p:spPr>
          <a:xfrm>
            <a:off x="6179344" y="1475073"/>
            <a:ext cx="142875" cy="142875"/>
          </a:xfrm>
          <a:prstGeom prst="rect">
            <a:avLst/>
          </a:prstGeom>
          <a:noFill/>
          <a:ln/>
        </p:spPr>
        <p:txBody>
          <a:bodyPr wrap="none" lIns="0" tIns="0" rIns="0" bIns="0" rtlCol="0" anchor="ctr"/>
          <a:lstStyle/>
          <a:p>
            <a:pPr algn="ctr" indent="0" marL="0">
              <a:buNone/>
            </a:pPr>
            <a:r>
              <a:rPr lang="en-US" sz="1406" dirty="0">
                <a:solidFill>
                  <a:srgbClr val="00FF41"/>
                </a:solidFill>
                <a:latin typeface="Segoe UI Symbol" pitchFamily="34" charset="0"/>
                <a:ea typeface="Segoe UI Symbol" pitchFamily="34" charset="-122"/>
                <a:cs typeface="Segoe UI Symbol" pitchFamily="34" charset="-120"/>
              </a:rPr>
              <a:t>✦</a:t>
            </a:r>
            <a:endParaRPr lang="en-US" sz="1406" dirty="0"/>
          </a:p>
        </p:txBody>
      </p:sp>
      <p:sp>
        <p:nvSpPr>
          <p:cNvPr id="21" name="Text 19"/>
          <p:cNvSpPr/>
          <p:nvPr/>
        </p:nvSpPr>
        <p:spPr>
          <a:xfrm>
            <a:off x="6179344" y="1692287"/>
            <a:ext cx="2431447" cy="162020"/>
          </a:xfrm>
          <a:prstGeom prst="rect">
            <a:avLst/>
          </a:prstGeom>
          <a:noFill/>
          <a:ln/>
        </p:spPr>
        <p:txBody>
          <a:bodyPr wrap="square" lIns="0" tIns="0" rIns="0" bIns="0" rtlCol="0" anchor="t"/>
          <a:lstStyle/>
          <a:p>
            <a:pPr algn="l" indent="0" marL="0">
              <a:lnSpc>
                <a:spcPts val="1181"/>
              </a:lnSpc>
              <a:buNone/>
            </a:pPr>
            <a:r>
              <a:rPr lang="en-US" sz="844" dirty="0">
                <a:solidFill>
                  <a:srgbClr val="E0E0E0"/>
                </a:solidFill>
                <a:latin typeface="Carlito" pitchFamily="34" charset="0"/>
                <a:ea typeface="Carlito" pitchFamily="34" charset="-122"/>
                <a:cs typeface="Carlito" pitchFamily="34" charset="-120"/>
              </a:rPr>
              <a:t>Push security reports to repos</a:t>
            </a:r>
            <a:endParaRPr lang="en-US" sz="844" dirty="0"/>
          </a:p>
        </p:txBody>
      </p:sp>
      <p:sp>
        <p:nvSpPr>
          <p:cNvPr id="22" name="Text 20"/>
          <p:cNvSpPr/>
          <p:nvPr/>
        </p:nvSpPr>
        <p:spPr>
          <a:xfrm>
            <a:off x="6158488" y="1904488"/>
            <a:ext cx="563093" cy="172772"/>
          </a:xfrm>
          <a:prstGeom prst="roundRect">
            <a:avLst>
              <a:gd name="adj" fmla="val 22052"/>
            </a:avLst>
          </a:prstGeom>
          <a:solidFill>
            <a:srgbClr val="00FF41">
              <a:alpha val="6000"/>
            </a:srgbClr>
          </a:solidFill>
          <a:ln/>
        </p:spPr>
        <p:txBody>
          <a:bodyPr wrap="square" rtlCol="0" anchor="ctr"/>
          <a:lstStyle/>
          <a:p>
            <a:pPr indent="0" marL="0">
              <a:buNone/>
            </a:pPr>
            <a:endParaRPr lang="en-US" dirty="0"/>
          </a:p>
        </p:txBody>
      </p:sp>
      <p:sp>
        <p:nvSpPr>
          <p:cNvPr id="23" name="Text 21"/>
          <p:cNvSpPr/>
          <p:nvPr/>
        </p:nvSpPr>
        <p:spPr>
          <a:xfrm>
            <a:off x="6145314" y="1913744"/>
            <a:ext cx="589443" cy="154260"/>
          </a:xfrm>
          <a:prstGeom prst="rect">
            <a:avLst/>
          </a:prstGeom>
          <a:noFill/>
          <a:ln/>
        </p:spPr>
        <p:txBody>
          <a:bodyPr wrap="none" lIns="0" tIns="0" rIns="0" bIns="0" rtlCol="0" anchor="ctr"/>
          <a:lstStyle/>
          <a:p>
            <a:pPr algn="ctr" indent="0" marL="0">
              <a:lnSpc>
                <a:spcPts val="990"/>
              </a:lnSpc>
              <a:buNone/>
            </a:pPr>
            <a:r>
              <a:rPr lang="en-US" sz="800" spc="28" kern="0" dirty="0">
                <a:solidFill>
                  <a:srgbClr val="888888"/>
                </a:solidFill>
                <a:latin typeface="Courier New" pitchFamily="34" charset="0"/>
                <a:ea typeface="Courier New" pitchFamily="34" charset="-122"/>
                <a:cs typeface="Courier New" pitchFamily="34" charset="-120"/>
              </a:rPr>
              <a:t>REST API</a:t>
            </a:r>
            <a:endParaRPr lang="en-US" sz="800" dirty="0"/>
          </a:p>
        </p:txBody>
      </p:sp>
      <p:sp>
        <p:nvSpPr>
          <p:cNvPr id="24" name="Text 22"/>
          <p:cNvSpPr/>
          <p:nvPr/>
        </p:nvSpPr>
        <p:spPr>
          <a:xfrm>
            <a:off x="485775" y="2754585"/>
            <a:ext cx="2657475" cy="1797434"/>
          </a:xfrm>
          <a:prstGeom prst="rect">
            <a:avLst/>
          </a:prstGeom>
          <a:solidFill>
            <a:srgbClr val="111111"/>
          </a:solidFill>
          <a:ln/>
        </p:spPr>
        <p:txBody>
          <a:bodyPr wrap="square" rtlCol="0" anchor="ctr"/>
          <a:lstStyle/>
          <a:p>
            <a:pPr indent="0" marL="0">
              <a:buNone/>
            </a:pPr>
            <a:endParaRPr lang="en-US" dirty="0"/>
          </a:p>
        </p:txBody>
      </p:sp>
      <p:sp>
        <p:nvSpPr>
          <p:cNvPr id="25" name="Shape 23"/>
          <p:cNvSpPr/>
          <p:nvPr/>
        </p:nvSpPr>
        <p:spPr>
          <a:xfrm>
            <a:off x="496491" y="2754585"/>
            <a:ext cx="0" cy="1797434"/>
          </a:xfrm>
          <a:prstGeom prst="line">
            <a:avLst/>
          </a:prstGeom>
          <a:noFill/>
          <a:ln w="21431">
            <a:solidFill>
              <a:srgbClr val="00FF41"/>
            </a:solidFill>
            <a:prstDash val="solid"/>
          </a:ln>
        </p:spPr>
      </p:sp>
      <p:sp>
        <p:nvSpPr>
          <p:cNvPr id="26" name="Text 24"/>
          <p:cNvSpPr/>
          <p:nvPr/>
        </p:nvSpPr>
        <p:spPr>
          <a:xfrm>
            <a:off x="864394" y="3362585"/>
            <a:ext cx="664331" cy="162020"/>
          </a:xfrm>
          <a:prstGeom prst="rect">
            <a:avLst/>
          </a:prstGeom>
          <a:noFill/>
          <a:ln/>
        </p:spPr>
        <p:txBody>
          <a:bodyPr wrap="none" lIns="0" tIns="0" rIns="0" bIns="0" rtlCol="0" anchor="t"/>
          <a:lstStyle/>
          <a:p>
            <a:pPr algn="l" indent="0" marL="0">
              <a:lnSpc>
                <a:spcPts val="1620"/>
              </a:lnSpc>
              <a:buNone/>
            </a:pPr>
            <a:r>
              <a:rPr lang="en-US" sz="1013" b="1" dirty="0">
                <a:solidFill>
                  <a:srgbClr val="00FF41"/>
                </a:solidFill>
                <a:latin typeface="Courier New" pitchFamily="34" charset="0"/>
                <a:ea typeface="Courier New" pitchFamily="34" charset="-122"/>
                <a:cs typeface="Courier New" pitchFamily="34" charset="-120"/>
              </a:rPr>
              <a:t>Splunk</a:t>
            </a:r>
            <a:endParaRPr lang="en-US" sz="1013" dirty="0"/>
          </a:p>
        </p:txBody>
      </p:sp>
      <p:sp>
        <p:nvSpPr>
          <p:cNvPr id="27" name="Text 25"/>
          <p:cNvSpPr/>
          <p:nvPr/>
        </p:nvSpPr>
        <p:spPr>
          <a:xfrm>
            <a:off x="664369" y="3372520"/>
            <a:ext cx="142875" cy="142875"/>
          </a:xfrm>
          <a:prstGeom prst="rect">
            <a:avLst/>
          </a:prstGeom>
          <a:noFill/>
          <a:ln/>
        </p:spPr>
        <p:txBody>
          <a:bodyPr wrap="none" lIns="0" tIns="0" rIns="0" bIns="0" rtlCol="0" anchor="ctr"/>
          <a:lstStyle/>
          <a:p>
            <a:pPr algn="ctr" indent="0" marL="0">
              <a:buNone/>
            </a:pPr>
            <a:r>
              <a:rPr lang="en-US" sz="1406" dirty="0">
                <a:solidFill>
                  <a:srgbClr val="00FF41"/>
                </a:solidFill>
                <a:latin typeface="Segoe UI Symbol" pitchFamily="34" charset="0"/>
                <a:ea typeface="Segoe UI Symbol" pitchFamily="34" charset="-122"/>
                <a:cs typeface="Segoe UI Symbol" pitchFamily="34" charset="-120"/>
              </a:rPr>
              <a:t>▦</a:t>
            </a:r>
            <a:endParaRPr lang="en-US" sz="1406" dirty="0"/>
          </a:p>
        </p:txBody>
      </p:sp>
      <p:sp>
        <p:nvSpPr>
          <p:cNvPr id="28" name="Text 26"/>
          <p:cNvSpPr/>
          <p:nvPr/>
        </p:nvSpPr>
        <p:spPr>
          <a:xfrm>
            <a:off x="664369" y="3589734"/>
            <a:ext cx="2321719" cy="162020"/>
          </a:xfrm>
          <a:prstGeom prst="rect">
            <a:avLst/>
          </a:prstGeom>
          <a:noFill/>
          <a:ln/>
        </p:spPr>
        <p:txBody>
          <a:bodyPr wrap="none" lIns="0" tIns="0" rIns="0" bIns="0" rtlCol="0" anchor="t"/>
          <a:lstStyle/>
          <a:p>
            <a:pPr algn="l" indent="0" marL="0">
              <a:lnSpc>
                <a:spcPts val="1181"/>
              </a:lnSpc>
              <a:buNone/>
            </a:pPr>
            <a:r>
              <a:rPr lang="en-US" sz="844" dirty="0">
                <a:solidFill>
                  <a:srgbClr val="E0E0E0"/>
                </a:solidFill>
                <a:latin typeface="Carlito" pitchFamily="34" charset="0"/>
                <a:ea typeface="Carlito" pitchFamily="34" charset="-122"/>
                <a:cs typeface="Carlito" pitchFamily="34" charset="-120"/>
              </a:rPr>
              <a:t>Forward findings to SIEM</a:t>
            </a:r>
            <a:endParaRPr lang="en-US" sz="844" dirty="0"/>
          </a:p>
        </p:txBody>
      </p:sp>
      <p:sp>
        <p:nvSpPr>
          <p:cNvPr id="29" name="Text 27"/>
          <p:cNvSpPr/>
          <p:nvPr/>
        </p:nvSpPr>
        <p:spPr>
          <a:xfrm>
            <a:off x="641509" y="3801935"/>
            <a:ext cx="668901" cy="172772"/>
          </a:xfrm>
          <a:prstGeom prst="roundRect">
            <a:avLst>
              <a:gd name="adj" fmla="val 22052"/>
            </a:avLst>
          </a:prstGeom>
          <a:solidFill>
            <a:srgbClr val="00FF41">
              <a:alpha val="6000"/>
            </a:srgbClr>
          </a:solidFill>
          <a:ln/>
        </p:spPr>
        <p:txBody>
          <a:bodyPr wrap="square" rtlCol="0" anchor="ctr"/>
          <a:lstStyle/>
          <a:p>
            <a:pPr indent="0" marL="0">
              <a:buNone/>
            </a:pPr>
            <a:endParaRPr lang="en-US" dirty="0"/>
          </a:p>
        </p:txBody>
      </p:sp>
      <p:sp>
        <p:nvSpPr>
          <p:cNvPr id="30" name="Text 28"/>
          <p:cNvSpPr/>
          <p:nvPr/>
        </p:nvSpPr>
        <p:spPr>
          <a:xfrm>
            <a:off x="637479" y="3811191"/>
            <a:ext cx="676961" cy="154260"/>
          </a:xfrm>
          <a:prstGeom prst="rect">
            <a:avLst/>
          </a:prstGeom>
          <a:noFill/>
          <a:ln/>
        </p:spPr>
        <p:txBody>
          <a:bodyPr wrap="none" lIns="0" tIns="0" rIns="0" bIns="0" rtlCol="0" anchor="ctr"/>
          <a:lstStyle/>
          <a:p>
            <a:pPr algn="ctr" indent="0" marL="0">
              <a:lnSpc>
                <a:spcPts val="990"/>
              </a:lnSpc>
              <a:buNone/>
            </a:pPr>
            <a:r>
              <a:rPr lang="en-US" sz="800" spc="28" kern="0" dirty="0">
                <a:solidFill>
                  <a:srgbClr val="888888"/>
                </a:solidFill>
                <a:latin typeface="Courier New" pitchFamily="34" charset="0"/>
                <a:ea typeface="Courier New" pitchFamily="34" charset="-122"/>
                <a:cs typeface="Courier New" pitchFamily="34" charset="-120"/>
              </a:rPr>
              <a:t>HEC / REST</a:t>
            </a:r>
            <a:endParaRPr lang="en-US" sz="800" dirty="0"/>
          </a:p>
        </p:txBody>
      </p:sp>
      <p:sp>
        <p:nvSpPr>
          <p:cNvPr id="31" name="Text 29"/>
          <p:cNvSpPr/>
          <p:nvPr/>
        </p:nvSpPr>
        <p:spPr>
          <a:xfrm>
            <a:off x="3243263" y="2754585"/>
            <a:ext cx="2657475" cy="1797434"/>
          </a:xfrm>
          <a:prstGeom prst="rect">
            <a:avLst/>
          </a:prstGeom>
          <a:solidFill>
            <a:srgbClr val="111111"/>
          </a:solidFill>
          <a:ln/>
        </p:spPr>
        <p:txBody>
          <a:bodyPr wrap="square" rtlCol="0" anchor="ctr"/>
          <a:lstStyle/>
          <a:p>
            <a:pPr indent="0" marL="0">
              <a:buNone/>
            </a:pPr>
            <a:endParaRPr lang="en-US" dirty="0"/>
          </a:p>
        </p:txBody>
      </p:sp>
      <p:sp>
        <p:nvSpPr>
          <p:cNvPr id="32" name="Shape 30"/>
          <p:cNvSpPr/>
          <p:nvPr/>
        </p:nvSpPr>
        <p:spPr>
          <a:xfrm>
            <a:off x="3253978" y="2754585"/>
            <a:ext cx="0" cy="1797434"/>
          </a:xfrm>
          <a:prstGeom prst="line">
            <a:avLst/>
          </a:prstGeom>
          <a:noFill/>
          <a:ln w="21431">
            <a:solidFill>
              <a:srgbClr val="00FF41"/>
            </a:solidFill>
            <a:prstDash val="solid"/>
          </a:ln>
        </p:spPr>
      </p:sp>
      <p:sp>
        <p:nvSpPr>
          <p:cNvPr id="33" name="Text 31"/>
          <p:cNvSpPr/>
          <p:nvPr/>
        </p:nvSpPr>
        <p:spPr>
          <a:xfrm>
            <a:off x="3621881" y="3362585"/>
            <a:ext cx="996496" cy="162020"/>
          </a:xfrm>
          <a:prstGeom prst="rect">
            <a:avLst/>
          </a:prstGeom>
          <a:noFill/>
          <a:ln/>
        </p:spPr>
        <p:txBody>
          <a:bodyPr wrap="none" lIns="0" tIns="0" rIns="0" bIns="0" rtlCol="0" anchor="t"/>
          <a:lstStyle/>
          <a:p>
            <a:pPr algn="l" indent="0" marL="0">
              <a:lnSpc>
                <a:spcPts val="1620"/>
              </a:lnSpc>
              <a:buNone/>
            </a:pPr>
            <a:r>
              <a:rPr lang="en-US" sz="1013" b="1" dirty="0">
                <a:solidFill>
                  <a:srgbClr val="00FF41"/>
                </a:solidFill>
                <a:latin typeface="Courier New" pitchFamily="34" charset="0"/>
                <a:ea typeface="Courier New" pitchFamily="34" charset="-122"/>
                <a:cs typeface="Courier New" pitchFamily="34" charset="-120"/>
              </a:rPr>
              <a:t>PagerDuty</a:t>
            </a:r>
            <a:endParaRPr lang="en-US" sz="1013" dirty="0"/>
          </a:p>
        </p:txBody>
      </p:sp>
      <p:sp>
        <p:nvSpPr>
          <p:cNvPr id="34" name="Text 32"/>
          <p:cNvSpPr/>
          <p:nvPr/>
        </p:nvSpPr>
        <p:spPr>
          <a:xfrm>
            <a:off x="3421856" y="3372520"/>
            <a:ext cx="142875" cy="142875"/>
          </a:xfrm>
          <a:prstGeom prst="rect">
            <a:avLst/>
          </a:prstGeom>
          <a:noFill/>
          <a:ln/>
        </p:spPr>
        <p:txBody>
          <a:bodyPr wrap="none" lIns="0" tIns="0" rIns="0" bIns="0" rtlCol="0" anchor="ctr"/>
          <a:lstStyle/>
          <a:p>
            <a:pPr algn="ctr" indent="0" marL="0">
              <a:buNone/>
            </a:pPr>
            <a:r>
              <a:rPr lang="en-US" sz="1406" dirty="0">
                <a:solidFill>
                  <a:srgbClr val="00FF41"/>
                </a:solidFill>
                <a:latin typeface="Segoe UI Symbol" pitchFamily="34" charset="0"/>
                <a:ea typeface="Segoe UI Symbol" pitchFamily="34" charset="-122"/>
                <a:cs typeface="Segoe UI Symbol" pitchFamily="34" charset="-120"/>
              </a:rPr>
              <a:t>◔</a:t>
            </a:r>
            <a:endParaRPr lang="en-US" sz="1406" dirty="0"/>
          </a:p>
        </p:txBody>
      </p:sp>
      <p:sp>
        <p:nvSpPr>
          <p:cNvPr id="35" name="Text 33"/>
          <p:cNvSpPr/>
          <p:nvPr/>
        </p:nvSpPr>
        <p:spPr>
          <a:xfrm>
            <a:off x="3421856" y="3589734"/>
            <a:ext cx="2431447" cy="162020"/>
          </a:xfrm>
          <a:prstGeom prst="rect">
            <a:avLst/>
          </a:prstGeom>
          <a:noFill/>
          <a:ln/>
        </p:spPr>
        <p:txBody>
          <a:bodyPr wrap="square" lIns="0" tIns="0" rIns="0" bIns="0" rtlCol="0" anchor="t"/>
          <a:lstStyle/>
          <a:p>
            <a:pPr algn="l" indent="0" marL="0">
              <a:lnSpc>
                <a:spcPts val="1181"/>
              </a:lnSpc>
              <a:buNone/>
            </a:pPr>
            <a:r>
              <a:rPr lang="en-US" sz="844" dirty="0">
                <a:solidFill>
                  <a:srgbClr val="E0E0E0"/>
                </a:solidFill>
                <a:latin typeface="Carlito" pitchFamily="34" charset="0"/>
                <a:ea typeface="Carlito" pitchFamily="34" charset="-122"/>
                <a:cs typeface="Carlito" pitchFamily="34" charset="-120"/>
              </a:rPr>
              <a:t>Trigger incident escalation</a:t>
            </a:r>
            <a:endParaRPr lang="en-US" sz="844" dirty="0"/>
          </a:p>
        </p:txBody>
      </p:sp>
      <p:sp>
        <p:nvSpPr>
          <p:cNvPr id="36" name="Text 34"/>
          <p:cNvSpPr/>
          <p:nvPr/>
        </p:nvSpPr>
        <p:spPr>
          <a:xfrm>
            <a:off x="3398996" y="3801935"/>
            <a:ext cx="668901" cy="172772"/>
          </a:xfrm>
          <a:prstGeom prst="roundRect">
            <a:avLst>
              <a:gd name="adj" fmla="val 22052"/>
            </a:avLst>
          </a:prstGeom>
          <a:solidFill>
            <a:srgbClr val="00FF41">
              <a:alpha val="6000"/>
            </a:srgbClr>
          </a:solidFill>
          <a:ln/>
        </p:spPr>
        <p:txBody>
          <a:bodyPr wrap="square" rtlCol="0" anchor="ctr"/>
          <a:lstStyle/>
          <a:p>
            <a:pPr indent="0" marL="0">
              <a:buNone/>
            </a:pPr>
            <a:endParaRPr lang="en-US" dirty="0"/>
          </a:p>
        </p:txBody>
      </p:sp>
      <p:sp>
        <p:nvSpPr>
          <p:cNvPr id="37" name="Text 35"/>
          <p:cNvSpPr/>
          <p:nvPr/>
        </p:nvSpPr>
        <p:spPr>
          <a:xfrm>
            <a:off x="3394367" y="3811191"/>
            <a:ext cx="678160" cy="154260"/>
          </a:xfrm>
          <a:prstGeom prst="rect">
            <a:avLst/>
          </a:prstGeom>
          <a:noFill/>
          <a:ln/>
        </p:spPr>
        <p:txBody>
          <a:bodyPr wrap="none" lIns="0" tIns="0" rIns="0" bIns="0" rtlCol="0" anchor="ctr"/>
          <a:lstStyle/>
          <a:p>
            <a:pPr algn="ctr" indent="0" marL="0">
              <a:lnSpc>
                <a:spcPts val="990"/>
              </a:lnSpc>
              <a:buNone/>
            </a:pPr>
            <a:r>
              <a:rPr lang="en-US" sz="800" spc="28" kern="0" dirty="0">
                <a:solidFill>
                  <a:srgbClr val="888888"/>
                </a:solidFill>
                <a:latin typeface="Courier New" pitchFamily="34" charset="0"/>
                <a:ea typeface="Courier New" pitchFamily="34" charset="-122"/>
                <a:cs typeface="Courier New" pitchFamily="34" charset="-120"/>
              </a:rPr>
              <a:t>Events API</a:t>
            </a:r>
            <a:endParaRPr lang="en-US" sz="800" dirty="0"/>
          </a:p>
        </p:txBody>
      </p:sp>
      <p:sp>
        <p:nvSpPr>
          <p:cNvPr id="38" name="Text 36"/>
          <p:cNvSpPr/>
          <p:nvPr/>
        </p:nvSpPr>
        <p:spPr>
          <a:xfrm>
            <a:off x="6000750" y="2754585"/>
            <a:ext cx="2657475" cy="1797434"/>
          </a:xfrm>
          <a:prstGeom prst="rect">
            <a:avLst/>
          </a:prstGeom>
          <a:solidFill>
            <a:srgbClr val="111111"/>
          </a:solidFill>
          <a:ln/>
        </p:spPr>
        <p:txBody>
          <a:bodyPr wrap="square" rtlCol="0" anchor="ctr"/>
          <a:lstStyle/>
          <a:p>
            <a:pPr indent="0" marL="0">
              <a:buNone/>
            </a:pPr>
            <a:endParaRPr lang="en-US" dirty="0"/>
          </a:p>
        </p:txBody>
      </p:sp>
      <p:sp>
        <p:nvSpPr>
          <p:cNvPr id="39" name="Shape 37"/>
          <p:cNvSpPr/>
          <p:nvPr/>
        </p:nvSpPr>
        <p:spPr>
          <a:xfrm>
            <a:off x="6011466" y="2754585"/>
            <a:ext cx="0" cy="1797434"/>
          </a:xfrm>
          <a:prstGeom prst="line">
            <a:avLst/>
          </a:prstGeom>
          <a:noFill/>
          <a:ln w="21431">
            <a:solidFill>
              <a:srgbClr val="00FF41"/>
            </a:solidFill>
            <a:prstDash val="solid"/>
          </a:ln>
        </p:spPr>
      </p:sp>
      <p:sp>
        <p:nvSpPr>
          <p:cNvPr id="40" name="Text 38"/>
          <p:cNvSpPr/>
          <p:nvPr/>
        </p:nvSpPr>
        <p:spPr>
          <a:xfrm>
            <a:off x="6379369" y="3362585"/>
            <a:ext cx="495598" cy="162020"/>
          </a:xfrm>
          <a:prstGeom prst="rect">
            <a:avLst/>
          </a:prstGeom>
          <a:noFill/>
          <a:ln/>
        </p:spPr>
        <p:txBody>
          <a:bodyPr wrap="none" lIns="0" tIns="0" rIns="0" bIns="0" rtlCol="0" anchor="t"/>
          <a:lstStyle/>
          <a:p>
            <a:pPr algn="l" indent="0" marL="0">
              <a:lnSpc>
                <a:spcPts val="1620"/>
              </a:lnSpc>
              <a:buNone/>
            </a:pPr>
            <a:r>
              <a:rPr lang="en-US" sz="1013" b="1" dirty="0">
                <a:solidFill>
                  <a:srgbClr val="00FF41"/>
                </a:solidFill>
                <a:latin typeface="Courier New" pitchFamily="34" charset="0"/>
                <a:ea typeface="Courier New" pitchFamily="34" charset="-122"/>
                <a:cs typeface="Courier New" pitchFamily="34" charset="-120"/>
              </a:rPr>
              <a:t>Z.AI</a:t>
            </a:r>
            <a:endParaRPr lang="en-US" sz="1013" dirty="0"/>
          </a:p>
        </p:txBody>
      </p:sp>
      <p:sp>
        <p:nvSpPr>
          <p:cNvPr id="41" name="Text 39"/>
          <p:cNvSpPr/>
          <p:nvPr/>
        </p:nvSpPr>
        <p:spPr>
          <a:xfrm>
            <a:off x="6179344" y="3372520"/>
            <a:ext cx="142875" cy="142875"/>
          </a:xfrm>
          <a:prstGeom prst="rect">
            <a:avLst/>
          </a:prstGeom>
          <a:noFill/>
          <a:ln/>
        </p:spPr>
        <p:txBody>
          <a:bodyPr wrap="none" lIns="0" tIns="0" rIns="0" bIns="0" rtlCol="0" anchor="ctr"/>
          <a:lstStyle/>
          <a:p>
            <a:pPr algn="ctr" indent="0" marL="0">
              <a:buNone/>
            </a:pPr>
            <a:r>
              <a:rPr lang="en-US" sz="1406" dirty="0">
                <a:solidFill>
                  <a:srgbClr val="00FF41"/>
                </a:solidFill>
                <a:latin typeface="Segoe UI Symbol" pitchFamily="34" charset="0"/>
                <a:ea typeface="Segoe UI Symbol" pitchFamily="34" charset="-122"/>
                <a:cs typeface="Segoe UI Symbol" pitchFamily="34" charset="-120"/>
              </a:rPr>
              <a:t>✦</a:t>
            </a:r>
            <a:endParaRPr lang="en-US" sz="1406" dirty="0"/>
          </a:p>
        </p:txBody>
      </p:sp>
      <p:sp>
        <p:nvSpPr>
          <p:cNvPr id="42" name="Text 40"/>
          <p:cNvSpPr/>
          <p:nvPr/>
        </p:nvSpPr>
        <p:spPr>
          <a:xfrm>
            <a:off x="6179344" y="3589734"/>
            <a:ext cx="2431447" cy="162020"/>
          </a:xfrm>
          <a:prstGeom prst="rect">
            <a:avLst/>
          </a:prstGeom>
          <a:noFill/>
          <a:ln/>
        </p:spPr>
        <p:txBody>
          <a:bodyPr wrap="square" lIns="0" tIns="0" rIns="0" bIns="0" rtlCol="0" anchor="t"/>
          <a:lstStyle/>
          <a:p>
            <a:pPr algn="l" indent="0" marL="0">
              <a:lnSpc>
                <a:spcPts val="1181"/>
              </a:lnSpc>
              <a:buNone/>
            </a:pPr>
            <a:r>
              <a:rPr lang="en-US" sz="844" dirty="0">
                <a:solidFill>
                  <a:srgbClr val="E0E0E0"/>
                </a:solidFill>
                <a:latin typeface="Carlito" pitchFamily="34" charset="0"/>
                <a:ea typeface="Carlito" pitchFamily="34" charset="-122"/>
                <a:cs typeface="Carlito" pitchFamily="34" charset="-120"/>
              </a:rPr>
              <a:t>SSE streaming with AI analysis</a:t>
            </a:r>
            <a:endParaRPr lang="en-US" sz="844" dirty="0"/>
          </a:p>
        </p:txBody>
      </p:sp>
      <p:sp>
        <p:nvSpPr>
          <p:cNvPr id="43" name="Text 41"/>
          <p:cNvSpPr/>
          <p:nvPr/>
        </p:nvSpPr>
        <p:spPr>
          <a:xfrm>
            <a:off x="6156484" y="3801935"/>
            <a:ext cx="1075983" cy="172772"/>
          </a:xfrm>
          <a:prstGeom prst="roundRect">
            <a:avLst>
              <a:gd name="adj" fmla="val 22052"/>
            </a:avLst>
          </a:prstGeom>
          <a:solidFill>
            <a:srgbClr val="00FF41">
              <a:alpha val="6000"/>
            </a:srgbClr>
          </a:solidFill>
          <a:ln/>
        </p:spPr>
        <p:txBody>
          <a:bodyPr wrap="square" rtlCol="0" anchor="ctr"/>
          <a:lstStyle/>
          <a:p>
            <a:pPr indent="0" marL="0">
              <a:buNone/>
            </a:pPr>
            <a:endParaRPr lang="en-US" dirty="0"/>
          </a:p>
        </p:txBody>
      </p:sp>
      <p:sp>
        <p:nvSpPr>
          <p:cNvPr id="44" name="Text 42"/>
          <p:cNvSpPr/>
          <p:nvPr/>
        </p:nvSpPr>
        <p:spPr>
          <a:xfrm>
            <a:off x="6179344" y="3811191"/>
            <a:ext cx="1030263" cy="154260"/>
          </a:xfrm>
          <a:prstGeom prst="rect">
            <a:avLst/>
          </a:prstGeom>
          <a:noFill/>
          <a:ln/>
        </p:spPr>
        <p:txBody>
          <a:bodyPr wrap="none" lIns="0" tIns="0" rIns="0" bIns="0" rtlCol="0" anchor="ctr"/>
          <a:lstStyle/>
          <a:p>
            <a:pPr algn="ctr" indent="0" marL="0">
              <a:lnSpc>
                <a:spcPts val="990"/>
              </a:lnSpc>
              <a:buNone/>
            </a:pPr>
            <a:r>
              <a:rPr lang="en-US" sz="800" spc="28" kern="0" dirty="0">
                <a:solidFill>
                  <a:srgbClr val="888888"/>
                </a:solidFill>
                <a:latin typeface="Courier New" pitchFamily="34" charset="0"/>
                <a:ea typeface="Courier New" pitchFamily="34" charset="-122"/>
                <a:cs typeface="Courier New" pitchFamily="34" charset="-120"/>
              </a:rPr>
              <a:t>Server-Sent Events</a:t>
            </a:r>
            <a:endParaRPr lang="en-US" sz="800" dirty="0"/>
          </a:p>
        </p:txBody>
      </p:sp>
      <p:sp>
        <p:nvSpPr>
          <p:cNvPr id="45" name="Text 43"/>
          <p:cNvSpPr/>
          <p:nvPr/>
        </p:nvSpPr>
        <p:spPr>
          <a:xfrm>
            <a:off x="485775" y="4737757"/>
            <a:ext cx="4063901" cy="126609"/>
          </a:xfrm>
          <a:prstGeom prst="rect">
            <a:avLst/>
          </a:prstGeom>
          <a:noFill/>
          <a:ln/>
        </p:spPr>
        <p:txBody>
          <a:bodyPr wrap="square" lIns="0" tIns="0" rIns="0" bIns="0" rtlCol="0" anchor="t"/>
          <a:lstStyle/>
          <a:p>
            <a:pPr algn="l" indent="0" marL="0">
              <a:lnSpc>
                <a:spcPts val="1170"/>
              </a:lnSpc>
              <a:buNone/>
            </a:pPr>
            <a:r>
              <a:rPr lang="en-US" sz="800" spc="17" kern="0" dirty="0">
                <a:solidFill>
                  <a:srgbClr val="888888"/>
                </a:solidFill>
                <a:latin typeface="Courier New" pitchFamily="34" charset="0"/>
                <a:ea typeface="Courier New" pitchFamily="34" charset="-122"/>
                <a:cs typeface="Courier New" pitchFamily="34" charset="-120"/>
              </a:rPr>
              <a:t>All integrations use standard protocols. No proprietary agents needed.</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0A0A"/>
        </a:solidFill>
      </p:bgPr>
    </p:bg>
    <p:spTree>
      <p:nvGrpSpPr>
        <p:cNvPr id="1" name=""/>
        <p:cNvGrpSpPr/>
        <p:nvPr/>
      </p:nvGrpSpPr>
      <p:grpSpPr>
        <a:xfrm>
          <a:off x="0" y="0"/>
          <a:ext cx="0" cy="0"/>
          <a:chOff x="0" y="0"/>
          <a:chExt cx="0" cy="0"/>
        </a:xfrm>
      </p:grpSpPr>
      <p:pic>
        <p:nvPicPr>
          <p:cNvPr id="2" name="Image 0" descr="/tmp/h2p-fit-1785903039784-roc7rn.png">    </p:cNvPr>
          <p:cNvPicPr>
            <a:picLocks noChangeAspect="1"/>
          </p:cNvPicPr>
          <p:nvPr/>
        </p:nvPicPr>
        <p:blipFill>
          <a:blip r:embed="rId1">
            <a:alphaModFix amt="10000"/>
          </a:blip>
          <a:stretch>
            <a:fillRect/>
          </a:stretch>
        </p:blipFill>
        <p:spPr>
          <a:xfrm>
            <a:off x="0" y="0"/>
            <a:ext cx="9144000" cy="5143500"/>
          </a:xfrm>
          <a:prstGeom prst="rect">
            <a:avLst/>
          </a:prstGeom>
        </p:spPr>
      </p:pic>
      <p:sp>
        <p:nvSpPr>
          <p:cNvPr id="3" name="Text 0"/>
          <p:cNvSpPr/>
          <p:nvPr/>
        </p:nvSpPr>
        <p:spPr>
          <a:xfrm>
            <a:off x="485775" y="342900"/>
            <a:ext cx="8636000" cy="370332"/>
          </a:xfrm>
          <a:prstGeom prst="rect">
            <a:avLst/>
          </a:prstGeom>
          <a:noFill/>
          <a:ln/>
        </p:spPr>
        <p:txBody>
          <a:bodyPr wrap="square" lIns="0" tIns="0" rIns="0" bIns="0" rtlCol="0" anchor="t"/>
          <a:lstStyle/>
          <a:p>
            <a:pPr algn="l" indent="0" marL="0">
              <a:lnSpc>
                <a:spcPts val="2700"/>
              </a:lnSpc>
              <a:buNone/>
            </a:pPr>
            <a:r>
              <a:rPr lang="en-US" sz="1688" dirty="0">
                <a:solidFill>
                  <a:srgbClr val="FFFFFF"/>
                </a:solidFill>
                <a:latin typeface="Courier New" pitchFamily="34" charset="0"/>
                <a:ea typeface="Courier New" pitchFamily="34" charset="-122"/>
                <a:cs typeface="Courier New" pitchFamily="34" charset="-120"/>
              </a:rPr>
              <a:t>7 COMPLIANCE FRAMEWORKS. MAPPED AUTOMATICALLY.</a:t>
            </a:r>
            <a:endParaRPr lang="en-US" sz="1688" dirty="0"/>
          </a:p>
        </p:txBody>
      </p:sp>
      <p:sp>
        <p:nvSpPr>
          <p:cNvPr id="4" name="Text 1"/>
          <p:cNvSpPr/>
          <p:nvPr/>
        </p:nvSpPr>
        <p:spPr>
          <a:xfrm>
            <a:off x="489347" y="832247"/>
            <a:ext cx="1971675" cy="674191"/>
          </a:xfrm>
          <a:prstGeom prst="roundRect">
            <a:avLst>
              <a:gd name="adj" fmla="val 14128"/>
            </a:avLst>
          </a:prstGeom>
          <a:solidFill>
            <a:srgbClr val="111111"/>
          </a:solidFill>
          <a:ln w="7144">
            <a:solidFill>
              <a:srgbClr val="00FF41"/>
            </a:solidFill>
            <a:prstDash val="solid"/>
          </a:ln>
        </p:spPr>
        <p:txBody>
          <a:bodyPr wrap="square" rtlCol="0" anchor="ctr"/>
          <a:lstStyle/>
          <a:p>
            <a:pPr indent="0" marL="0">
              <a:buNone/>
            </a:pPr>
            <a:endParaRPr lang="en-US" dirty="0"/>
          </a:p>
        </p:txBody>
      </p:sp>
      <p:sp>
        <p:nvSpPr>
          <p:cNvPr id="5" name="Text 2"/>
          <p:cNvSpPr/>
          <p:nvPr/>
        </p:nvSpPr>
        <p:spPr>
          <a:xfrm>
            <a:off x="635794" y="1026468"/>
            <a:ext cx="285750" cy="285750"/>
          </a:xfrm>
          <a:prstGeom prst="roundRect">
            <a:avLst>
              <a:gd name="adj" fmla="val 26667"/>
            </a:avLst>
          </a:prstGeom>
          <a:solidFill>
            <a:srgbClr val="00FF41">
              <a:alpha val="10000"/>
            </a:srgbClr>
          </a:solidFill>
          <a:ln/>
        </p:spPr>
        <p:txBody>
          <a:bodyPr wrap="square" rtlCol="0" anchor="ctr"/>
          <a:lstStyle/>
          <a:p>
            <a:pPr indent="0" marL="0">
              <a:buNone/>
            </a:pPr>
            <a:endParaRPr lang="en-US" dirty="0"/>
          </a:p>
        </p:txBody>
      </p:sp>
      <p:sp>
        <p:nvSpPr>
          <p:cNvPr id="6" name="Text 3"/>
          <p:cNvSpPr/>
          <p:nvPr/>
        </p:nvSpPr>
        <p:spPr>
          <a:xfrm>
            <a:off x="664726" y="1055400"/>
            <a:ext cx="227886" cy="227886"/>
          </a:xfrm>
          <a:prstGeom prst="rect">
            <a:avLst/>
          </a:prstGeom>
          <a:noFill/>
          <a:ln/>
        </p:spPr>
        <p:txBody>
          <a:bodyPr wrap="none" lIns="0" tIns="0" rIns="0" bIns="0" rtlCol="0" anchor="ctr"/>
          <a:lstStyle/>
          <a:p>
            <a:pPr algn="ctr" indent="0" marL="0">
              <a:buNone/>
            </a:pPr>
            <a:r>
              <a:rPr lang="en-US" sz="1547" dirty="0">
                <a:solidFill>
                  <a:srgbClr val="00FF41"/>
                </a:solidFill>
                <a:latin typeface="Segoe UI Symbol" pitchFamily="34" charset="0"/>
                <a:ea typeface="Segoe UI Symbol" pitchFamily="34" charset="-122"/>
                <a:cs typeface="Segoe UI Symbol" pitchFamily="34" charset="-120"/>
              </a:rPr>
              <a:t>⛨</a:t>
            </a:r>
            <a:endParaRPr lang="en-US" sz="1547" dirty="0"/>
          </a:p>
        </p:txBody>
      </p:sp>
      <p:sp>
        <p:nvSpPr>
          <p:cNvPr id="7" name="Text 4"/>
          <p:cNvSpPr/>
          <p:nvPr/>
        </p:nvSpPr>
        <p:spPr>
          <a:xfrm>
            <a:off x="1021556" y="1010394"/>
            <a:ext cx="1293019" cy="169691"/>
          </a:xfrm>
          <a:prstGeom prst="rect">
            <a:avLst/>
          </a:prstGeom>
          <a:noFill/>
          <a:ln/>
        </p:spPr>
        <p:txBody>
          <a:bodyPr wrap="none" lIns="0" tIns="0" rIns="0" bIns="0" rtlCol="0" anchor="t">
            <a:normAutofit/>
          </a:bodyPr>
          <a:lstStyle/>
          <a:p>
            <a:pPr algn="l" indent="0" marL="0">
              <a:lnSpc>
                <a:spcPts val="1440"/>
              </a:lnSpc>
              <a:buNone/>
            </a:pPr>
            <a:r>
              <a:rPr lang="en-US" sz="900" b="1" dirty="0">
                <a:solidFill>
                  <a:srgbClr val="00FF41"/>
                </a:solidFill>
                <a:latin typeface="Liberation Sans Narrow" pitchFamily="34" charset="0"/>
                <a:ea typeface="Liberation Sans Narrow" pitchFamily="34" charset="-122"/>
                <a:cs typeface="Liberation Sans Narrow" pitchFamily="34" charset="-120"/>
              </a:rPr>
              <a:t>SOC2</a:t>
            </a:r>
            <a:endParaRPr lang="en-US" sz="900" dirty="0"/>
          </a:p>
        </p:txBody>
      </p:sp>
      <p:sp>
        <p:nvSpPr>
          <p:cNvPr id="8" name="Text 5"/>
          <p:cNvSpPr/>
          <p:nvPr/>
        </p:nvSpPr>
        <p:spPr>
          <a:xfrm>
            <a:off x="1021556" y="1207517"/>
            <a:ext cx="955622" cy="142567"/>
          </a:xfrm>
          <a:prstGeom prst="rect">
            <a:avLst/>
          </a:prstGeom>
          <a:noFill/>
          <a:ln/>
        </p:spPr>
        <p:txBody>
          <a:bodyPr wrap="square" lIns="0" tIns="0" rIns="0" bIns="0" rtlCol="0" anchor="t"/>
          <a:lstStyle/>
          <a:p>
            <a:pPr algn="l" indent="0" marL="0">
              <a:lnSpc>
                <a:spcPts val="951"/>
              </a:lnSpc>
              <a:buNone/>
            </a:pPr>
            <a:r>
              <a:rPr lang="en-US" sz="731" dirty="0">
                <a:solidFill>
                  <a:srgbClr val="888888"/>
                </a:solidFill>
                <a:latin typeface="Carlito" pitchFamily="34" charset="0"/>
                <a:ea typeface="Carlito" pitchFamily="34" charset="-122"/>
                <a:cs typeface="Carlito" pitchFamily="34" charset="-120"/>
              </a:rPr>
              <a:t>Trust Service Criteria</a:t>
            </a:r>
            <a:endParaRPr lang="en-US" sz="731" dirty="0"/>
          </a:p>
        </p:txBody>
      </p:sp>
      <p:sp>
        <p:nvSpPr>
          <p:cNvPr id="9" name="Text 6"/>
          <p:cNvSpPr/>
          <p:nvPr/>
        </p:nvSpPr>
        <p:spPr>
          <a:xfrm>
            <a:off x="2553891" y="832247"/>
            <a:ext cx="1971675" cy="674191"/>
          </a:xfrm>
          <a:prstGeom prst="roundRect">
            <a:avLst>
              <a:gd name="adj" fmla="val 14128"/>
            </a:avLst>
          </a:prstGeom>
          <a:solidFill>
            <a:srgbClr val="111111"/>
          </a:solidFill>
          <a:ln w="7144">
            <a:solidFill>
              <a:srgbClr val="00FF41"/>
            </a:solidFill>
            <a:prstDash val="solid"/>
          </a:ln>
        </p:spPr>
        <p:txBody>
          <a:bodyPr wrap="square" rtlCol="0" anchor="ctr"/>
          <a:lstStyle/>
          <a:p>
            <a:pPr indent="0" marL="0">
              <a:buNone/>
            </a:pPr>
            <a:endParaRPr lang="en-US" dirty="0"/>
          </a:p>
        </p:txBody>
      </p:sp>
      <p:sp>
        <p:nvSpPr>
          <p:cNvPr id="10" name="Text 7"/>
          <p:cNvSpPr/>
          <p:nvPr/>
        </p:nvSpPr>
        <p:spPr>
          <a:xfrm>
            <a:off x="2700338" y="1026468"/>
            <a:ext cx="285750" cy="285750"/>
          </a:xfrm>
          <a:prstGeom prst="roundRect">
            <a:avLst>
              <a:gd name="adj" fmla="val 26667"/>
            </a:avLst>
          </a:prstGeom>
          <a:solidFill>
            <a:srgbClr val="00FF41">
              <a:alpha val="10000"/>
            </a:srgbClr>
          </a:solidFill>
          <a:ln/>
        </p:spPr>
        <p:txBody>
          <a:bodyPr wrap="square" rtlCol="0" anchor="ctr"/>
          <a:lstStyle/>
          <a:p>
            <a:pPr indent="0" marL="0">
              <a:buNone/>
            </a:pPr>
            <a:endParaRPr lang="en-US" dirty="0"/>
          </a:p>
        </p:txBody>
      </p:sp>
      <p:sp>
        <p:nvSpPr>
          <p:cNvPr id="11" name="Text 8"/>
          <p:cNvSpPr/>
          <p:nvPr/>
        </p:nvSpPr>
        <p:spPr>
          <a:xfrm>
            <a:off x="2729270" y="1055400"/>
            <a:ext cx="227886" cy="227886"/>
          </a:xfrm>
          <a:prstGeom prst="rect">
            <a:avLst/>
          </a:prstGeom>
          <a:noFill/>
          <a:ln/>
        </p:spPr>
        <p:txBody>
          <a:bodyPr wrap="none" lIns="0" tIns="0" rIns="0" bIns="0" rtlCol="0" anchor="ctr"/>
          <a:lstStyle/>
          <a:p>
            <a:pPr algn="ctr" indent="0" marL="0">
              <a:buNone/>
            </a:pPr>
            <a:r>
              <a:rPr lang="en-US" sz="1547" dirty="0">
                <a:solidFill>
                  <a:srgbClr val="00FF41"/>
                </a:solidFill>
                <a:latin typeface="Segoe UI Symbol" pitchFamily="34" charset="0"/>
                <a:ea typeface="Segoe UI Symbol" pitchFamily="34" charset="-122"/>
                <a:cs typeface="Segoe UI Symbol" pitchFamily="34" charset="-120"/>
              </a:rPr>
              <a:t>▤</a:t>
            </a:r>
            <a:endParaRPr lang="en-US" sz="1547" dirty="0"/>
          </a:p>
        </p:txBody>
      </p:sp>
      <p:sp>
        <p:nvSpPr>
          <p:cNvPr id="12" name="Text 9"/>
          <p:cNvSpPr/>
          <p:nvPr/>
        </p:nvSpPr>
        <p:spPr>
          <a:xfrm>
            <a:off x="3086100" y="950119"/>
            <a:ext cx="1293019" cy="169691"/>
          </a:xfrm>
          <a:prstGeom prst="rect">
            <a:avLst/>
          </a:prstGeom>
          <a:noFill/>
          <a:ln/>
        </p:spPr>
        <p:txBody>
          <a:bodyPr wrap="none" lIns="0" tIns="0" rIns="0" bIns="0" rtlCol="0" anchor="t">
            <a:normAutofit/>
          </a:bodyPr>
          <a:lstStyle/>
          <a:p>
            <a:pPr algn="l" indent="0" marL="0">
              <a:lnSpc>
                <a:spcPts val="1440"/>
              </a:lnSpc>
              <a:buNone/>
            </a:pPr>
            <a:r>
              <a:rPr lang="en-US" sz="900" b="1" dirty="0">
                <a:solidFill>
                  <a:srgbClr val="00FF41"/>
                </a:solidFill>
                <a:latin typeface="Liberation Sans Narrow" pitchFamily="34" charset="0"/>
                <a:ea typeface="Liberation Sans Narrow" pitchFamily="34" charset="-122"/>
                <a:cs typeface="Liberation Sans Narrow" pitchFamily="34" charset="-120"/>
              </a:rPr>
              <a:t>ISO 27001</a:t>
            </a:r>
            <a:endParaRPr lang="en-US" sz="900" dirty="0"/>
          </a:p>
        </p:txBody>
      </p:sp>
      <p:sp>
        <p:nvSpPr>
          <p:cNvPr id="13" name="Text 10"/>
          <p:cNvSpPr/>
          <p:nvPr/>
        </p:nvSpPr>
        <p:spPr>
          <a:xfrm>
            <a:off x="3086100" y="1147242"/>
            <a:ext cx="1293019" cy="241325"/>
          </a:xfrm>
          <a:prstGeom prst="rect">
            <a:avLst/>
          </a:prstGeom>
          <a:noFill/>
          <a:ln/>
        </p:spPr>
        <p:txBody>
          <a:bodyPr wrap="square" lIns="0" tIns="0" rIns="0" bIns="0" rtlCol="0" anchor="t"/>
          <a:lstStyle/>
          <a:p>
            <a:pPr algn="l" indent="0" marL="0">
              <a:lnSpc>
                <a:spcPts val="951"/>
              </a:lnSpc>
              <a:buNone/>
            </a:pPr>
            <a:r>
              <a:rPr lang="en-US" sz="800" dirty="0">
                <a:solidFill>
                  <a:srgbClr val="888888"/>
                </a:solidFill>
                <a:latin typeface="Carlito" pitchFamily="34" charset="0"/>
                <a:ea typeface="Carlito" pitchFamily="34" charset="-122"/>
                <a:cs typeface="Carlito" pitchFamily="34" charset="-120"/>
              </a:rPr>
              <a:t>Information Security Management</a:t>
            </a:r>
            <a:endParaRPr lang="en-US" sz="800" dirty="0"/>
          </a:p>
        </p:txBody>
      </p:sp>
      <p:sp>
        <p:nvSpPr>
          <p:cNvPr id="14" name="Text 11"/>
          <p:cNvSpPr/>
          <p:nvPr/>
        </p:nvSpPr>
        <p:spPr>
          <a:xfrm>
            <a:off x="4618434" y="832247"/>
            <a:ext cx="1971675" cy="674191"/>
          </a:xfrm>
          <a:prstGeom prst="roundRect">
            <a:avLst>
              <a:gd name="adj" fmla="val 14128"/>
            </a:avLst>
          </a:prstGeom>
          <a:solidFill>
            <a:srgbClr val="111111"/>
          </a:solidFill>
          <a:ln w="7144">
            <a:solidFill>
              <a:srgbClr val="00FF41"/>
            </a:solidFill>
            <a:prstDash val="solid"/>
          </a:ln>
        </p:spPr>
        <p:txBody>
          <a:bodyPr wrap="square" rtlCol="0" anchor="ctr"/>
          <a:lstStyle/>
          <a:p>
            <a:pPr indent="0" marL="0">
              <a:buNone/>
            </a:pPr>
            <a:endParaRPr lang="en-US" dirty="0"/>
          </a:p>
        </p:txBody>
      </p:sp>
      <p:sp>
        <p:nvSpPr>
          <p:cNvPr id="15" name="Text 12"/>
          <p:cNvSpPr/>
          <p:nvPr/>
        </p:nvSpPr>
        <p:spPr>
          <a:xfrm>
            <a:off x="4764881" y="1026468"/>
            <a:ext cx="285750" cy="285750"/>
          </a:xfrm>
          <a:prstGeom prst="roundRect">
            <a:avLst>
              <a:gd name="adj" fmla="val 26667"/>
            </a:avLst>
          </a:prstGeom>
          <a:solidFill>
            <a:srgbClr val="00FF41">
              <a:alpha val="10000"/>
            </a:srgbClr>
          </a:solidFill>
          <a:ln/>
        </p:spPr>
        <p:txBody>
          <a:bodyPr wrap="square" rtlCol="0" anchor="ctr"/>
          <a:lstStyle/>
          <a:p>
            <a:pPr indent="0" marL="0">
              <a:buNone/>
            </a:pPr>
            <a:endParaRPr lang="en-US" dirty="0"/>
          </a:p>
        </p:txBody>
      </p:sp>
      <p:sp>
        <p:nvSpPr>
          <p:cNvPr id="16" name="Text 13"/>
          <p:cNvSpPr/>
          <p:nvPr/>
        </p:nvSpPr>
        <p:spPr>
          <a:xfrm>
            <a:off x="4793813" y="1055400"/>
            <a:ext cx="227886" cy="227886"/>
          </a:xfrm>
          <a:prstGeom prst="rect">
            <a:avLst/>
          </a:prstGeom>
          <a:noFill/>
          <a:ln/>
        </p:spPr>
        <p:txBody>
          <a:bodyPr wrap="none" lIns="0" tIns="0" rIns="0" bIns="0" rtlCol="0" anchor="ctr"/>
          <a:lstStyle/>
          <a:p>
            <a:pPr algn="ctr" indent="0" marL="0">
              <a:buNone/>
            </a:pPr>
            <a:r>
              <a:rPr lang="en-US" sz="1547" dirty="0">
                <a:solidFill>
                  <a:srgbClr val="00FF41"/>
                </a:solidFill>
                <a:latin typeface="Segoe UI Symbol" pitchFamily="34" charset="0"/>
                <a:ea typeface="Segoe UI Symbol" pitchFamily="34" charset="-122"/>
                <a:cs typeface="Segoe UI Symbol" pitchFamily="34" charset="-120"/>
              </a:rPr>
              <a:t>▭</a:t>
            </a:r>
            <a:endParaRPr lang="en-US" sz="1547" dirty="0"/>
          </a:p>
        </p:txBody>
      </p:sp>
      <p:sp>
        <p:nvSpPr>
          <p:cNvPr id="17" name="Text 14"/>
          <p:cNvSpPr/>
          <p:nvPr/>
        </p:nvSpPr>
        <p:spPr>
          <a:xfrm>
            <a:off x="5150644" y="1010394"/>
            <a:ext cx="1293019" cy="169691"/>
          </a:xfrm>
          <a:prstGeom prst="rect">
            <a:avLst/>
          </a:prstGeom>
          <a:noFill/>
          <a:ln/>
        </p:spPr>
        <p:txBody>
          <a:bodyPr wrap="none" lIns="0" tIns="0" rIns="0" bIns="0" rtlCol="0" anchor="t">
            <a:normAutofit/>
          </a:bodyPr>
          <a:lstStyle/>
          <a:p>
            <a:pPr algn="l" indent="0" marL="0">
              <a:lnSpc>
                <a:spcPts val="1440"/>
              </a:lnSpc>
              <a:buNone/>
            </a:pPr>
            <a:r>
              <a:rPr lang="en-US" sz="900" b="1" dirty="0">
                <a:solidFill>
                  <a:srgbClr val="00FF41"/>
                </a:solidFill>
                <a:latin typeface="Courier New" pitchFamily="34" charset="0"/>
                <a:ea typeface="Courier New" pitchFamily="34" charset="-122"/>
                <a:cs typeface="Courier New" pitchFamily="34" charset="-120"/>
              </a:rPr>
              <a:t>PCI-DSS</a:t>
            </a:r>
            <a:endParaRPr lang="en-US" sz="900" dirty="0"/>
          </a:p>
        </p:txBody>
      </p:sp>
      <p:sp>
        <p:nvSpPr>
          <p:cNvPr id="18" name="Text 15"/>
          <p:cNvSpPr/>
          <p:nvPr/>
        </p:nvSpPr>
        <p:spPr>
          <a:xfrm>
            <a:off x="5150644" y="1207517"/>
            <a:ext cx="1270967" cy="142567"/>
          </a:xfrm>
          <a:prstGeom prst="rect">
            <a:avLst/>
          </a:prstGeom>
          <a:noFill/>
          <a:ln/>
        </p:spPr>
        <p:txBody>
          <a:bodyPr wrap="square" lIns="0" tIns="0" rIns="0" bIns="0" rtlCol="0" anchor="t"/>
          <a:lstStyle/>
          <a:p>
            <a:pPr algn="l" indent="0" marL="0">
              <a:lnSpc>
                <a:spcPts val="951"/>
              </a:lnSpc>
              <a:buNone/>
            </a:pPr>
            <a:r>
              <a:rPr lang="en-US" sz="731" dirty="0">
                <a:solidFill>
                  <a:srgbClr val="888888"/>
                </a:solidFill>
                <a:latin typeface="Carlito" pitchFamily="34" charset="0"/>
                <a:ea typeface="Carlito" pitchFamily="34" charset="-122"/>
                <a:cs typeface="Carlito" pitchFamily="34" charset="-120"/>
              </a:rPr>
              <a:t>Payment Card Data Security</a:t>
            </a:r>
            <a:endParaRPr lang="en-US" sz="731" dirty="0"/>
          </a:p>
        </p:txBody>
      </p:sp>
      <p:sp>
        <p:nvSpPr>
          <p:cNvPr id="19" name="Text 16"/>
          <p:cNvSpPr/>
          <p:nvPr/>
        </p:nvSpPr>
        <p:spPr>
          <a:xfrm>
            <a:off x="6682978" y="832247"/>
            <a:ext cx="1971675" cy="674191"/>
          </a:xfrm>
          <a:prstGeom prst="roundRect">
            <a:avLst>
              <a:gd name="adj" fmla="val 14128"/>
            </a:avLst>
          </a:prstGeom>
          <a:solidFill>
            <a:srgbClr val="111111"/>
          </a:solidFill>
          <a:ln w="7144">
            <a:solidFill>
              <a:srgbClr val="00FF41"/>
            </a:solidFill>
            <a:prstDash val="solid"/>
          </a:ln>
        </p:spPr>
        <p:txBody>
          <a:bodyPr wrap="square" rtlCol="0" anchor="ctr"/>
          <a:lstStyle/>
          <a:p>
            <a:pPr indent="0" marL="0">
              <a:buNone/>
            </a:pPr>
            <a:endParaRPr lang="en-US" dirty="0"/>
          </a:p>
        </p:txBody>
      </p:sp>
      <p:sp>
        <p:nvSpPr>
          <p:cNvPr id="20" name="Text 17"/>
          <p:cNvSpPr/>
          <p:nvPr/>
        </p:nvSpPr>
        <p:spPr>
          <a:xfrm>
            <a:off x="6829425" y="1026468"/>
            <a:ext cx="285750" cy="285750"/>
          </a:xfrm>
          <a:prstGeom prst="roundRect">
            <a:avLst>
              <a:gd name="adj" fmla="val 26667"/>
            </a:avLst>
          </a:prstGeom>
          <a:solidFill>
            <a:srgbClr val="00FF41">
              <a:alpha val="10000"/>
            </a:srgbClr>
          </a:solidFill>
          <a:ln/>
        </p:spPr>
        <p:txBody>
          <a:bodyPr wrap="square" rtlCol="0" anchor="ctr"/>
          <a:lstStyle/>
          <a:p>
            <a:pPr indent="0" marL="0">
              <a:buNone/>
            </a:pPr>
            <a:endParaRPr lang="en-US" dirty="0"/>
          </a:p>
        </p:txBody>
      </p:sp>
      <p:sp>
        <p:nvSpPr>
          <p:cNvPr id="21" name="Text 18"/>
          <p:cNvSpPr/>
          <p:nvPr/>
        </p:nvSpPr>
        <p:spPr>
          <a:xfrm>
            <a:off x="6858357" y="1055400"/>
            <a:ext cx="227886" cy="227886"/>
          </a:xfrm>
          <a:prstGeom prst="rect">
            <a:avLst/>
          </a:prstGeom>
          <a:noFill/>
          <a:ln/>
        </p:spPr>
        <p:txBody>
          <a:bodyPr wrap="none" lIns="0" tIns="0" rIns="0" bIns="0" rtlCol="0" anchor="ctr"/>
          <a:lstStyle/>
          <a:p>
            <a:pPr algn="ctr" indent="0" marL="0">
              <a:buNone/>
            </a:pPr>
            <a:r>
              <a:rPr lang="en-US" sz="1547" dirty="0">
                <a:solidFill>
                  <a:srgbClr val="00FF41"/>
                </a:solidFill>
                <a:latin typeface="Segoe UI Symbol" pitchFamily="34" charset="0"/>
                <a:ea typeface="Segoe UI Symbol" pitchFamily="34" charset="-122"/>
                <a:cs typeface="Segoe UI Symbol" pitchFamily="34" charset="-120"/>
              </a:rPr>
              <a:t>✚</a:t>
            </a:r>
            <a:endParaRPr lang="en-US" sz="1547" dirty="0"/>
          </a:p>
        </p:txBody>
      </p:sp>
      <p:sp>
        <p:nvSpPr>
          <p:cNvPr id="22" name="Text 19"/>
          <p:cNvSpPr/>
          <p:nvPr/>
        </p:nvSpPr>
        <p:spPr>
          <a:xfrm>
            <a:off x="7215188" y="1010394"/>
            <a:ext cx="1293019" cy="169691"/>
          </a:xfrm>
          <a:prstGeom prst="rect">
            <a:avLst/>
          </a:prstGeom>
          <a:noFill/>
          <a:ln/>
        </p:spPr>
        <p:txBody>
          <a:bodyPr wrap="none" lIns="0" tIns="0" rIns="0" bIns="0" rtlCol="0" anchor="t">
            <a:normAutofit/>
          </a:bodyPr>
          <a:lstStyle/>
          <a:p>
            <a:pPr algn="l" indent="0" marL="0">
              <a:lnSpc>
                <a:spcPts val="1440"/>
              </a:lnSpc>
              <a:buNone/>
            </a:pPr>
            <a:r>
              <a:rPr lang="en-US" sz="900" b="1" dirty="0">
                <a:solidFill>
                  <a:srgbClr val="00FF41"/>
                </a:solidFill>
                <a:latin typeface="Courier New" pitchFamily="34" charset="0"/>
                <a:ea typeface="Courier New" pitchFamily="34" charset="-122"/>
                <a:cs typeface="Courier New" pitchFamily="34" charset="-120"/>
              </a:rPr>
              <a:t>HIPAA</a:t>
            </a:r>
            <a:endParaRPr lang="en-US" sz="900" dirty="0"/>
          </a:p>
        </p:txBody>
      </p:sp>
      <p:sp>
        <p:nvSpPr>
          <p:cNvPr id="23" name="Text 20"/>
          <p:cNvSpPr/>
          <p:nvPr/>
        </p:nvSpPr>
        <p:spPr>
          <a:xfrm>
            <a:off x="7215188" y="1207517"/>
            <a:ext cx="1176214" cy="142567"/>
          </a:xfrm>
          <a:prstGeom prst="rect">
            <a:avLst/>
          </a:prstGeom>
          <a:noFill/>
          <a:ln/>
        </p:spPr>
        <p:txBody>
          <a:bodyPr wrap="square" lIns="0" tIns="0" rIns="0" bIns="0" rtlCol="0" anchor="t"/>
          <a:lstStyle/>
          <a:p>
            <a:pPr algn="l" indent="0" marL="0">
              <a:lnSpc>
                <a:spcPts val="951"/>
              </a:lnSpc>
              <a:buNone/>
            </a:pPr>
            <a:r>
              <a:rPr lang="en-US" sz="731" dirty="0">
                <a:solidFill>
                  <a:srgbClr val="888888"/>
                </a:solidFill>
                <a:latin typeface="Carlito" pitchFamily="34" charset="0"/>
                <a:ea typeface="Carlito" pitchFamily="34" charset="-122"/>
                <a:cs typeface="Carlito" pitchFamily="34" charset="-120"/>
              </a:rPr>
              <a:t>Health Information Privacy</a:t>
            </a:r>
            <a:endParaRPr lang="en-US" sz="731" dirty="0"/>
          </a:p>
        </p:txBody>
      </p:sp>
      <p:sp>
        <p:nvSpPr>
          <p:cNvPr id="24" name="Text 21"/>
          <p:cNvSpPr/>
          <p:nvPr/>
        </p:nvSpPr>
        <p:spPr>
          <a:xfrm>
            <a:off x="489347" y="1613595"/>
            <a:ext cx="2659819" cy="553529"/>
          </a:xfrm>
          <a:prstGeom prst="roundRect">
            <a:avLst>
              <a:gd name="adj" fmla="val 17208"/>
            </a:avLst>
          </a:prstGeom>
          <a:solidFill>
            <a:srgbClr val="111111"/>
          </a:solidFill>
          <a:ln w="7144">
            <a:solidFill>
              <a:srgbClr val="00FF41"/>
            </a:solidFill>
            <a:prstDash val="solid"/>
          </a:ln>
        </p:spPr>
        <p:txBody>
          <a:bodyPr wrap="square" rtlCol="0" anchor="ctr"/>
          <a:lstStyle/>
          <a:p>
            <a:pPr indent="0" marL="0">
              <a:buNone/>
            </a:pPr>
            <a:endParaRPr lang="en-US" dirty="0"/>
          </a:p>
        </p:txBody>
      </p:sp>
      <p:sp>
        <p:nvSpPr>
          <p:cNvPr id="25" name="Text 22"/>
          <p:cNvSpPr/>
          <p:nvPr/>
        </p:nvSpPr>
        <p:spPr>
          <a:xfrm>
            <a:off x="635794" y="1747428"/>
            <a:ext cx="285750" cy="285750"/>
          </a:xfrm>
          <a:prstGeom prst="roundRect">
            <a:avLst>
              <a:gd name="adj" fmla="val 26667"/>
            </a:avLst>
          </a:prstGeom>
          <a:solidFill>
            <a:srgbClr val="00FF41">
              <a:alpha val="10000"/>
            </a:srgbClr>
          </a:solidFill>
          <a:ln/>
        </p:spPr>
        <p:txBody>
          <a:bodyPr wrap="square" rtlCol="0" anchor="ctr"/>
          <a:lstStyle/>
          <a:p>
            <a:pPr indent="0" marL="0">
              <a:buNone/>
            </a:pPr>
            <a:endParaRPr lang="en-US" dirty="0"/>
          </a:p>
        </p:txBody>
      </p:sp>
      <p:sp>
        <p:nvSpPr>
          <p:cNvPr id="26" name="Text 23"/>
          <p:cNvSpPr/>
          <p:nvPr/>
        </p:nvSpPr>
        <p:spPr>
          <a:xfrm>
            <a:off x="664726" y="1776360"/>
            <a:ext cx="227886" cy="227886"/>
          </a:xfrm>
          <a:prstGeom prst="rect">
            <a:avLst/>
          </a:prstGeom>
          <a:noFill/>
          <a:ln/>
        </p:spPr>
        <p:txBody>
          <a:bodyPr wrap="none" lIns="0" tIns="0" rIns="0" bIns="0" rtlCol="0" anchor="ctr"/>
          <a:lstStyle/>
          <a:p>
            <a:pPr algn="ctr" indent="0" marL="0">
              <a:buNone/>
            </a:pPr>
            <a:r>
              <a:rPr lang="en-US" sz="1547" dirty="0">
                <a:solidFill>
                  <a:srgbClr val="00FF41"/>
                </a:solidFill>
                <a:latin typeface="Segoe UI Symbol" pitchFamily="34" charset="0"/>
                <a:ea typeface="Segoe UI Symbol" pitchFamily="34" charset="-122"/>
                <a:cs typeface="Segoe UI Symbol" pitchFamily="34" charset="-120"/>
              </a:rPr>
              <a:t>⚖</a:t>
            </a:r>
            <a:endParaRPr lang="en-US" sz="1547" dirty="0"/>
          </a:p>
        </p:txBody>
      </p:sp>
      <p:sp>
        <p:nvSpPr>
          <p:cNvPr id="27" name="Text 24"/>
          <p:cNvSpPr/>
          <p:nvPr/>
        </p:nvSpPr>
        <p:spPr>
          <a:xfrm>
            <a:off x="1021556" y="1731466"/>
            <a:ext cx="1753737" cy="169691"/>
          </a:xfrm>
          <a:prstGeom prst="rect">
            <a:avLst/>
          </a:prstGeom>
          <a:noFill/>
          <a:ln/>
        </p:spPr>
        <p:txBody>
          <a:bodyPr wrap="none" lIns="0" tIns="0" rIns="0" bIns="0" rtlCol="0" anchor="t">
            <a:normAutofit/>
          </a:bodyPr>
          <a:lstStyle/>
          <a:p>
            <a:pPr algn="l" indent="0" marL="0">
              <a:lnSpc>
                <a:spcPts val="1440"/>
              </a:lnSpc>
              <a:buNone/>
            </a:pPr>
            <a:r>
              <a:rPr lang="en-US" sz="900" b="1" dirty="0">
                <a:solidFill>
                  <a:srgbClr val="00FF41"/>
                </a:solidFill>
                <a:latin typeface="Courier New" pitchFamily="34" charset="0"/>
                <a:ea typeface="Courier New" pitchFamily="34" charset="-122"/>
                <a:cs typeface="Courier New" pitchFamily="34" charset="-120"/>
              </a:rPr>
              <a:t>GDPR</a:t>
            </a:r>
            <a:endParaRPr lang="en-US" sz="900" dirty="0"/>
          </a:p>
        </p:txBody>
      </p:sp>
      <p:sp>
        <p:nvSpPr>
          <p:cNvPr id="28" name="Text 25"/>
          <p:cNvSpPr/>
          <p:nvPr/>
        </p:nvSpPr>
        <p:spPr>
          <a:xfrm>
            <a:off x="1021556" y="1928589"/>
            <a:ext cx="1198757" cy="120662"/>
          </a:xfrm>
          <a:prstGeom prst="rect">
            <a:avLst/>
          </a:prstGeom>
          <a:noFill/>
          <a:ln/>
        </p:spPr>
        <p:txBody>
          <a:bodyPr wrap="square" lIns="0" tIns="0" rIns="0" bIns="0" rtlCol="0" anchor="t"/>
          <a:lstStyle/>
          <a:p>
            <a:pPr algn="l" indent="0" marL="0">
              <a:lnSpc>
                <a:spcPts val="951"/>
              </a:lnSpc>
              <a:buNone/>
            </a:pPr>
            <a:r>
              <a:rPr lang="en-US" sz="731" dirty="0">
                <a:solidFill>
                  <a:srgbClr val="888888"/>
                </a:solidFill>
                <a:latin typeface="Carlito" pitchFamily="34" charset="0"/>
                <a:ea typeface="Carlito" pitchFamily="34" charset="-122"/>
                <a:cs typeface="Carlito" pitchFamily="34" charset="-120"/>
              </a:rPr>
              <a:t>Data Protection Regulation</a:t>
            </a:r>
            <a:endParaRPr lang="en-US" sz="731" dirty="0"/>
          </a:p>
        </p:txBody>
      </p:sp>
      <p:sp>
        <p:nvSpPr>
          <p:cNvPr id="29" name="Text 26"/>
          <p:cNvSpPr/>
          <p:nvPr/>
        </p:nvSpPr>
        <p:spPr>
          <a:xfrm>
            <a:off x="3242035" y="1613595"/>
            <a:ext cx="2659819" cy="553529"/>
          </a:xfrm>
          <a:prstGeom prst="roundRect">
            <a:avLst>
              <a:gd name="adj" fmla="val 17208"/>
            </a:avLst>
          </a:prstGeom>
          <a:solidFill>
            <a:srgbClr val="111111"/>
          </a:solidFill>
          <a:ln w="7144">
            <a:solidFill>
              <a:srgbClr val="00FF41"/>
            </a:solidFill>
            <a:prstDash val="solid"/>
          </a:ln>
        </p:spPr>
        <p:txBody>
          <a:bodyPr wrap="square" rtlCol="0" anchor="ctr"/>
          <a:lstStyle/>
          <a:p>
            <a:pPr indent="0" marL="0">
              <a:buNone/>
            </a:pPr>
            <a:endParaRPr lang="en-US" dirty="0"/>
          </a:p>
        </p:txBody>
      </p:sp>
      <p:sp>
        <p:nvSpPr>
          <p:cNvPr id="30" name="Text 27"/>
          <p:cNvSpPr/>
          <p:nvPr/>
        </p:nvSpPr>
        <p:spPr>
          <a:xfrm>
            <a:off x="3388482" y="1747428"/>
            <a:ext cx="285750" cy="285750"/>
          </a:xfrm>
          <a:prstGeom prst="roundRect">
            <a:avLst>
              <a:gd name="adj" fmla="val 26667"/>
            </a:avLst>
          </a:prstGeom>
          <a:solidFill>
            <a:srgbClr val="00FF41">
              <a:alpha val="10000"/>
            </a:srgbClr>
          </a:solidFill>
          <a:ln/>
        </p:spPr>
        <p:txBody>
          <a:bodyPr wrap="square" rtlCol="0" anchor="ctr"/>
          <a:lstStyle/>
          <a:p>
            <a:pPr indent="0" marL="0">
              <a:buNone/>
            </a:pPr>
            <a:endParaRPr lang="en-US" dirty="0"/>
          </a:p>
        </p:txBody>
      </p:sp>
      <p:sp>
        <p:nvSpPr>
          <p:cNvPr id="31" name="Text 28"/>
          <p:cNvSpPr/>
          <p:nvPr/>
        </p:nvSpPr>
        <p:spPr>
          <a:xfrm>
            <a:off x="3417414" y="1776360"/>
            <a:ext cx="227886" cy="227886"/>
          </a:xfrm>
          <a:prstGeom prst="rect">
            <a:avLst/>
          </a:prstGeom>
          <a:noFill/>
          <a:ln/>
        </p:spPr>
        <p:txBody>
          <a:bodyPr wrap="none" lIns="0" tIns="0" rIns="0" bIns="0" rtlCol="0" anchor="ctr"/>
          <a:lstStyle/>
          <a:p>
            <a:pPr algn="ctr" indent="0" marL="0">
              <a:buNone/>
            </a:pPr>
            <a:r>
              <a:rPr lang="en-US" sz="1547" dirty="0">
                <a:solidFill>
                  <a:srgbClr val="00FF41"/>
                </a:solidFill>
                <a:latin typeface="Segoe UI Symbol" pitchFamily="34" charset="0"/>
                <a:ea typeface="Segoe UI Symbol" pitchFamily="34" charset="-122"/>
                <a:cs typeface="Segoe UI Symbol" pitchFamily="34" charset="-120"/>
              </a:rPr>
              <a:t>⛨</a:t>
            </a:r>
            <a:endParaRPr lang="en-US" sz="1547" dirty="0"/>
          </a:p>
        </p:txBody>
      </p:sp>
      <p:sp>
        <p:nvSpPr>
          <p:cNvPr id="32" name="Text 29"/>
          <p:cNvSpPr/>
          <p:nvPr/>
        </p:nvSpPr>
        <p:spPr>
          <a:xfrm>
            <a:off x="3774244" y="1731466"/>
            <a:ext cx="1306760" cy="169691"/>
          </a:xfrm>
          <a:prstGeom prst="rect">
            <a:avLst/>
          </a:prstGeom>
          <a:noFill/>
          <a:ln/>
        </p:spPr>
        <p:txBody>
          <a:bodyPr wrap="none" lIns="0" tIns="0" rIns="0" bIns="0" rtlCol="0" anchor="t">
            <a:normAutofit/>
          </a:bodyPr>
          <a:lstStyle/>
          <a:p>
            <a:pPr algn="l" indent="0" marL="0">
              <a:lnSpc>
                <a:spcPts val="1440"/>
              </a:lnSpc>
              <a:buNone/>
            </a:pPr>
            <a:r>
              <a:rPr lang="en-US" sz="900" b="1" dirty="0">
                <a:solidFill>
                  <a:srgbClr val="00FF41"/>
                </a:solidFill>
                <a:latin typeface="Courier New" pitchFamily="34" charset="0"/>
                <a:ea typeface="Courier New" pitchFamily="34" charset="-122"/>
                <a:cs typeface="Courier New" pitchFamily="34" charset="-120"/>
              </a:rPr>
              <a:t>CIS Controls</a:t>
            </a:r>
            <a:endParaRPr lang="en-US" sz="900" dirty="0"/>
          </a:p>
        </p:txBody>
      </p:sp>
      <p:sp>
        <p:nvSpPr>
          <p:cNvPr id="33" name="Text 30"/>
          <p:cNvSpPr/>
          <p:nvPr/>
        </p:nvSpPr>
        <p:spPr>
          <a:xfrm>
            <a:off x="3774244" y="1928589"/>
            <a:ext cx="1204182" cy="120662"/>
          </a:xfrm>
          <a:prstGeom prst="rect">
            <a:avLst/>
          </a:prstGeom>
          <a:noFill/>
          <a:ln/>
        </p:spPr>
        <p:txBody>
          <a:bodyPr wrap="square" lIns="0" tIns="0" rIns="0" bIns="0" rtlCol="0" anchor="t"/>
          <a:lstStyle/>
          <a:p>
            <a:pPr algn="l" indent="0" marL="0">
              <a:lnSpc>
                <a:spcPts val="951"/>
              </a:lnSpc>
              <a:buNone/>
            </a:pPr>
            <a:r>
              <a:rPr lang="en-US" sz="731" dirty="0">
                <a:solidFill>
                  <a:srgbClr val="888888"/>
                </a:solidFill>
                <a:latin typeface="Carlito" pitchFamily="34" charset="0"/>
                <a:ea typeface="Carlito" pitchFamily="34" charset="-122"/>
                <a:cs typeface="Carlito" pitchFamily="34" charset="-120"/>
              </a:rPr>
              <a:t>Center for Internet Security</a:t>
            </a:r>
            <a:endParaRPr lang="en-US" sz="731" dirty="0"/>
          </a:p>
        </p:txBody>
      </p:sp>
      <p:sp>
        <p:nvSpPr>
          <p:cNvPr id="34" name="Text 31"/>
          <p:cNvSpPr/>
          <p:nvPr/>
        </p:nvSpPr>
        <p:spPr>
          <a:xfrm>
            <a:off x="5994722" y="1613595"/>
            <a:ext cx="2659931" cy="553529"/>
          </a:xfrm>
          <a:prstGeom prst="roundRect">
            <a:avLst>
              <a:gd name="adj" fmla="val 17208"/>
            </a:avLst>
          </a:prstGeom>
          <a:solidFill>
            <a:srgbClr val="111111"/>
          </a:solidFill>
          <a:ln w="7144">
            <a:solidFill>
              <a:srgbClr val="00FF41"/>
            </a:solidFill>
            <a:prstDash val="solid"/>
          </a:ln>
        </p:spPr>
        <p:txBody>
          <a:bodyPr wrap="square" rtlCol="0" anchor="ctr"/>
          <a:lstStyle/>
          <a:p>
            <a:pPr indent="0" marL="0">
              <a:buNone/>
            </a:pPr>
            <a:endParaRPr lang="en-US" dirty="0"/>
          </a:p>
        </p:txBody>
      </p:sp>
      <p:sp>
        <p:nvSpPr>
          <p:cNvPr id="35" name="Text 32"/>
          <p:cNvSpPr/>
          <p:nvPr/>
        </p:nvSpPr>
        <p:spPr>
          <a:xfrm>
            <a:off x="6141169" y="1747428"/>
            <a:ext cx="285750" cy="285750"/>
          </a:xfrm>
          <a:prstGeom prst="roundRect">
            <a:avLst>
              <a:gd name="adj" fmla="val 26667"/>
            </a:avLst>
          </a:prstGeom>
          <a:solidFill>
            <a:srgbClr val="00FF41">
              <a:alpha val="10000"/>
            </a:srgbClr>
          </a:solidFill>
          <a:ln/>
        </p:spPr>
        <p:txBody>
          <a:bodyPr wrap="square" rtlCol="0" anchor="ctr"/>
          <a:lstStyle/>
          <a:p>
            <a:pPr indent="0" marL="0">
              <a:buNone/>
            </a:pPr>
            <a:endParaRPr lang="en-US" dirty="0"/>
          </a:p>
        </p:txBody>
      </p:sp>
      <p:sp>
        <p:nvSpPr>
          <p:cNvPr id="36" name="Text 33"/>
          <p:cNvSpPr/>
          <p:nvPr/>
        </p:nvSpPr>
        <p:spPr>
          <a:xfrm>
            <a:off x="6170102" y="1776360"/>
            <a:ext cx="227886" cy="227886"/>
          </a:xfrm>
          <a:prstGeom prst="rect">
            <a:avLst/>
          </a:prstGeom>
          <a:noFill/>
          <a:ln/>
        </p:spPr>
        <p:txBody>
          <a:bodyPr wrap="none" lIns="0" tIns="0" rIns="0" bIns="0" rtlCol="0" anchor="ctr"/>
          <a:lstStyle/>
          <a:p>
            <a:pPr algn="ctr" indent="0" marL="0">
              <a:buNone/>
            </a:pPr>
            <a:r>
              <a:rPr lang="en-US" sz="1547" dirty="0">
                <a:solidFill>
                  <a:srgbClr val="00FF41"/>
                </a:solidFill>
                <a:latin typeface="Segoe UI Symbol" pitchFamily="34" charset="0"/>
                <a:ea typeface="Segoe UI Symbol" pitchFamily="34" charset="-122"/>
                <a:cs typeface="Segoe UI Symbol" pitchFamily="34" charset="-120"/>
              </a:rPr>
              <a:t>🏛</a:t>
            </a:r>
            <a:endParaRPr lang="en-US" sz="1547" dirty="0"/>
          </a:p>
        </p:txBody>
      </p:sp>
      <p:sp>
        <p:nvSpPr>
          <p:cNvPr id="37" name="Text 34"/>
          <p:cNvSpPr/>
          <p:nvPr/>
        </p:nvSpPr>
        <p:spPr>
          <a:xfrm>
            <a:off x="6526932" y="1731466"/>
            <a:ext cx="1354169" cy="169691"/>
          </a:xfrm>
          <a:prstGeom prst="rect">
            <a:avLst/>
          </a:prstGeom>
          <a:noFill/>
          <a:ln/>
        </p:spPr>
        <p:txBody>
          <a:bodyPr wrap="none" lIns="0" tIns="0" rIns="0" bIns="0" rtlCol="0" anchor="t">
            <a:normAutofit/>
          </a:bodyPr>
          <a:lstStyle/>
          <a:p>
            <a:pPr algn="l" indent="0" marL="0">
              <a:lnSpc>
                <a:spcPts val="1440"/>
              </a:lnSpc>
              <a:buNone/>
            </a:pPr>
            <a:r>
              <a:rPr lang="en-US" sz="900" b="1" dirty="0">
                <a:solidFill>
                  <a:srgbClr val="00FF41"/>
                </a:solidFill>
                <a:latin typeface="Courier New" pitchFamily="34" charset="0"/>
                <a:ea typeface="Courier New" pitchFamily="34" charset="-122"/>
                <a:cs typeface="Courier New" pitchFamily="34" charset="-120"/>
              </a:rPr>
              <a:t>NIST CSF</a:t>
            </a:r>
            <a:endParaRPr lang="en-US" sz="900" dirty="0"/>
          </a:p>
        </p:txBody>
      </p:sp>
      <p:sp>
        <p:nvSpPr>
          <p:cNvPr id="38" name="Text 35"/>
          <p:cNvSpPr/>
          <p:nvPr/>
        </p:nvSpPr>
        <p:spPr>
          <a:xfrm>
            <a:off x="6526932" y="1928589"/>
            <a:ext cx="1163739" cy="120662"/>
          </a:xfrm>
          <a:prstGeom prst="rect">
            <a:avLst/>
          </a:prstGeom>
          <a:noFill/>
          <a:ln/>
        </p:spPr>
        <p:txBody>
          <a:bodyPr wrap="none" lIns="0" tIns="0" rIns="0" bIns="0" rtlCol="0" anchor="t"/>
          <a:lstStyle/>
          <a:p>
            <a:pPr algn="l" indent="0" marL="0">
              <a:lnSpc>
                <a:spcPts val="951"/>
              </a:lnSpc>
              <a:buNone/>
            </a:pPr>
            <a:r>
              <a:rPr lang="en-US" sz="731" dirty="0">
                <a:solidFill>
                  <a:srgbClr val="888888"/>
                </a:solidFill>
                <a:latin typeface="Carlito" pitchFamily="34" charset="0"/>
                <a:ea typeface="Carlito" pitchFamily="34" charset="-122"/>
                <a:cs typeface="Carlito" pitchFamily="34" charset="-120"/>
              </a:rPr>
              <a:t>Cybersecurity Framework</a:t>
            </a:r>
            <a:endParaRPr lang="en-US" sz="731" dirty="0"/>
          </a:p>
        </p:txBody>
      </p:sp>
      <p:sp>
        <p:nvSpPr>
          <p:cNvPr id="39" name="Text 36"/>
          <p:cNvSpPr/>
          <p:nvPr/>
        </p:nvSpPr>
        <p:spPr>
          <a:xfrm>
            <a:off x="485775" y="2342145"/>
            <a:ext cx="6429375" cy="394924"/>
          </a:xfrm>
          <a:prstGeom prst="rect">
            <a:avLst/>
          </a:prstGeom>
          <a:noFill/>
          <a:ln/>
        </p:spPr>
        <p:txBody>
          <a:bodyPr wrap="square" lIns="0" tIns="0" rIns="0" bIns="0" rtlCol="0" anchor="t"/>
          <a:lstStyle/>
          <a:p>
            <a:pPr algn="l" indent="0" marL="0">
              <a:lnSpc>
                <a:spcPts val="1440"/>
              </a:lnSpc>
              <a:buNone/>
            </a:pPr>
            <a:r>
              <a:rPr lang="en-US" sz="900" dirty="0">
                <a:solidFill>
                  <a:srgbClr val="E0E0E0"/>
                </a:solidFill>
                <a:latin typeface="Carlito" pitchFamily="34" charset="0"/>
                <a:ea typeface="Carlito" pitchFamily="34" charset="-122"/>
                <a:cs typeface="Carlito" pitchFamily="34" charset="-120"/>
              </a:rPr>
              <a:t>ReconPro's </a:t>
            </a:r>
            <a:pPr algn="l" indent="0" marL="0">
              <a:lnSpc>
                <a:spcPts val="1440"/>
              </a:lnSpc>
              <a:buNone/>
            </a:pPr>
            <a:r>
              <a:rPr lang="en-US" sz="900" b="1" dirty="0">
                <a:solidFill>
                  <a:srgbClr val="00FF41"/>
                </a:solidFill>
                <a:latin typeface="Courier New" pitchFamily="34" charset="0"/>
                <a:ea typeface="Courier New" pitchFamily="34" charset="-122"/>
                <a:cs typeface="Courier New" pitchFamily="34" charset="-120"/>
              </a:rPr>
              <a:t>ComplianceMapper</a:t>
            </a:r>
            <a:pPr algn="l" indent="0" marL="0">
              <a:lnSpc>
                <a:spcPts val="1440"/>
              </a:lnSpc>
              <a:buNone/>
            </a:pPr>
            <a:r>
              <a:rPr lang="en-US" sz="900" dirty="0">
                <a:solidFill>
                  <a:srgbClr val="E0E0E0"/>
                </a:solidFill>
                <a:latin typeface="Carlito" pitchFamily="34" charset="0"/>
                <a:ea typeface="Carlito" pitchFamily="34" charset="-122"/>
                <a:cs typeface="Carlito" pitchFamily="34" charset="-120"/>
              </a:rPr>
              <a:t> automatically maps every finding to relevant framework controls. Run a scan, get a compliance report. No manual cross-referencing.</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6294330" y="1785938"/>
            <a:ext cx="2849670" cy="1697355"/>
          </a:xfrm>
          <a:prstGeom prst="rect">
            <a:avLst/>
          </a:prstGeom>
          <a:noFill/>
          <a:ln/>
        </p:spPr>
        <p:txBody>
          <a:bodyPr wrap="none" lIns="0" tIns="0" rIns="0" bIns="0" rtlCol="0" anchor="t"/>
          <a:lstStyle/>
          <a:p>
            <a:pPr algn="l" indent="0" marL="0">
              <a:lnSpc>
                <a:spcPts val="12375"/>
              </a:lnSpc>
              <a:buNone/>
            </a:pPr>
            <a:r>
              <a:rPr lang="en-US" sz="12375" dirty="0">
                <a:solidFill>
                  <a:srgbClr val="00FF41">
                    <a:alpha val="7000"/>
                  </a:srgbClr>
                </a:solidFill>
                <a:latin typeface="Liberation Sans Narrow" pitchFamily="34" charset="0"/>
                <a:ea typeface="Liberation Sans Narrow" pitchFamily="34" charset="-122"/>
                <a:cs typeface="Liberation Sans Narrow" pitchFamily="34" charset="-120"/>
              </a:rPr>
              <a:t>03</a:t>
            </a:r>
            <a:endParaRPr lang="en-US" sz="12375" dirty="0"/>
          </a:p>
        </p:txBody>
      </p:sp>
      <p:sp>
        <p:nvSpPr>
          <p:cNvPr id="3" name="Text 1"/>
          <p:cNvSpPr/>
          <p:nvPr/>
        </p:nvSpPr>
        <p:spPr>
          <a:xfrm>
            <a:off x="0" y="0"/>
            <a:ext cx="9144000" cy="14288"/>
          </a:xfrm>
          <a:prstGeom prst="rect">
            <a:avLst/>
          </a:prstGeom>
          <a:solidFill>
            <a:srgbClr val="00FF41">
              <a:alpha val="6000"/>
            </a:srgbClr>
          </a:solidFill>
          <a:ln/>
        </p:spPr>
        <p:txBody>
          <a:bodyPr wrap="square" rtlCol="0" anchor="ctr"/>
          <a:lstStyle/>
          <a:p>
            <a:pPr indent="0" marL="0">
              <a:buNone/>
            </a:pPr>
            <a:endParaRPr lang="en-US" dirty="0"/>
          </a:p>
        </p:txBody>
      </p:sp>
      <p:sp>
        <p:nvSpPr>
          <p:cNvPr id="4" name="Text 2"/>
          <p:cNvSpPr/>
          <p:nvPr/>
        </p:nvSpPr>
        <p:spPr>
          <a:xfrm>
            <a:off x="0" y="857250"/>
            <a:ext cx="9144000" cy="14288"/>
          </a:xfrm>
          <a:prstGeom prst="rect">
            <a:avLst/>
          </a:prstGeom>
          <a:solidFill>
            <a:srgbClr val="00FF41">
              <a:alpha val="6000"/>
            </a:srgbClr>
          </a:solidFill>
          <a:ln/>
        </p:spPr>
        <p:txBody>
          <a:bodyPr wrap="square" rtlCol="0" anchor="ctr"/>
          <a:lstStyle/>
          <a:p>
            <a:pPr indent="0" marL="0">
              <a:buNone/>
            </a:pPr>
            <a:endParaRPr lang="en-US" dirty="0"/>
          </a:p>
        </p:txBody>
      </p:sp>
      <p:sp>
        <p:nvSpPr>
          <p:cNvPr id="5" name="Text 3"/>
          <p:cNvSpPr/>
          <p:nvPr/>
        </p:nvSpPr>
        <p:spPr>
          <a:xfrm>
            <a:off x="0" y="2571750"/>
            <a:ext cx="9144000" cy="14288"/>
          </a:xfrm>
          <a:prstGeom prst="rect">
            <a:avLst/>
          </a:prstGeom>
          <a:solidFill>
            <a:srgbClr val="00FF41">
              <a:alpha val="6000"/>
            </a:srgbClr>
          </a:solidFill>
          <a:ln/>
        </p:spPr>
        <p:txBody>
          <a:bodyPr wrap="square" rtlCol="0" anchor="ctr"/>
          <a:lstStyle/>
          <a:p>
            <a:pPr indent="0" marL="0">
              <a:buNone/>
            </a:pPr>
            <a:endParaRPr lang="en-US" dirty="0"/>
          </a:p>
        </p:txBody>
      </p:sp>
      <p:sp>
        <p:nvSpPr>
          <p:cNvPr id="6" name="Text 4"/>
          <p:cNvSpPr/>
          <p:nvPr/>
        </p:nvSpPr>
        <p:spPr>
          <a:xfrm>
            <a:off x="0" y="4286250"/>
            <a:ext cx="9144000" cy="14288"/>
          </a:xfrm>
          <a:prstGeom prst="rect">
            <a:avLst/>
          </a:prstGeom>
          <a:solidFill>
            <a:srgbClr val="00FF41">
              <a:alpha val="6000"/>
            </a:srgbClr>
          </a:solidFill>
          <a:ln/>
        </p:spPr>
        <p:txBody>
          <a:bodyPr wrap="square" rtlCol="0" anchor="ctr"/>
          <a:lstStyle/>
          <a:p>
            <a:pPr indent="0" marL="0">
              <a:buNone/>
            </a:pPr>
            <a:endParaRPr lang="en-US" dirty="0"/>
          </a:p>
        </p:txBody>
      </p:sp>
      <p:sp>
        <p:nvSpPr>
          <p:cNvPr id="7" name="Text 5"/>
          <p:cNvSpPr/>
          <p:nvPr/>
        </p:nvSpPr>
        <p:spPr>
          <a:xfrm>
            <a:off x="571500" y="1964531"/>
            <a:ext cx="1069749" cy="175538"/>
          </a:xfrm>
          <a:prstGeom prst="rect">
            <a:avLst/>
          </a:prstGeom>
          <a:noFill/>
          <a:ln/>
        </p:spPr>
        <p:txBody>
          <a:bodyPr wrap="none" lIns="0" tIns="0" rIns="0" bIns="0" rtlCol="0" anchor="t"/>
          <a:lstStyle/>
          <a:p>
            <a:pPr algn="l" indent="0" marL="0">
              <a:lnSpc>
                <a:spcPts val="1170"/>
              </a:lnSpc>
              <a:buNone/>
            </a:pPr>
            <a:r>
              <a:rPr lang="en-US" sz="800" spc="169" kern="0" dirty="0">
                <a:solidFill>
                  <a:srgbClr val="00FF41"/>
                </a:solidFill>
                <a:latin typeface="Liberation Sans Narrow" pitchFamily="34" charset="0"/>
                <a:ea typeface="Liberation Sans Narrow" pitchFamily="34" charset="-122"/>
                <a:cs typeface="Liberation Sans Narrow" pitchFamily="34" charset="-120"/>
              </a:rPr>
              <a:t>CHAPTER 03</a:t>
            </a:r>
            <a:endParaRPr lang="en-US" sz="800" dirty="0"/>
          </a:p>
        </p:txBody>
      </p:sp>
      <p:sp>
        <p:nvSpPr>
          <p:cNvPr id="8" name="Text 6"/>
          <p:cNvSpPr/>
          <p:nvPr/>
        </p:nvSpPr>
        <p:spPr>
          <a:xfrm>
            <a:off x="526793" y="2255974"/>
            <a:ext cx="2992831" cy="425785"/>
          </a:xfrm>
          <a:prstGeom prst="rect">
            <a:avLst/>
          </a:prstGeom>
          <a:noFill/>
          <a:ln/>
        </p:spPr>
        <p:txBody>
          <a:bodyPr wrap="none" lIns="0" tIns="0" rIns="0" bIns="0" rtlCol="0" anchor="t"/>
          <a:lstStyle/>
          <a:p>
            <a:pPr algn="l" indent="0" marL="0">
              <a:lnSpc>
                <a:spcPts val="3105"/>
              </a:lnSpc>
              <a:buNone/>
            </a:pPr>
            <a:r>
              <a:rPr lang="en-US" sz="2700" dirty="0">
                <a:solidFill>
                  <a:srgbClr val="FFFFFF"/>
                </a:solidFill>
                <a:latin typeface="Courier New" pitchFamily="34" charset="0"/>
                <a:ea typeface="Courier New" pitchFamily="34" charset="-122"/>
                <a:cs typeface="Courier New" pitchFamily="34" charset="-120"/>
              </a:rPr>
              <a:t>THE PLATFORM</a:t>
            </a:r>
            <a:endParaRPr lang="en-US" sz="2700" dirty="0"/>
          </a:p>
        </p:txBody>
      </p:sp>
      <p:sp>
        <p:nvSpPr>
          <p:cNvPr id="9" name="Text 7"/>
          <p:cNvSpPr/>
          <p:nvPr/>
        </p:nvSpPr>
        <p:spPr>
          <a:xfrm>
            <a:off x="571500" y="2778807"/>
            <a:ext cx="571500" cy="14288"/>
          </a:xfrm>
          <a:prstGeom prst="rect">
            <a:avLst/>
          </a:prstGeom>
          <a:solidFill>
            <a:srgbClr val="00FF41"/>
          </a:solidFill>
          <a:ln/>
        </p:spPr>
        <p:txBody>
          <a:bodyPr wrap="square" rtlCol="0" anchor="ctr"/>
          <a:lstStyle/>
          <a:p>
            <a:pPr indent="0" marL="0">
              <a:buNone/>
            </a:pPr>
            <a:endParaRPr lang="en-US" dirty="0"/>
          </a:p>
        </p:txBody>
      </p:sp>
      <p:sp>
        <p:nvSpPr>
          <p:cNvPr id="10" name="Text 8"/>
          <p:cNvSpPr/>
          <p:nvPr/>
        </p:nvSpPr>
        <p:spPr>
          <a:xfrm>
            <a:off x="571500" y="2950257"/>
            <a:ext cx="3379038" cy="246888"/>
          </a:xfrm>
          <a:prstGeom prst="rect">
            <a:avLst/>
          </a:prstGeom>
          <a:noFill/>
          <a:ln/>
        </p:spPr>
        <p:txBody>
          <a:bodyPr wrap="square" lIns="0" tIns="0" rIns="0" bIns="0" rtlCol="0" anchor="t"/>
          <a:lstStyle/>
          <a:p>
            <a:pPr algn="l" indent="0" marL="0">
              <a:lnSpc>
                <a:spcPts val="1800"/>
              </a:lnSpc>
              <a:buNone/>
            </a:pPr>
            <a:r>
              <a:rPr lang="en-US" sz="1125" dirty="0">
                <a:solidFill>
                  <a:srgbClr val="888888"/>
                </a:solidFill>
                <a:latin typeface="Carlito" pitchFamily="34" charset="0"/>
                <a:ea typeface="Carlito" pitchFamily="34" charset="-122"/>
                <a:cs typeface="Carlito" pitchFamily="34" charset="-120"/>
              </a:rPr>
              <a:t>33 commands. 3 operating systems. Zero friction.</a:t>
            </a:r>
            <a:endParaRPr lang="en-US" sz="1125"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457200" y="400050"/>
            <a:ext cx="8636000" cy="356348"/>
          </a:xfrm>
          <a:prstGeom prst="rect">
            <a:avLst/>
          </a:prstGeom>
          <a:noFill/>
          <a:ln/>
          <a:effectLst>
            <a:outerShdw sx="100000" sy="100000" kx="0" ky="0" algn="bl" rotWithShape="0" blurRad="190500" dist="50800" dir="16200000">
              <a:srgbClr val="00FF41">
                <a:alpha val="50000"/>
              </a:srgbClr>
            </a:outerShdw>
          </a:effectLst>
        </p:spPr>
        <p:txBody>
          <a:bodyPr wrap="square" lIns="0" tIns="0" rIns="0" bIns="0" rtlCol="0" anchor="t"/>
          <a:lstStyle/>
          <a:p>
            <a:pPr algn="l" indent="0" marL="0">
              <a:lnSpc>
                <a:spcPts val="2599"/>
              </a:lnSpc>
              <a:buNone/>
            </a:pPr>
            <a:r>
              <a:rPr lang="en-US" sz="2363" b="1" dirty="0">
                <a:solidFill>
                  <a:srgbClr val="00FF41"/>
                </a:solidFill>
                <a:latin typeface="Liberation Sans Narrow" pitchFamily="34" charset="0"/>
                <a:ea typeface="Liberation Sans Narrow" pitchFamily="34" charset="-122"/>
                <a:cs typeface="Liberation Sans Narrow" pitchFamily="34" charset="-120"/>
              </a:rPr>
              <a:t>33 COMMANDS. INFINITE POWER.</a:t>
            </a:r>
            <a:endParaRPr lang="en-US" sz="2363" dirty="0"/>
          </a:p>
        </p:txBody>
      </p:sp>
      <p:sp>
        <p:nvSpPr>
          <p:cNvPr id="3" name="Text 1"/>
          <p:cNvSpPr/>
          <p:nvPr/>
        </p:nvSpPr>
        <p:spPr>
          <a:xfrm>
            <a:off x="460772" y="933599"/>
            <a:ext cx="8222456" cy="3589176"/>
          </a:xfrm>
          <a:prstGeom prst="roundRect">
            <a:avLst>
              <a:gd name="adj" fmla="val 3185"/>
            </a:avLst>
          </a:prstGeom>
          <a:solidFill>
            <a:srgbClr val="111111"/>
          </a:solidFill>
          <a:ln w="7144">
            <a:solidFill>
              <a:srgbClr val="00FF41"/>
            </a:solidFill>
            <a:prstDash val="solid"/>
          </a:ln>
        </p:spPr>
        <p:txBody>
          <a:bodyPr wrap="square" rtlCol="0" anchor="ctr"/>
          <a:lstStyle/>
          <a:p>
            <a:pPr indent="0" marL="0">
              <a:buNone/>
            </a:pPr>
            <a:endParaRPr lang="en-US" dirty="0"/>
          </a:p>
        </p:txBody>
      </p:sp>
      <p:sp>
        <p:nvSpPr>
          <p:cNvPr id="4" name="Text 2"/>
          <p:cNvSpPr/>
          <p:nvPr/>
        </p:nvSpPr>
        <p:spPr>
          <a:xfrm>
            <a:off x="464344" y="937171"/>
            <a:ext cx="8215313" cy="287089"/>
          </a:xfrm>
          <a:prstGeom prst="rect">
            <a:avLst/>
          </a:prstGeom>
          <a:solidFill>
            <a:srgbClr val="1A1A1A"/>
          </a:solidFill>
          <a:ln/>
        </p:spPr>
        <p:txBody>
          <a:bodyPr wrap="square" rtlCol="0" anchor="ctr"/>
          <a:lstStyle/>
          <a:p>
            <a:pPr indent="0" marL="0">
              <a:buNone/>
            </a:pPr>
            <a:endParaRPr lang="en-US" dirty="0"/>
          </a:p>
        </p:txBody>
      </p:sp>
      <p:sp>
        <p:nvSpPr>
          <p:cNvPr id="5" name="Shape 3"/>
          <p:cNvSpPr/>
          <p:nvPr/>
        </p:nvSpPr>
        <p:spPr>
          <a:xfrm>
            <a:off x="464344" y="1220688"/>
            <a:ext cx="8215313" cy="0"/>
          </a:xfrm>
          <a:prstGeom prst="line">
            <a:avLst/>
          </a:prstGeom>
          <a:noFill/>
          <a:ln w="7144">
            <a:solidFill>
              <a:srgbClr val="00FF41"/>
            </a:solidFill>
            <a:prstDash val="solid"/>
          </a:ln>
        </p:spPr>
      </p:sp>
      <p:sp>
        <p:nvSpPr>
          <p:cNvPr id="6" name="Text 4"/>
          <p:cNvSpPr/>
          <p:nvPr/>
        </p:nvSpPr>
        <p:spPr>
          <a:xfrm>
            <a:off x="578644" y="1041425"/>
            <a:ext cx="71438" cy="71438"/>
          </a:xfrm>
          <a:prstGeom prst="ellipse">
            <a:avLst/>
          </a:prstGeom>
          <a:solidFill>
            <a:srgbClr val="FF5F57"/>
          </a:solidFill>
          <a:ln/>
        </p:spPr>
        <p:txBody>
          <a:bodyPr wrap="square" rtlCol="0" anchor="ctr"/>
          <a:lstStyle/>
          <a:p>
            <a:pPr indent="0" marL="0">
              <a:buNone/>
            </a:pPr>
            <a:endParaRPr lang="en-US" dirty="0"/>
          </a:p>
        </p:txBody>
      </p:sp>
      <p:sp>
        <p:nvSpPr>
          <p:cNvPr id="7" name="Text 5"/>
          <p:cNvSpPr/>
          <p:nvPr/>
        </p:nvSpPr>
        <p:spPr>
          <a:xfrm>
            <a:off x="707231" y="1041425"/>
            <a:ext cx="71438" cy="71438"/>
          </a:xfrm>
          <a:prstGeom prst="ellipse">
            <a:avLst/>
          </a:prstGeom>
          <a:solidFill>
            <a:srgbClr val="FEBC2E"/>
          </a:solidFill>
          <a:ln/>
        </p:spPr>
        <p:txBody>
          <a:bodyPr wrap="square" rtlCol="0" anchor="ctr"/>
          <a:lstStyle/>
          <a:p>
            <a:pPr indent="0" marL="0">
              <a:buNone/>
            </a:pPr>
            <a:endParaRPr lang="en-US" dirty="0"/>
          </a:p>
        </p:txBody>
      </p:sp>
      <p:sp>
        <p:nvSpPr>
          <p:cNvPr id="8" name="Text 6"/>
          <p:cNvSpPr/>
          <p:nvPr/>
        </p:nvSpPr>
        <p:spPr>
          <a:xfrm>
            <a:off x="835819" y="1041425"/>
            <a:ext cx="71438" cy="71438"/>
          </a:xfrm>
          <a:prstGeom prst="ellipse">
            <a:avLst/>
          </a:prstGeom>
          <a:solidFill>
            <a:srgbClr val="28C840"/>
          </a:solidFill>
          <a:ln/>
        </p:spPr>
        <p:txBody>
          <a:bodyPr wrap="square" rtlCol="0" anchor="ctr"/>
          <a:lstStyle/>
          <a:p>
            <a:pPr indent="0" marL="0">
              <a:buNone/>
            </a:pPr>
            <a:endParaRPr lang="en-US" dirty="0"/>
          </a:p>
        </p:txBody>
      </p:sp>
      <p:sp>
        <p:nvSpPr>
          <p:cNvPr id="9" name="Text 7"/>
          <p:cNvSpPr/>
          <p:nvPr/>
        </p:nvSpPr>
        <p:spPr>
          <a:xfrm>
            <a:off x="1050131" y="1008608"/>
            <a:ext cx="7515225" cy="137071"/>
          </a:xfrm>
          <a:prstGeom prst="rect">
            <a:avLst/>
          </a:prstGeom>
          <a:noFill/>
          <a:ln/>
        </p:spPr>
        <p:txBody>
          <a:bodyPr wrap="none" lIns="0" tIns="0" rIns="0" bIns="0" rtlCol="0" anchor="t"/>
          <a:lstStyle/>
          <a:p>
            <a:pPr algn="l" indent="0" marL="0">
              <a:lnSpc>
                <a:spcPts val="1080"/>
              </a:lnSpc>
              <a:buNone/>
            </a:pPr>
            <a:r>
              <a:rPr lang="en-US" sz="800" dirty="0">
                <a:solidFill>
                  <a:srgbClr val="888888"/>
                </a:solidFill>
                <a:latin typeface="Courier New" pitchFamily="34" charset="0"/>
                <a:ea typeface="Courier New" pitchFamily="34" charset="-122"/>
                <a:cs typeface="Courier New" pitchFamily="34" charset="-120"/>
              </a:rPr>
              <a:t>reconpro — bash</a:t>
            </a:r>
            <a:endParaRPr lang="en-US" sz="800" dirty="0"/>
          </a:p>
        </p:txBody>
      </p:sp>
      <p:sp>
        <p:nvSpPr>
          <p:cNvPr id="10" name="Text 8"/>
          <p:cNvSpPr/>
          <p:nvPr/>
        </p:nvSpPr>
        <p:spPr>
          <a:xfrm>
            <a:off x="664369" y="1367135"/>
            <a:ext cx="6023610" cy="152501"/>
          </a:xfrm>
          <a:prstGeom prst="rect">
            <a:avLst/>
          </a:prstGeom>
          <a:noFill/>
          <a:ln/>
        </p:spPr>
        <p:txBody>
          <a:bodyPr wrap="none" lIns="0" tIns="0" rIns="0" bIns="0" rtlCol="0" anchor="t">
            <a:normAutofit/>
          </a:bodyPr>
          <a:lstStyle/>
          <a:p>
            <a:pPr algn="l" indent="0" marL="0">
              <a:lnSpc>
                <a:spcPts val="1080"/>
              </a:lnSpc>
              <a:buNone/>
            </a:pPr>
            <a:r>
              <a:rPr lang="en-US" sz="800" spc="113" kern="0" dirty="0">
                <a:solidFill>
                  <a:srgbClr val="888888"/>
                </a:solidFill>
                <a:latin typeface="Courier New" pitchFamily="34" charset="0"/>
                <a:ea typeface="Courier New" pitchFamily="34" charset="-122"/>
                <a:cs typeface="Courier New" pitchFamily="34" charset="-120"/>
              </a:rPr>
              <a:t>CORE</a:t>
            </a:r>
            <a:endParaRPr lang="en-US" sz="800" dirty="0"/>
          </a:p>
        </p:txBody>
      </p:sp>
      <p:sp>
        <p:nvSpPr>
          <p:cNvPr id="11" name="Text 9"/>
          <p:cNvSpPr/>
          <p:nvPr/>
        </p:nvSpPr>
        <p:spPr>
          <a:xfrm>
            <a:off x="664369" y="1547068"/>
            <a:ext cx="4065937" cy="176165"/>
          </a:xfrm>
          <a:prstGeom prst="rect">
            <a:avLst/>
          </a:prstGeom>
          <a:noFill/>
          <a:ln/>
        </p:spPr>
        <p:txBody>
          <a:bodyPr wrap="square" lIns="0" tIns="0" rIns="0" bIns="0" rtlCol="0" anchor="t">
            <a:normAutofit/>
          </a:bodyPr>
          <a:lstStyle/>
          <a:p>
            <a:pPr algn="l" indent="0" marL="0">
              <a:lnSpc>
                <a:spcPts val="1603"/>
              </a:lnSpc>
              <a:buNone/>
            </a:pPr>
            <a:r>
              <a:rPr lang="en-US" sz="844" dirty="0">
                <a:solidFill>
                  <a:srgbClr val="888888"/>
                </a:solidFill>
                <a:latin typeface="Courier New" pitchFamily="34" charset="0"/>
                <a:ea typeface="Courier New" pitchFamily="34" charset="-122"/>
                <a:cs typeface="Courier New" pitchFamily="34" charset="-120"/>
              </a:rPr>
              <a:t>$</a:t>
            </a:r>
            <a:pPr algn="l" indent="0" marL="0">
              <a:lnSpc>
                <a:spcPts val="1603"/>
              </a:lnSpc>
              <a:buNone/>
            </a:pPr>
            <a:r>
              <a:rPr lang="en-US" sz="844" dirty="0">
                <a:solidFill>
                  <a:srgbClr val="00FF41"/>
                </a:solidFill>
                <a:latin typeface="Courier New" pitchFamily="34" charset="0"/>
                <a:ea typeface="Courier New" pitchFamily="34" charset="-122"/>
                <a:cs typeface="Courier New" pitchFamily="34" charset="-120"/>
              </a:rPr>
              <a:t> reconpro scan --target example.com</a:t>
            </a:r>
            <a:endParaRPr lang="en-US" sz="844" dirty="0"/>
          </a:p>
        </p:txBody>
      </p:sp>
      <p:sp>
        <p:nvSpPr>
          <p:cNvPr id="12" name="Text 10"/>
          <p:cNvSpPr/>
          <p:nvPr/>
        </p:nvSpPr>
        <p:spPr>
          <a:xfrm>
            <a:off x="664369" y="1750665"/>
            <a:ext cx="4065937" cy="176165"/>
          </a:xfrm>
          <a:prstGeom prst="rect">
            <a:avLst/>
          </a:prstGeom>
          <a:noFill/>
          <a:ln/>
        </p:spPr>
        <p:txBody>
          <a:bodyPr wrap="square" lIns="0" tIns="0" rIns="0" bIns="0" rtlCol="0" anchor="t">
            <a:normAutofit/>
          </a:bodyPr>
          <a:lstStyle/>
          <a:p>
            <a:pPr algn="l" indent="0" marL="0">
              <a:lnSpc>
                <a:spcPts val="1603"/>
              </a:lnSpc>
              <a:buNone/>
            </a:pPr>
            <a:r>
              <a:rPr lang="en-US" sz="844" dirty="0">
                <a:solidFill>
                  <a:srgbClr val="888888"/>
                </a:solidFill>
                <a:latin typeface="Courier New" pitchFamily="34" charset="0"/>
                <a:ea typeface="Courier New" pitchFamily="34" charset="-122"/>
                <a:cs typeface="Courier New" pitchFamily="34" charset="-120"/>
              </a:rPr>
              <a:t>$</a:t>
            </a:r>
            <a:pPr algn="l" indent="0" marL="0">
              <a:lnSpc>
                <a:spcPts val="1603"/>
              </a:lnSpc>
              <a:buNone/>
            </a:pPr>
            <a:r>
              <a:rPr lang="en-US" sz="844" dirty="0">
                <a:solidFill>
                  <a:srgbClr val="00FF41"/>
                </a:solidFill>
                <a:latin typeface="Courier New" pitchFamily="34" charset="0"/>
                <a:ea typeface="Courier New" pitchFamily="34" charset="-122"/>
                <a:cs typeface="Courier New" pitchFamily="34" charset="-120"/>
              </a:rPr>
              <a:t> reconpro scan --modules gorgon,oblivion</a:t>
            </a:r>
            <a:endParaRPr lang="en-US" sz="844" dirty="0"/>
          </a:p>
        </p:txBody>
      </p:sp>
      <p:sp>
        <p:nvSpPr>
          <p:cNvPr id="13" name="Text 11"/>
          <p:cNvSpPr/>
          <p:nvPr/>
        </p:nvSpPr>
        <p:spPr>
          <a:xfrm>
            <a:off x="664369" y="1954262"/>
            <a:ext cx="4065937" cy="219885"/>
          </a:xfrm>
          <a:prstGeom prst="rect">
            <a:avLst/>
          </a:prstGeom>
          <a:noFill/>
          <a:ln/>
        </p:spPr>
        <p:txBody>
          <a:bodyPr wrap="square" lIns="0" tIns="0" rIns="0" bIns="0" rtlCol="0" anchor="t"/>
          <a:lstStyle/>
          <a:p>
            <a:pPr algn="l" indent="0" marL="0">
              <a:lnSpc>
                <a:spcPts val="1603"/>
              </a:lnSpc>
              <a:buNone/>
            </a:pPr>
            <a:r>
              <a:rPr lang="en-US" sz="844" dirty="0">
                <a:solidFill>
                  <a:srgbClr val="888888"/>
                </a:solidFill>
                <a:latin typeface="Courier New" pitchFamily="34" charset="0"/>
                <a:ea typeface="Courier New" pitchFamily="34" charset="-122"/>
                <a:cs typeface="Courier New" pitchFamily="34" charset="-120"/>
              </a:rPr>
              <a:t>$</a:t>
            </a:r>
            <a:pPr algn="l" indent="0" marL="0">
              <a:lnSpc>
                <a:spcPts val="1603"/>
              </a:lnSpc>
              <a:buNone/>
            </a:pPr>
            <a:r>
              <a:rPr lang="en-US" sz="844" dirty="0">
                <a:solidFill>
                  <a:srgbClr val="00FF41"/>
                </a:solidFill>
                <a:latin typeface="Courier New" pitchFamily="34" charset="0"/>
                <a:ea typeface="Courier New" pitchFamily="34" charset="-122"/>
                <a:cs typeface="Courier New" pitchFamily="34" charset="-120"/>
              </a:rPr>
              <a:t> reconpro report --format json</a:t>
            </a:r>
            <a:endParaRPr lang="en-US" sz="844" dirty="0"/>
          </a:p>
        </p:txBody>
      </p:sp>
      <p:sp>
        <p:nvSpPr>
          <p:cNvPr id="14" name="Text 12"/>
          <p:cNvSpPr/>
          <p:nvPr/>
        </p:nvSpPr>
        <p:spPr>
          <a:xfrm>
            <a:off x="664369" y="2300734"/>
            <a:ext cx="5348307" cy="152501"/>
          </a:xfrm>
          <a:prstGeom prst="rect">
            <a:avLst/>
          </a:prstGeom>
          <a:noFill/>
          <a:ln/>
        </p:spPr>
        <p:txBody>
          <a:bodyPr wrap="none" lIns="0" tIns="0" rIns="0" bIns="0" rtlCol="0" anchor="t">
            <a:normAutofit/>
          </a:bodyPr>
          <a:lstStyle/>
          <a:p>
            <a:pPr algn="l" indent="0" marL="0">
              <a:lnSpc>
                <a:spcPts val="1080"/>
              </a:lnSpc>
              <a:buNone/>
            </a:pPr>
            <a:r>
              <a:rPr lang="en-US" sz="800" spc="113" kern="0" dirty="0">
                <a:solidFill>
                  <a:srgbClr val="888888"/>
                </a:solidFill>
                <a:latin typeface="Courier New" pitchFamily="34" charset="0"/>
                <a:ea typeface="Courier New" pitchFamily="34" charset="-122"/>
                <a:cs typeface="Courier New" pitchFamily="34" charset="-120"/>
              </a:rPr>
              <a:t>MODULES</a:t>
            </a:r>
            <a:endParaRPr lang="en-US" sz="800" dirty="0"/>
          </a:p>
        </p:txBody>
      </p:sp>
      <p:sp>
        <p:nvSpPr>
          <p:cNvPr id="15" name="Text 13"/>
          <p:cNvSpPr/>
          <p:nvPr/>
        </p:nvSpPr>
        <p:spPr>
          <a:xfrm>
            <a:off x="664369" y="2480667"/>
            <a:ext cx="4065937" cy="176165"/>
          </a:xfrm>
          <a:prstGeom prst="rect">
            <a:avLst/>
          </a:prstGeom>
          <a:noFill/>
          <a:ln/>
        </p:spPr>
        <p:txBody>
          <a:bodyPr wrap="square" lIns="0" tIns="0" rIns="0" bIns="0" rtlCol="0" anchor="t">
            <a:normAutofit/>
          </a:bodyPr>
          <a:lstStyle/>
          <a:p>
            <a:pPr algn="l" indent="0" marL="0">
              <a:lnSpc>
                <a:spcPts val="1603"/>
              </a:lnSpc>
              <a:buNone/>
            </a:pPr>
            <a:r>
              <a:rPr lang="en-US" sz="844" dirty="0">
                <a:solidFill>
                  <a:srgbClr val="888888"/>
                </a:solidFill>
                <a:latin typeface="Courier New" pitchFamily="34" charset="0"/>
                <a:ea typeface="Courier New" pitchFamily="34" charset="-122"/>
                <a:cs typeface="Courier New" pitchFamily="34" charset="-120"/>
              </a:rPr>
              <a:t>$</a:t>
            </a:r>
            <a:pPr algn="l" indent="0" marL="0">
              <a:lnSpc>
                <a:spcPts val="1603"/>
              </a:lnSpc>
              <a:buNone/>
            </a:pPr>
            <a:r>
              <a:rPr lang="en-US" sz="844" dirty="0">
                <a:solidFill>
                  <a:srgbClr val="00FF41"/>
                </a:solidFill>
                <a:latin typeface="Courier New" pitchFamily="34" charset="0"/>
                <a:ea typeface="Courier New" pitchFamily="34" charset="-122"/>
                <a:cs typeface="Courier New" pitchFamily="34" charset="-120"/>
              </a:rPr>
              <a:t> reconpro gorgon --target example.com</a:t>
            </a:r>
            <a:endParaRPr lang="en-US" sz="844" dirty="0"/>
          </a:p>
        </p:txBody>
      </p:sp>
      <p:sp>
        <p:nvSpPr>
          <p:cNvPr id="16" name="Text 14"/>
          <p:cNvSpPr/>
          <p:nvPr/>
        </p:nvSpPr>
        <p:spPr>
          <a:xfrm>
            <a:off x="664369" y="2684264"/>
            <a:ext cx="4065937" cy="176165"/>
          </a:xfrm>
          <a:prstGeom prst="rect">
            <a:avLst/>
          </a:prstGeom>
          <a:noFill/>
          <a:ln/>
        </p:spPr>
        <p:txBody>
          <a:bodyPr wrap="square" lIns="0" tIns="0" rIns="0" bIns="0" rtlCol="0" anchor="t">
            <a:normAutofit/>
          </a:bodyPr>
          <a:lstStyle/>
          <a:p>
            <a:pPr algn="l" indent="0" marL="0">
              <a:lnSpc>
                <a:spcPts val="1603"/>
              </a:lnSpc>
              <a:buNone/>
            </a:pPr>
            <a:r>
              <a:rPr lang="en-US" sz="844" dirty="0">
                <a:solidFill>
                  <a:srgbClr val="888888"/>
                </a:solidFill>
                <a:latin typeface="Courier New" pitchFamily="34" charset="0"/>
                <a:ea typeface="Courier New" pitchFamily="34" charset="-122"/>
                <a:cs typeface="Courier New" pitchFamily="34" charset="-120"/>
              </a:rPr>
              <a:t>$</a:t>
            </a:r>
            <a:pPr algn="l" indent="0" marL="0">
              <a:lnSpc>
                <a:spcPts val="1603"/>
              </a:lnSpc>
              <a:buNone/>
            </a:pPr>
            <a:r>
              <a:rPr lang="en-US" sz="844" dirty="0">
                <a:solidFill>
                  <a:srgbClr val="00FF41"/>
                </a:solidFill>
                <a:latin typeface="Courier New" pitchFamily="34" charset="0"/>
                <a:ea typeface="Courier New" pitchFamily="34" charset="-122"/>
                <a:cs typeface="Courier New" pitchFamily="34" charset="-120"/>
              </a:rPr>
              <a:t> reconpro oblivion --url https://example.com</a:t>
            </a:r>
            <a:endParaRPr lang="en-US" sz="844" dirty="0"/>
          </a:p>
        </p:txBody>
      </p:sp>
      <p:sp>
        <p:nvSpPr>
          <p:cNvPr id="17" name="Text 15"/>
          <p:cNvSpPr/>
          <p:nvPr/>
        </p:nvSpPr>
        <p:spPr>
          <a:xfrm>
            <a:off x="664369" y="2887861"/>
            <a:ext cx="4065937" cy="219885"/>
          </a:xfrm>
          <a:prstGeom prst="rect">
            <a:avLst/>
          </a:prstGeom>
          <a:noFill/>
          <a:ln/>
        </p:spPr>
        <p:txBody>
          <a:bodyPr wrap="square" lIns="0" tIns="0" rIns="0" bIns="0" rtlCol="0" anchor="t"/>
          <a:lstStyle/>
          <a:p>
            <a:pPr algn="l" indent="0" marL="0">
              <a:lnSpc>
                <a:spcPts val="1603"/>
              </a:lnSpc>
              <a:buNone/>
            </a:pPr>
            <a:r>
              <a:rPr lang="en-US" sz="844" dirty="0">
                <a:solidFill>
                  <a:srgbClr val="888888"/>
                </a:solidFill>
                <a:latin typeface="Courier New" pitchFamily="34" charset="0"/>
                <a:ea typeface="Courier New" pitchFamily="34" charset="-122"/>
                <a:cs typeface="Courier New" pitchFamily="34" charset="-120"/>
              </a:rPr>
              <a:t>$</a:t>
            </a:r>
            <a:pPr algn="l" indent="0" marL="0">
              <a:lnSpc>
                <a:spcPts val="1603"/>
              </a:lnSpc>
              <a:buNone/>
            </a:pPr>
            <a:r>
              <a:rPr lang="en-US" sz="844" dirty="0">
                <a:solidFill>
                  <a:srgbClr val="00FF41"/>
                </a:solidFill>
                <a:latin typeface="Courier New" pitchFamily="34" charset="0"/>
                <a:ea typeface="Courier New" pitchFamily="34" charset="-122"/>
                <a:cs typeface="Courier New" pitchFamily="34" charset="-120"/>
              </a:rPr>
              <a:t> reconpro pegasus --full-scan</a:t>
            </a:r>
            <a:endParaRPr lang="en-US" sz="844" dirty="0"/>
          </a:p>
        </p:txBody>
      </p:sp>
      <p:sp>
        <p:nvSpPr>
          <p:cNvPr id="18" name="Text 16"/>
          <p:cNvSpPr/>
          <p:nvPr/>
        </p:nvSpPr>
        <p:spPr>
          <a:xfrm>
            <a:off x="4714875" y="1367135"/>
            <a:ext cx="3964781" cy="152501"/>
          </a:xfrm>
          <a:prstGeom prst="rect">
            <a:avLst/>
          </a:prstGeom>
          <a:noFill/>
          <a:ln/>
        </p:spPr>
        <p:txBody>
          <a:bodyPr wrap="none" lIns="0" tIns="0" rIns="0" bIns="0" rtlCol="0" anchor="t">
            <a:normAutofit/>
          </a:bodyPr>
          <a:lstStyle/>
          <a:p>
            <a:pPr algn="l" indent="0" marL="0">
              <a:lnSpc>
                <a:spcPts val="1080"/>
              </a:lnSpc>
              <a:buNone/>
            </a:pPr>
            <a:r>
              <a:rPr lang="en-US" sz="800" spc="113" kern="0" dirty="0">
                <a:solidFill>
                  <a:srgbClr val="888888"/>
                </a:solidFill>
                <a:latin typeface="Courier New" pitchFamily="34" charset="0"/>
                <a:ea typeface="Courier New" pitchFamily="34" charset="-122"/>
                <a:cs typeface="Courier New" pitchFamily="34" charset="-120"/>
              </a:rPr>
              <a:t>TEAM</a:t>
            </a:r>
            <a:endParaRPr lang="en-US" sz="800" dirty="0"/>
          </a:p>
        </p:txBody>
      </p:sp>
      <p:sp>
        <p:nvSpPr>
          <p:cNvPr id="19" name="Text 17"/>
          <p:cNvSpPr/>
          <p:nvPr/>
        </p:nvSpPr>
        <p:spPr>
          <a:xfrm>
            <a:off x="4714875" y="1547068"/>
            <a:ext cx="4065937" cy="176165"/>
          </a:xfrm>
          <a:prstGeom prst="rect">
            <a:avLst/>
          </a:prstGeom>
          <a:noFill/>
          <a:ln/>
        </p:spPr>
        <p:txBody>
          <a:bodyPr wrap="square" lIns="0" tIns="0" rIns="0" bIns="0" rtlCol="0" anchor="t">
            <a:normAutofit/>
          </a:bodyPr>
          <a:lstStyle/>
          <a:p>
            <a:pPr algn="l" indent="0" marL="0">
              <a:lnSpc>
                <a:spcPts val="1603"/>
              </a:lnSpc>
              <a:buNone/>
            </a:pPr>
            <a:r>
              <a:rPr lang="en-US" sz="844" dirty="0">
                <a:solidFill>
                  <a:srgbClr val="888888"/>
                </a:solidFill>
                <a:latin typeface="Courier New" pitchFamily="34" charset="0"/>
                <a:ea typeface="Courier New" pitchFamily="34" charset="-122"/>
                <a:cs typeface="Courier New" pitchFamily="34" charset="-120"/>
              </a:rPr>
              <a:t>$</a:t>
            </a:r>
            <a:pPr algn="l" indent="0" marL="0">
              <a:lnSpc>
                <a:spcPts val="1603"/>
              </a:lnSpc>
              <a:buNone/>
            </a:pPr>
            <a:r>
              <a:rPr lang="en-US" sz="844" dirty="0">
                <a:solidFill>
                  <a:srgbClr val="00FF41"/>
                </a:solidFill>
                <a:latin typeface="Courier New" pitchFamily="34" charset="0"/>
                <a:ea typeface="Courier New" pitchFamily="34" charset="-122"/>
                <a:cs typeface="Courier New" pitchFamily="34" charset="-120"/>
              </a:rPr>
              <a:t> reconpro team add @hacker --role lead</a:t>
            </a:r>
            <a:endParaRPr lang="en-US" sz="844" dirty="0"/>
          </a:p>
        </p:txBody>
      </p:sp>
      <p:sp>
        <p:nvSpPr>
          <p:cNvPr id="20" name="Text 18"/>
          <p:cNvSpPr/>
          <p:nvPr/>
        </p:nvSpPr>
        <p:spPr>
          <a:xfrm>
            <a:off x="4714875" y="1750665"/>
            <a:ext cx="3952994" cy="219885"/>
          </a:xfrm>
          <a:prstGeom prst="rect">
            <a:avLst/>
          </a:prstGeom>
          <a:noFill/>
          <a:ln/>
        </p:spPr>
        <p:txBody>
          <a:bodyPr wrap="none" lIns="0" tIns="0" rIns="0" bIns="0" rtlCol="0" anchor="t"/>
          <a:lstStyle/>
          <a:p>
            <a:pPr algn="l" indent="0" marL="0">
              <a:lnSpc>
                <a:spcPts val="1603"/>
              </a:lnSpc>
              <a:buNone/>
            </a:pPr>
            <a:r>
              <a:rPr lang="en-US" sz="844" dirty="0">
                <a:solidFill>
                  <a:srgbClr val="888888"/>
                </a:solidFill>
                <a:latin typeface="Courier New" pitchFamily="34" charset="0"/>
                <a:ea typeface="Courier New" pitchFamily="34" charset="-122"/>
                <a:cs typeface="Courier New" pitchFamily="34" charset="-120"/>
              </a:rPr>
              <a:t>$</a:t>
            </a:r>
            <a:pPr algn="l" indent="0" marL="0">
              <a:lnSpc>
                <a:spcPts val="1603"/>
              </a:lnSpc>
              <a:buNone/>
            </a:pPr>
            <a:r>
              <a:rPr lang="en-US" sz="844" dirty="0">
                <a:solidFill>
                  <a:srgbClr val="00FF41"/>
                </a:solidFill>
                <a:latin typeface="Courier New" pitchFamily="34" charset="0"/>
                <a:ea typeface="Courier New" pitchFamily="34" charset="-122"/>
                <a:cs typeface="Courier New" pitchFamily="34" charset="-120"/>
              </a:rPr>
              <a:t> reconpro team list</a:t>
            </a:r>
            <a:endParaRPr lang="en-US" sz="844" dirty="0"/>
          </a:p>
        </p:txBody>
      </p:sp>
      <p:sp>
        <p:nvSpPr>
          <p:cNvPr id="21" name="Text 19"/>
          <p:cNvSpPr/>
          <p:nvPr/>
        </p:nvSpPr>
        <p:spPr>
          <a:xfrm>
            <a:off x="4714875" y="2097137"/>
            <a:ext cx="3964781" cy="152501"/>
          </a:xfrm>
          <a:prstGeom prst="rect">
            <a:avLst/>
          </a:prstGeom>
          <a:noFill/>
          <a:ln/>
        </p:spPr>
        <p:txBody>
          <a:bodyPr wrap="none" lIns="0" tIns="0" rIns="0" bIns="0" rtlCol="0" anchor="t">
            <a:normAutofit/>
          </a:bodyPr>
          <a:lstStyle/>
          <a:p>
            <a:pPr algn="l" indent="0" marL="0">
              <a:lnSpc>
                <a:spcPts val="1080"/>
              </a:lnSpc>
              <a:buNone/>
            </a:pPr>
            <a:r>
              <a:rPr lang="en-US" sz="800" spc="113" kern="0" dirty="0">
                <a:solidFill>
                  <a:srgbClr val="888888"/>
                </a:solidFill>
                <a:latin typeface="Courier New" pitchFamily="34" charset="0"/>
                <a:ea typeface="Courier New" pitchFamily="34" charset="-122"/>
                <a:cs typeface="Courier New" pitchFamily="34" charset="-120"/>
              </a:rPr>
              <a:t>INTEGRATIONS</a:t>
            </a:r>
            <a:endParaRPr lang="en-US" sz="800" dirty="0"/>
          </a:p>
        </p:txBody>
      </p:sp>
      <p:sp>
        <p:nvSpPr>
          <p:cNvPr id="22" name="Text 20"/>
          <p:cNvSpPr/>
          <p:nvPr/>
        </p:nvSpPr>
        <p:spPr>
          <a:xfrm>
            <a:off x="4714875" y="2277070"/>
            <a:ext cx="4065937" cy="219885"/>
          </a:xfrm>
          <a:prstGeom prst="rect">
            <a:avLst/>
          </a:prstGeom>
          <a:noFill/>
          <a:ln/>
        </p:spPr>
        <p:txBody>
          <a:bodyPr wrap="square" lIns="0" tIns="0" rIns="0" bIns="0" rtlCol="0" anchor="t"/>
          <a:lstStyle/>
          <a:p>
            <a:pPr algn="l" indent="0" marL="0">
              <a:lnSpc>
                <a:spcPts val="1603"/>
              </a:lnSpc>
              <a:buNone/>
            </a:pPr>
            <a:r>
              <a:rPr lang="en-US" sz="844" dirty="0">
                <a:solidFill>
                  <a:srgbClr val="888888"/>
                </a:solidFill>
                <a:latin typeface="Courier New" pitchFamily="34" charset="0"/>
                <a:ea typeface="Courier New" pitchFamily="34" charset="-122"/>
                <a:cs typeface="Courier New" pitchFamily="34" charset="-120"/>
              </a:rPr>
              <a:t>$</a:t>
            </a:r>
            <a:pPr algn="l" indent="0" marL="0">
              <a:lnSpc>
                <a:spcPts val="1603"/>
              </a:lnSpc>
              <a:buNone/>
            </a:pPr>
            <a:r>
              <a:rPr lang="en-US" sz="844" dirty="0">
                <a:solidFill>
                  <a:srgbClr val="00FF41"/>
                </a:solidFill>
                <a:latin typeface="Courier New" pitchFamily="34" charset="0"/>
                <a:ea typeface="Courier New" pitchFamily="34" charset="-122"/>
                <a:cs typeface="Courier New" pitchFamily="34" charset="-120"/>
              </a:rPr>
              <a:t> reconpro integrations slack --channel #alerts</a:t>
            </a:r>
            <a:endParaRPr lang="en-US" sz="844" dirty="0"/>
          </a:p>
        </p:txBody>
      </p:sp>
      <p:sp>
        <p:nvSpPr>
          <p:cNvPr id="23" name="Text 21"/>
          <p:cNvSpPr/>
          <p:nvPr/>
        </p:nvSpPr>
        <p:spPr>
          <a:xfrm>
            <a:off x="4714875" y="2623542"/>
            <a:ext cx="3964781" cy="152501"/>
          </a:xfrm>
          <a:prstGeom prst="rect">
            <a:avLst/>
          </a:prstGeom>
          <a:noFill/>
          <a:ln/>
        </p:spPr>
        <p:txBody>
          <a:bodyPr wrap="none" lIns="0" tIns="0" rIns="0" bIns="0" rtlCol="0" anchor="t">
            <a:normAutofit/>
          </a:bodyPr>
          <a:lstStyle/>
          <a:p>
            <a:pPr algn="l" indent="0" marL="0">
              <a:lnSpc>
                <a:spcPts val="1080"/>
              </a:lnSpc>
              <a:buNone/>
            </a:pPr>
            <a:r>
              <a:rPr lang="en-US" sz="800" spc="113" kern="0" dirty="0">
                <a:solidFill>
                  <a:srgbClr val="888888"/>
                </a:solidFill>
                <a:latin typeface="Courier New" pitchFamily="34" charset="0"/>
                <a:ea typeface="Courier New" pitchFamily="34" charset="-122"/>
                <a:cs typeface="Courier New" pitchFamily="34" charset="-120"/>
              </a:rPr>
              <a:t>UTILITIES</a:t>
            </a:r>
            <a:endParaRPr lang="en-US" sz="800" dirty="0"/>
          </a:p>
        </p:txBody>
      </p:sp>
      <p:sp>
        <p:nvSpPr>
          <p:cNvPr id="24" name="Text 22"/>
          <p:cNvSpPr/>
          <p:nvPr/>
        </p:nvSpPr>
        <p:spPr>
          <a:xfrm>
            <a:off x="4714875" y="2803475"/>
            <a:ext cx="4065937" cy="176165"/>
          </a:xfrm>
          <a:prstGeom prst="rect">
            <a:avLst/>
          </a:prstGeom>
          <a:noFill/>
          <a:ln/>
        </p:spPr>
        <p:txBody>
          <a:bodyPr wrap="square" lIns="0" tIns="0" rIns="0" bIns="0" rtlCol="0" anchor="t">
            <a:normAutofit/>
          </a:bodyPr>
          <a:lstStyle/>
          <a:p>
            <a:pPr algn="l" indent="0" marL="0">
              <a:lnSpc>
                <a:spcPts val="1603"/>
              </a:lnSpc>
              <a:buNone/>
            </a:pPr>
            <a:r>
              <a:rPr lang="en-US" sz="844" dirty="0">
                <a:solidFill>
                  <a:srgbClr val="888888"/>
                </a:solidFill>
                <a:latin typeface="Courier New" pitchFamily="34" charset="0"/>
                <a:ea typeface="Courier New" pitchFamily="34" charset="-122"/>
                <a:cs typeface="Courier New" pitchFamily="34" charset="-120"/>
              </a:rPr>
              <a:t>$</a:t>
            </a:r>
            <a:pPr algn="l" indent="0" marL="0">
              <a:lnSpc>
                <a:spcPts val="1603"/>
              </a:lnSpc>
              <a:buNone/>
            </a:pPr>
            <a:r>
              <a:rPr lang="en-US" sz="844" dirty="0">
                <a:solidFill>
                  <a:srgbClr val="00FF41"/>
                </a:solidFill>
                <a:latin typeface="Courier New" pitchFamily="34" charset="0"/>
                <a:ea typeface="Courier New" pitchFamily="34" charset="-122"/>
                <a:cs typeface="Courier New" pitchFamily="34" charset="-120"/>
              </a:rPr>
              <a:t> reconpro doctor --check-all</a:t>
            </a:r>
            <a:endParaRPr lang="en-US" sz="844" dirty="0"/>
          </a:p>
        </p:txBody>
      </p:sp>
      <p:sp>
        <p:nvSpPr>
          <p:cNvPr id="25" name="Text 23"/>
          <p:cNvSpPr/>
          <p:nvPr/>
        </p:nvSpPr>
        <p:spPr>
          <a:xfrm>
            <a:off x="4714875" y="3007072"/>
            <a:ext cx="4065937" cy="219885"/>
          </a:xfrm>
          <a:prstGeom prst="rect">
            <a:avLst/>
          </a:prstGeom>
          <a:noFill/>
          <a:ln/>
        </p:spPr>
        <p:txBody>
          <a:bodyPr wrap="square" lIns="0" tIns="0" rIns="0" bIns="0" rtlCol="0" anchor="t"/>
          <a:lstStyle/>
          <a:p>
            <a:pPr algn="l" indent="0" marL="0">
              <a:lnSpc>
                <a:spcPts val="1603"/>
              </a:lnSpc>
              <a:buNone/>
            </a:pPr>
            <a:r>
              <a:rPr lang="en-US" sz="844" dirty="0">
                <a:solidFill>
                  <a:srgbClr val="888888"/>
                </a:solidFill>
                <a:latin typeface="Courier New" pitchFamily="34" charset="0"/>
                <a:ea typeface="Courier New" pitchFamily="34" charset="-122"/>
                <a:cs typeface="Courier New" pitchFamily="34" charset="-120"/>
              </a:rPr>
              <a:t>$</a:t>
            </a:r>
            <a:pPr algn="l" indent="0" marL="0">
              <a:lnSpc>
                <a:spcPts val="1603"/>
              </a:lnSpc>
              <a:buNone/>
            </a:pPr>
            <a:r>
              <a:rPr lang="en-US" sz="844" dirty="0">
                <a:solidFill>
                  <a:srgbClr val="00FF41"/>
                </a:solidFill>
                <a:latin typeface="Courier New" pitchFamily="34" charset="0"/>
                <a:ea typeface="Courier New" pitchFamily="34" charset="-122"/>
                <a:cs typeface="Courier New" pitchFamily="34" charset="-120"/>
              </a:rPr>
              <a:t> reconpro export --format pdf</a:t>
            </a:r>
            <a:endParaRPr lang="en-US" sz="844" dirty="0"/>
          </a:p>
        </p:txBody>
      </p:sp>
      <p:sp>
        <p:nvSpPr>
          <p:cNvPr id="26" name="Text 24"/>
          <p:cNvSpPr/>
          <p:nvPr/>
        </p:nvSpPr>
        <p:spPr>
          <a:xfrm>
            <a:off x="457200" y="4640647"/>
            <a:ext cx="8229600" cy="175491"/>
          </a:xfrm>
          <a:prstGeom prst="rect">
            <a:avLst/>
          </a:prstGeom>
          <a:noFill/>
          <a:ln/>
        </p:spPr>
        <p:txBody>
          <a:bodyPr wrap="square" lIns="0" tIns="0" rIns="0" bIns="0" rtlCol="0" anchor="t"/>
          <a:lstStyle/>
          <a:p>
            <a:pPr algn="l" indent="0" marL="0">
              <a:lnSpc>
                <a:spcPts val="1260"/>
              </a:lnSpc>
              <a:buNone/>
            </a:pPr>
            <a:r>
              <a:rPr lang="en-US" sz="800" spc="17" kern="0" dirty="0">
                <a:solidFill>
                  <a:srgbClr val="888888"/>
                </a:solidFill>
                <a:latin typeface="Courier New" pitchFamily="34" charset="0"/>
                <a:ea typeface="Courier New" pitchFamily="34" charset="-122"/>
                <a:cs typeface="Courier New" pitchFamily="34" charset="-120"/>
              </a:rPr>
              <a:t>Every command has --help. Every module can run standalone or combined.</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457200" y="400050"/>
            <a:ext cx="8636000" cy="356348"/>
          </a:xfrm>
          <a:prstGeom prst="rect">
            <a:avLst/>
          </a:prstGeom>
          <a:noFill/>
          <a:ln/>
        </p:spPr>
        <p:txBody>
          <a:bodyPr wrap="square" lIns="0" tIns="0" rIns="0" bIns="0" rtlCol="0" anchor="t"/>
          <a:lstStyle/>
          <a:p>
            <a:pPr algn="l" indent="0" marL="0">
              <a:lnSpc>
                <a:spcPts val="2599"/>
              </a:lnSpc>
              <a:buNone/>
            </a:pPr>
            <a:r>
              <a:rPr lang="en-US" sz="2363" b="1" dirty="0">
                <a:solidFill>
                  <a:srgbClr val="FFFFFF"/>
                </a:solidFill>
                <a:latin typeface="Courier New" pitchFamily="34" charset="0"/>
                <a:ea typeface="Courier New" pitchFamily="34" charset="-122"/>
                <a:cs typeface="Courier New" pitchFamily="34" charset="-120"/>
              </a:rPr>
              <a:t>WORKS EVERYWHERE. PERIOD.</a:t>
            </a:r>
            <a:endParaRPr lang="en-US" sz="2363" dirty="0"/>
          </a:p>
        </p:txBody>
      </p:sp>
      <p:sp>
        <p:nvSpPr>
          <p:cNvPr id="3" name="Text 1"/>
          <p:cNvSpPr/>
          <p:nvPr/>
        </p:nvSpPr>
        <p:spPr>
          <a:xfrm>
            <a:off x="460772" y="1019324"/>
            <a:ext cx="2583582" cy="1724434"/>
          </a:xfrm>
          <a:prstGeom prst="roundRect">
            <a:avLst>
              <a:gd name="adj" fmla="val 8838"/>
            </a:avLst>
          </a:prstGeom>
          <a:solidFill>
            <a:srgbClr val="111111"/>
          </a:solidFill>
          <a:ln w="7144">
            <a:solidFill>
              <a:srgbClr val="00FF41"/>
            </a:solidFill>
            <a:prstDash val="solid"/>
          </a:ln>
        </p:spPr>
        <p:txBody>
          <a:bodyPr wrap="square" rtlCol="0" anchor="ctr"/>
          <a:lstStyle/>
          <a:p>
            <a:pPr indent="0" marL="0">
              <a:buNone/>
            </a:pPr>
            <a:endParaRPr lang="en-US" dirty="0"/>
          </a:p>
        </p:txBody>
      </p:sp>
      <p:sp>
        <p:nvSpPr>
          <p:cNvPr id="4" name="Text 2"/>
          <p:cNvSpPr/>
          <p:nvPr/>
        </p:nvSpPr>
        <p:spPr>
          <a:xfrm>
            <a:off x="1581113" y="1251496"/>
            <a:ext cx="342900" cy="342900"/>
          </a:xfrm>
          <a:prstGeom prst="rect">
            <a:avLst/>
          </a:prstGeom>
          <a:noFill/>
          <a:ln/>
        </p:spPr>
        <p:txBody>
          <a:bodyPr wrap="none" lIns="0" tIns="0" rIns="0" bIns="0" rtlCol="0" anchor="ctr"/>
          <a:lstStyle/>
          <a:p>
            <a:pPr algn="ctr" indent="0" marL="0">
              <a:buNone/>
            </a:pPr>
            <a:r>
              <a:rPr lang="en-US" sz="3375" dirty="0">
                <a:solidFill>
                  <a:srgbClr val="00FF41"/>
                </a:solidFill>
                <a:latin typeface="Segoe UI Symbol" pitchFamily="34" charset="0"/>
                <a:ea typeface="Segoe UI Symbol" pitchFamily="34" charset="-122"/>
                <a:cs typeface="Segoe UI Symbol" pitchFamily="34" charset="-120"/>
              </a:rPr>
              <a:t>▢</a:t>
            </a:r>
            <a:endParaRPr lang="en-US" sz="3375" dirty="0"/>
          </a:p>
        </p:txBody>
      </p:sp>
      <p:sp>
        <p:nvSpPr>
          <p:cNvPr id="5" name="Text 3"/>
          <p:cNvSpPr/>
          <p:nvPr/>
        </p:nvSpPr>
        <p:spPr>
          <a:xfrm>
            <a:off x="1361108" y="1708696"/>
            <a:ext cx="1001982" cy="320906"/>
          </a:xfrm>
          <a:prstGeom prst="rect">
            <a:avLst/>
          </a:prstGeom>
          <a:noFill/>
          <a:ln/>
        </p:spPr>
        <p:txBody>
          <a:bodyPr wrap="none" lIns="0" tIns="0" rIns="0" bIns="0" rtlCol="0" anchor="t"/>
          <a:lstStyle/>
          <a:p>
            <a:pPr algn="l" indent="0" marL="0">
              <a:lnSpc>
                <a:spcPts val="2340"/>
              </a:lnSpc>
              <a:buNone/>
            </a:pPr>
            <a:r>
              <a:rPr lang="en-US" sz="1463" b="1" dirty="0">
                <a:solidFill>
                  <a:srgbClr val="FFFFFF"/>
                </a:solidFill>
                <a:latin typeface="Courier New" pitchFamily="34" charset="0"/>
                <a:ea typeface="Courier New" pitchFamily="34" charset="-122"/>
                <a:cs typeface="Courier New" pitchFamily="34" charset="-120"/>
              </a:rPr>
              <a:t>Windows</a:t>
            </a:r>
            <a:endParaRPr lang="en-US" sz="1463" dirty="0"/>
          </a:p>
        </p:txBody>
      </p:sp>
      <p:sp>
        <p:nvSpPr>
          <p:cNvPr id="6" name="Text 4"/>
          <p:cNvSpPr/>
          <p:nvPr/>
        </p:nvSpPr>
        <p:spPr>
          <a:xfrm>
            <a:off x="1018208" y="2152278"/>
            <a:ext cx="1468599" cy="355736"/>
          </a:xfrm>
          <a:prstGeom prst="roundRect">
            <a:avLst>
              <a:gd name="adj" fmla="val 21420"/>
            </a:avLst>
          </a:prstGeom>
          <a:solidFill>
            <a:srgbClr val="0A0A0A"/>
          </a:solidFill>
          <a:ln w="7144">
            <a:solidFill>
              <a:srgbClr val="00FF41"/>
            </a:solidFill>
            <a:prstDash val="solid"/>
          </a:ln>
        </p:spPr>
        <p:txBody>
          <a:bodyPr wrap="square" rtlCol="0" anchor="ctr"/>
          <a:lstStyle/>
          <a:p>
            <a:pPr indent="0" marL="0">
              <a:buNone/>
            </a:pPr>
            <a:endParaRPr lang="en-US" dirty="0"/>
          </a:p>
        </p:txBody>
      </p:sp>
      <p:sp>
        <p:nvSpPr>
          <p:cNvPr id="7" name="Text 5"/>
          <p:cNvSpPr/>
          <p:nvPr/>
        </p:nvSpPr>
        <p:spPr>
          <a:xfrm>
            <a:off x="1150367" y="2277294"/>
            <a:ext cx="1204280" cy="125403"/>
          </a:xfrm>
          <a:prstGeom prst="rect">
            <a:avLst/>
          </a:prstGeom>
          <a:noFill/>
          <a:ln/>
        </p:spPr>
        <p:txBody>
          <a:bodyPr wrap="none" lIns="0" tIns="0" rIns="0" bIns="0" rtlCol="0" anchor="t"/>
          <a:lstStyle/>
          <a:p>
            <a:pPr algn="l" indent="0" marL="0">
              <a:lnSpc>
                <a:spcPts val="1260"/>
              </a:lnSpc>
              <a:buNone/>
            </a:pPr>
            <a:r>
              <a:rPr lang="en-US" sz="800" dirty="0">
                <a:solidFill>
                  <a:srgbClr val="00FF41"/>
                </a:solidFill>
                <a:latin typeface="Courier New" pitchFamily="34" charset="0"/>
                <a:ea typeface="Courier New" pitchFamily="34" charset="-122"/>
                <a:cs typeface="Courier New" pitchFamily="34" charset="-120"/>
              </a:rPr>
              <a:t>pip install reconpro</a:t>
            </a:r>
            <a:endParaRPr lang="en-US" sz="800" dirty="0"/>
          </a:p>
        </p:txBody>
      </p:sp>
      <p:sp>
        <p:nvSpPr>
          <p:cNvPr id="8" name="Text 6"/>
          <p:cNvSpPr/>
          <p:nvPr/>
        </p:nvSpPr>
        <p:spPr>
          <a:xfrm>
            <a:off x="3280097" y="1019324"/>
            <a:ext cx="2583693" cy="1724434"/>
          </a:xfrm>
          <a:prstGeom prst="roundRect">
            <a:avLst>
              <a:gd name="adj" fmla="val 8838"/>
            </a:avLst>
          </a:prstGeom>
          <a:solidFill>
            <a:srgbClr val="111111"/>
          </a:solidFill>
          <a:ln w="7144">
            <a:solidFill>
              <a:srgbClr val="00FF41"/>
            </a:solidFill>
            <a:prstDash val="solid"/>
          </a:ln>
        </p:spPr>
        <p:txBody>
          <a:bodyPr wrap="square" rtlCol="0" anchor="ctr"/>
          <a:lstStyle/>
          <a:p>
            <a:pPr indent="0" marL="0">
              <a:buNone/>
            </a:pPr>
            <a:endParaRPr lang="en-US" dirty="0"/>
          </a:p>
        </p:txBody>
      </p:sp>
      <p:sp>
        <p:nvSpPr>
          <p:cNvPr id="9" name="Text 7"/>
          <p:cNvSpPr/>
          <p:nvPr/>
        </p:nvSpPr>
        <p:spPr>
          <a:xfrm>
            <a:off x="4400438" y="1251496"/>
            <a:ext cx="342900" cy="342900"/>
          </a:xfrm>
          <a:prstGeom prst="rect">
            <a:avLst/>
          </a:prstGeom>
          <a:noFill/>
          <a:ln/>
        </p:spPr>
        <p:txBody>
          <a:bodyPr wrap="none" lIns="0" tIns="0" rIns="0" bIns="0" rtlCol="0" anchor="ctr"/>
          <a:lstStyle/>
          <a:p>
            <a:pPr algn="ctr" indent="0" marL="0">
              <a:buNone/>
            </a:pPr>
            <a:r>
              <a:rPr lang="en-US" sz="3375" dirty="0">
                <a:solidFill>
                  <a:srgbClr val="00FF41"/>
                </a:solidFill>
                <a:latin typeface="Segoe UI Symbol" pitchFamily="34" charset="0"/>
                <a:ea typeface="Segoe UI Symbol" pitchFamily="34" charset="-122"/>
                <a:cs typeface="Segoe UI Symbol" pitchFamily="34" charset="-120"/>
              </a:rPr>
              <a:t>✦</a:t>
            </a:r>
            <a:endParaRPr lang="en-US" sz="3375" dirty="0"/>
          </a:p>
        </p:txBody>
      </p:sp>
      <p:sp>
        <p:nvSpPr>
          <p:cNvPr id="10" name="Text 8"/>
          <p:cNvSpPr/>
          <p:nvPr/>
        </p:nvSpPr>
        <p:spPr>
          <a:xfrm>
            <a:off x="4292278" y="1708696"/>
            <a:ext cx="883570" cy="320906"/>
          </a:xfrm>
          <a:prstGeom prst="rect">
            <a:avLst/>
          </a:prstGeom>
          <a:noFill/>
          <a:ln/>
        </p:spPr>
        <p:txBody>
          <a:bodyPr wrap="none" lIns="0" tIns="0" rIns="0" bIns="0" rtlCol="0" anchor="t"/>
          <a:lstStyle/>
          <a:p>
            <a:pPr algn="l" indent="0" marL="0">
              <a:lnSpc>
                <a:spcPts val="2340"/>
              </a:lnSpc>
              <a:buNone/>
            </a:pPr>
            <a:r>
              <a:rPr lang="en-US" sz="1463" b="1" dirty="0">
                <a:solidFill>
                  <a:srgbClr val="FFFFFF"/>
                </a:solidFill>
                <a:latin typeface="Courier New" pitchFamily="34" charset="0"/>
                <a:ea typeface="Courier New" pitchFamily="34" charset="-122"/>
                <a:cs typeface="Courier New" pitchFamily="34" charset="-120"/>
              </a:rPr>
              <a:t>Linux</a:t>
            </a:r>
            <a:endParaRPr lang="en-US" sz="1463" dirty="0"/>
          </a:p>
        </p:txBody>
      </p:sp>
      <p:sp>
        <p:nvSpPr>
          <p:cNvPr id="11" name="Text 9"/>
          <p:cNvSpPr/>
          <p:nvPr/>
        </p:nvSpPr>
        <p:spPr>
          <a:xfrm>
            <a:off x="3837645" y="2152278"/>
            <a:ext cx="1468599" cy="355736"/>
          </a:xfrm>
          <a:prstGeom prst="roundRect">
            <a:avLst>
              <a:gd name="adj" fmla="val 21420"/>
            </a:avLst>
          </a:prstGeom>
          <a:solidFill>
            <a:srgbClr val="0A0A0A"/>
          </a:solidFill>
          <a:ln w="7144">
            <a:solidFill>
              <a:srgbClr val="00FF41"/>
            </a:solidFill>
            <a:prstDash val="solid"/>
          </a:ln>
        </p:spPr>
        <p:txBody>
          <a:bodyPr wrap="square" rtlCol="0" anchor="ctr"/>
          <a:lstStyle/>
          <a:p>
            <a:pPr indent="0" marL="0">
              <a:buNone/>
            </a:pPr>
            <a:endParaRPr lang="en-US" dirty="0"/>
          </a:p>
        </p:txBody>
      </p:sp>
      <p:sp>
        <p:nvSpPr>
          <p:cNvPr id="12" name="Text 10"/>
          <p:cNvSpPr/>
          <p:nvPr/>
        </p:nvSpPr>
        <p:spPr>
          <a:xfrm>
            <a:off x="3969804" y="2277294"/>
            <a:ext cx="1204280" cy="125403"/>
          </a:xfrm>
          <a:prstGeom prst="rect">
            <a:avLst/>
          </a:prstGeom>
          <a:noFill/>
          <a:ln/>
        </p:spPr>
        <p:txBody>
          <a:bodyPr wrap="none" lIns="0" tIns="0" rIns="0" bIns="0" rtlCol="0" anchor="t"/>
          <a:lstStyle/>
          <a:p>
            <a:pPr algn="l" indent="0" marL="0">
              <a:lnSpc>
                <a:spcPts val="1260"/>
              </a:lnSpc>
              <a:buNone/>
            </a:pPr>
            <a:r>
              <a:rPr lang="en-US" sz="800" dirty="0">
                <a:solidFill>
                  <a:srgbClr val="00FF41"/>
                </a:solidFill>
                <a:latin typeface="Courier New" pitchFamily="34" charset="0"/>
                <a:ea typeface="Courier New" pitchFamily="34" charset="-122"/>
                <a:cs typeface="Courier New" pitchFamily="34" charset="-120"/>
              </a:rPr>
              <a:t>pip install reconpro</a:t>
            </a:r>
            <a:endParaRPr lang="en-US" sz="800" dirty="0"/>
          </a:p>
        </p:txBody>
      </p:sp>
      <p:sp>
        <p:nvSpPr>
          <p:cNvPr id="13" name="Text 11"/>
          <p:cNvSpPr/>
          <p:nvPr/>
        </p:nvSpPr>
        <p:spPr>
          <a:xfrm>
            <a:off x="6099535" y="1019324"/>
            <a:ext cx="2583582" cy="1724434"/>
          </a:xfrm>
          <a:prstGeom prst="roundRect">
            <a:avLst>
              <a:gd name="adj" fmla="val 8838"/>
            </a:avLst>
          </a:prstGeom>
          <a:solidFill>
            <a:srgbClr val="111111"/>
          </a:solidFill>
          <a:ln w="7144">
            <a:solidFill>
              <a:srgbClr val="00FF41"/>
            </a:solidFill>
            <a:prstDash val="solid"/>
          </a:ln>
        </p:spPr>
        <p:txBody>
          <a:bodyPr wrap="square" rtlCol="0" anchor="ctr"/>
          <a:lstStyle/>
          <a:p>
            <a:pPr indent="0" marL="0">
              <a:buNone/>
            </a:pPr>
            <a:endParaRPr lang="en-US" dirty="0"/>
          </a:p>
        </p:txBody>
      </p:sp>
      <p:sp>
        <p:nvSpPr>
          <p:cNvPr id="14" name="Text 12"/>
          <p:cNvSpPr/>
          <p:nvPr/>
        </p:nvSpPr>
        <p:spPr>
          <a:xfrm>
            <a:off x="7219876" y="1251496"/>
            <a:ext cx="342900" cy="342900"/>
          </a:xfrm>
          <a:prstGeom prst="rect">
            <a:avLst/>
          </a:prstGeom>
          <a:noFill/>
          <a:ln/>
        </p:spPr>
        <p:txBody>
          <a:bodyPr wrap="none" lIns="0" tIns="0" rIns="0" bIns="0" rtlCol="0" anchor="ctr"/>
          <a:lstStyle/>
          <a:p>
            <a:pPr algn="ctr" indent="0" marL="0">
              <a:buNone/>
            </a:pPr>
            <a:r>
              <a:rPr lang="en-US" sz="3375" dirty="0">
                <a:solidFill>
                  <a:srgbClr val="00FF41"/>
                </a:solidFill>
                <a:latin typeface="Segoe UI Symbol" pitchFamily="34" charset="0"/>
                <a:ea typeface="Segoe UI Symbol" pitchFamily="34" charset="-122"/>
                <a:cs typeface="Segoe UI Symbol" pitchFamily="34" charset="-120"/>
              </a:rPr>
              <a:t>▢</a:t>
            </a:r>
            <a:endParaRPr lang="en-US" sz="3375" dirty="0"/>
          </a:p>
        </p:txBody>
      </p:sp>
      <p:sp>
        <p:nvSpPr>
          <p:cNvPr id="15" name="Text 13"/>
          <p:cNvSpPr/>
          <p:nvPr/>
        </p:nvSpPr>
        <p:spPr>
          <a:xfrm>
            <a:off x="7111715" y="1708696"/>
            <a:ext cx="883570" cy="320906"/>
          </a:xfrm>
          <a:prstGeom prst="rect">
            <a:avLst/>
          </a:prstGeom>
          <a:noFill/>
          <a:ln/>
        </p:spPr>
        <p:txBody>
          <a:bodyPr wrap="none" lIns="0" tIns="0" rIns="0" bIns="0" rtlCol="0" anchor="t"/>
          <a:lstStyle/>
          <a:p>
            <a:pPr algn="l" indent="0" marL="0">
              <a:lnSpc>
                <a:spcPts val="2340"/>
              </a:lnSpc>
              <a:buNone/>
            </a:pPr>
            <a:r>
              <a:rPr lang="en-US" sz="1463" b="1" dirty="0">
                <a:solidFill>
                  <a:srgbClr val="FFFFFF"/>
                </a:solidFill>
                <a:latin typeface="Courier New" pitchFamily="34" charset="0"/>
                <a:ea typeface="Courier New" pitchFamily="34" charset="-122"/>
                <a:cs typeface="Courier New" pitchFamily="34" charset="-120"/>
              </a:rPr>
              <a:t>macOS</a:t>
            </a:r>
            <a:endParaRPr lang="en-US" sz="1463" dirty="0"/>
          </a:p>
        </p:txBody>
      </p:sp>
      <p:sp>
        <p:nvSpPr>
          <p:cNvPr id="16" name="Text 14"/>
          <p:cNvSpPr/>
          <p:nvPr/>
        </p:nvSpPr>
        <p:spPr>
          <a:xfrm>
            <a:off x="6656970" y="2152278"/>
            <a:ext cx="1468599" cy="355736"/>
          </a:xfrm>
          <a:prstGeom prst="roundRect">
            <a:avLst>
              <a:gd name="adj" fmla="val 21420"/>
            </a:avLst>
          </a:prstGeom>
          <a:solidFill>
            <a:srgbClr val="0A0A0A"/>
          </a:solidFill>
          <a:ln w="7144">
            <a:solidFill>
              <a:srgbClr val="00FF41"/>
            </a:solidFill>
            <a:prstDash val="solid"/>
          </a:ln>
        </p:spPr>
        <p:txBody>
          <a:bodyPr wrap="square" rtlCol="0" anchor="ctr"/>
          <a:lstStyle/>
          <a:p>
            <a:pPr indent="0" marL="0">
              <a:buNone/>
            </a:pPr>
            <a:endParaRPr lang="en-US" dirty="0"/>
          </a:p>
        </p:txBody>
      </p:sp>
      <p:sp>
        <p:nvSpPr>
          <p:cNvPr id="17" name="Text 15"/>
          <p:cNvSpPr/>
          <p:nvPr/>
        </p:nvSpPr>
        <p:spPr>
          <a:xfrm>
            <a:off x="6789130" y="2277294"/>
            <a:ext cx="1204280" cy="125403"/>
          </a:xfrm>
          <a:prstGeom prst="rect">
            <a:avLst/>
          </a:prstGeom>
          <a:noFill/>
          <a:ln/>
        </p:spPr>
        <p:txBody>
          <a:bodyPr wrap="none" lIns="0" tIns="0" rIns="0" bIns="0" rtlCol="0" anchor="t"/>
          <a:lstStyle/>
          <a:p>
            <a:pPr algn="l" indent="0" marL="0">
              <a:lnSpc>
                <a:spcPts val="1260"/>
              </a:lnSpc>
              <a:buNone/>
            </a:pPr>
            <a:r>
              <a:rPr lang="en-US" sz="800" dirty="0">
                <a:solidFill>
                  <a:srgbClr val="00FF41"/>
                </a:solidFill>
                <a:latin typeface="Courier New" pitchFamily="34" charset="0"/>
                <a:ea typeface="Courier New" pitchFamily="34" charset="-122"/>
                <a:cs typeface="Courier New" pitchFamily="34" charset="-120"/>
              </a:rPr>
              <a:t>pip install reconpro</a:t>
            </a:r>
            <a:endParaRPr lang="en-US" sz="800" dirty="0"/>
          </a:p>
        </p:txBody>
      </p:sp>
      <p:sp>
        <p:nvSpPr>
          <p:cNvPr id="18" name="Text 16"/>
          <p:cNvSpPr/>
          <p:nvPr/>
        </p:nvSpPr>
        <p:spPr>
          <a:xfrm>
            <a:off x="457200" y="3017341"/>
            <a:ext cx="157163" cy="157163"/>
          </a:xfrm>
          <a:prstGeom prst="rect">
            <a:avLst/>
          </a:prstGeom>
          <a:noFill/>
          <a:ln/>
        </p:spPr>
        <p:txBody>
          <a:bodyPr wrap="none" lIns="0" tIns="0" rIns="0" bIns="0" rtlCol="0" anchor="ctr"/>
          <a:lstStyle/>
          <a:p>
            <a:pPr algn="ctr" indent="0" marL="0">
              <a:buNone/>
            </a:pPr>
            <a:r>
              <a:rPr lang="en-US" sz="1547" dirty="0">
                <a:solidFill>
                  <a:srgbClr val="00FF41"/>
                </a:solidFill>
                <a:latin typeface="Segoe UI Symbol" pitchFamily="34" charset="0"/>
                <a:ea typeface="Segoe UI Symbol" pitchFamily="34" charset="-122"/>
                <a:cs typeface="Segoe UI Symbol" pitchFamily="34" charset="-120"/>
              </a:rPr>
              <a:t>✓</a:t>
            </a:r>
            <a:endParaRPr lang="en-US" sz="1547" dirty="0"/>
          </a:p>
        </p:txBody>
      </p:sp>
      <p:sp>
        <p:nvSpPr>
          <p:cNvPr id="19" name="Text 17"/>
          <p:cNvSpPr/>
          <p:nvPr/>
        </p:nvSpPr>
        <p:spPr>
          <a:xfrm>
            <a:off x="685800" y="3004505"/>
            <a:ext cx="2367376" cy="197462"/>
          </a:xfrm>
          <a:prstGeom prst="rect">
            <a:avLst/>
          </a:prstGeom>
          <a:noFill/>
          <a:ln/>
        </p:spPr>
        <p:txBody>
          <a:bodyPr wrap="square" lIns="0" tIns="0" rIns="0" bIns="0" rtlCol="0" anchor="t"/>
          <a:lstStyle/>
          <a:p>
            <a:pPr algn="l" indent="0" marL="0">
              <a:lnSpc>
                <a:spcPts val="1440"/>
              </a:lnSpc>
              <a:buNone/>
            </a:pPr>
            <a:r>
              <a:rPr lang="en-US" sz="900" dirty="0">
                <a:solidFill>
                  <a:srgbClr val="E0E0E0"/>
                </a:solidFill>
                <a:latin typeface="Carlito" pitchFamily="34" charset="0"/>
                <a:ea typeface="Carlito" pitchFamily="34" charset="-122"/>
                <a:cs typeface="Carlito" pitchFamily="34" charset="-120"/>
              </a:rPr>
              <a:t>Pure Python (zero compiled dependencies)</a:t>
            </a:r>
            <a:endParaRPr lang="en-US" sz="900" dirty="0"/>
          </a:p>
        </p:txBody>
      </p:sp>
      <p:sp>
        <p:nvSpPr>
          <p:cNvPr id="20" name="Text 18"/>
          <p:cNvSpPr/>
          <p:nvPr/>
        </p:nvSpPr>
        <p:spPr>
          <a:xfrm>
            <a:off x="3049265" y="3017341"/>
            <a:ext cx="157163" cy="157163"/>
          </a:xfrm>
          <a:prstGeom prst="rect">
            <a:avLst/>
          </a:prstGeom>
          <a:noFill/>
          <a:ln/>
        </p:spPr>
        <p:txBody>
          <a:bodyPr wrap="none" lIns="0" tIns="0" rIns="0" bIns="0" rtlCol="0" anchor="ctr"/>
          <a:lstStyle/>
          <a:p>
            <a:pPr algn="ctr" indent="0" marL="0">
              <a:buNone/>
            </a:pPr>
            <a:r>
              <a:rPr lang="en-US" sz="1547" dirty="0">
                <a:solidFill>
                  <a:srgbClr val="00FF41"/>
                </a:solidFill>
                <a:latin typeface="Segoe UI Symbol" pitchFamily="34" charset="0"/>
                <a:ea typeface="Segoe UI Symbol" pitchFamily="34" charset="-122"/>
                <a:cs typeface="Segoe UI Symbol" pitchFamily="34" charset="-120"/>
              </a:rPr>
              <a:t>✓</a:t>
            </a:r>
            <a:endParaRPr lang="en-US" sz="1547" dirty="0"/>
          </a:p>
        </p:txBody>
      </p:sp>
      <p:sp>
        <p:nvSpPr>
          <p:cNvPr id="21" name="Text 19"/>
          <p:cNvSpPr/>
          <p:nvPr/>
        </p:nvSpPr>
        <p:spPr>
          <a:xfrm>
            <a:off x="3277865" y="3004505"/>
            <a:ext cx="1722309" cy="197462"/>
          </a:xfrm>
          <a:prstGeom prst="rect">
            <a:avLst/>
          </a:prstGeom>
          <a:noFill/>
          <a:ln/>
        </p:spPr>
        <p:txBody>
          <a:bodyPr wrap="square" lIns="0" tIns="0" rIns="0" bIns="0" rtlCol="0" anchor="t"/>
          <a:lstStyle/>
          <a:p>
            <a:pPr algn="l" indent="0" marL="0">
              <a:lnSpc>
                <a:spcPts val="1440"/>
              </a:lnSpc>
              <a:buNone/>
            </a:pPr>
            <a:r>
              <a:rPr lang="en-US" sz="900" dirty="0">
                <a:solidFill>
                  <a:srgbClr val="E0E0E0"/>
                </a:solidFill>
                <a:latin typeface="Liberation Sans Narrow" pitchFamily="34" charset="0"/>
                <a:ea typeface="Liberation Sans Narrow" pitchFamily="34" charset="-122"/>
                <a:cs typeface="Liberation Sans Narrow" pitchFamily="34" charset="-120"/>
              </a:rPr>
              <a:t>py3-none-any wheel (universal)</a:t>
            </a:r>
            <a:endParaRPr lang="en-US" sz="900" dirty="0"/>
          </a:p>
        </p:txBody>
      </p:sp>
      <p:sp>
        <p:nvSpPr>
          <p:cNvPr id="22" name="Text 20"/>
          <p:cNvSpPr/>
          <p:nvPr/>
        </p:nvSpPr>
        <p:spPr>
          <a:xfrm>
            <a:off x="5044046" y="3017341"/>
            <a:ext cx="157163" cy="157163"/>
          </a:xfrm>
          <a:prstGeom prst="rect">
            <a:avLst/>
          </a:prstGeom>
          <a:noFill/>
          <a:ln/>
        </p:spPr>
        <p:txBody>
          <a:bodyPr wrap="none" lIns="0" tIns="0" rIns="0" bIns="0" rtlCol="0" anchor="ctr"/>
          <a:lstStyle/>
          <a:p>
            <a:pPr algn="ctr" indent="0" marL="0">
              <a:buNone/>
            </a:pPr>
            <a:r>
              <a:rPr lang="en-US" sz="1547" dirty="0">
                <a:solidFill>
                  <a:srgbClr val="00FF41"/>
                </a:solidFill>
                <a:latin typeface="Segoe UI Symbol" pitchFamily="34" charset="0"/>
                <a:ea typeface="Segoe UI Symbol" pitchFamily="34" charset="-122"/>
                <a:cs typeface="Segoe UI Symbol" pitchFamily="34" charset="-120"/>
              </a:rPr>
              <a:t>✓</a:t>
            </a:r>
            <a:endParaRPr lang="en-US" sz="1547" dirty="0"/>
          </a:p>
        </p:txBody>
      </p:sp>
      <p:sp>
        <p:nvSpPr>
          <p:cNvPr id="23" name="Text 21"/>
          <p:cNvSpPr/>
          <p:nvPr/>
        </p:nvSpPr>
        <p:spPr>
          <a:xfrm>
            <a:off x="5272646" y="3004505"/>
            <a:ext cx="2776767" cy="197462"/>
          </a:xfrm>
          <a:prstGeom prst="rect">
            <a:avLst/>
          </a:prstGeom>
          <a:noFill/>
          <a:ln/>
        </p:spPr>
        <p:txBody>
          <a:bodyPr wrap="square" lIns="0" tIns="0" rIns="0" bIns="0" rtlCol="0" anchor="t"/>
          <a:lstStyle/>
          <a:p>
            <a:pPr algn="l" indent="0" marL="0">
              <a:lnSpc>
                <a:spcPts val="1440"/>
              </a:lnSpc>
              <a:buNone/>
            </a:pPr>
            <a:r>
              <a:rPr lang="en-US" sz="900" dirty="0">
                <a:solidFill>
                  <a:srgbClr val="E0E0E0"/>
                </a:solidFill>
                <a:latin typeface="Carlito" pitchFamily="34" charset="0"/>
                <a:ea typeface="Carlito" pitchFamily="34" charset="-122"/>
                <a:cs typeface="Carlito" pitchFamily="34" charset="-120"/>
              </a:rPr>
              <a:t>Tested on Windows 10/11, Ubuntu/Debian, macOS</a:t>
            </a:r>
            <a:endParaRPr lang="en-US" sz="900" dirty="0"/>
          </a:p>
        </p:txBody>
      </p:sp>
      <p:sp>
        <p:nvSpPr>
          <p:cNvPr id="24" name="Text 22"/>
          <p:cNvSpPr/>
          <p:nvPr/>
        </p:nvSpPr>
        <p:spPr>
          <a:xfrm>
            <a:off x="457200" y="3387365"/>
            <a:ext cx="8229600" cy="175491"/>
          </a:xfrm>
          <a:prstGeom prst="rect">
            <a:avLst/>
          </a:prstGeom>
          <a:noFill/>
          <a:ln/>
        </p:spPr>
        <p:txBody>
          <a:bodyPr wrap="square" lIns="0" tIns="0" rIns="0" bIns="0" rtlCol="0" anchor="t"/>
          <a:lstStyle/>
          <a:p>
            <a:pPr algn="l" indent="0" marL="0">
              <a:lnSpc>
                <a:spcPts val="1260"/>
              </a:lnSpc>
              <a:buNone/>
            </a:pPr>
            <a:r>
              <a:rPr lang="en-US" sz="800" spc="17" kern="0" dirty="0">
                <a:solidFill>
                  <a:srgbClr val="888888"/>
                </a:solidFill>
                <a:latin typeface="Courier New" pitchFamily="34" charset="0"/>
                <a:ea typeface="Courier New" pitchFamily="34" charset="-122"/>
                <a:cs typeface="Courier New" pitchFamily="34" charset="-120"/>
              </a:rPr>
              <a:t>One codebase. Every platform. No compatibility hacks.</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45720" y="342900"/>
            <a:ext cx="8636000" cy="339471"/>
          </a:xfrm>
          <a:prstGeom prst="rect">
            <a:avLst/>
          </a:prstGeom>
          <a:noFill/>
          <a:ln/>
          <a:effectLst>
            <a:outerShdw sx="100000" sy="100000" kx="0" ky="0" algn="bl" rotWithShape="0" blurRad="190500" dist="50800" dir="16200000">
              <a:srgbClr val="00FF41">
                <a:alpha val="50000"/>
              </a:srgbClr>
            </a:outerShdw>
          </a:effectLst>
        </p:spPr>
        <p:txBody>
          <a:bodyPr wrap="square" lIns="0" tIns="0" rIns="0" bIns="0" rtlCol="0" anchor="t"/>
          <a:lstStyle/>
          <a:p>
            <a:pPr algn="ctr" indent="0" marL="0">
              <a:lnSpc>
                <a:spcPts val="2475"/>
              </a:lnSpc>
              <a:buNone/>
            </a:pPr>
            <a:r>
              <a:rPr lang="en-US" sz="2250" b="1" dirty="0">
                <a:solidFill>
                  <a:srgbClr val="00FF41"/>
                </a:solidFill>
                <a:latin typeface="Liberation Sans Narrow" pitchFamily="34" charset="0"/>
                <a:ea typeface="Liberation Sans Narrow" pitchFamily="34" charset="-122"/>
                <a:cs typeface="Liberation Sans Narrow" pitchFamily="34" charset="-120"/>
              </a:rPr>
              <a:t>START HUNTING IN 30 SECONDS.</a:t>
            </a:r>
            <a:endParaRPr lang="en-US" sz="2250" dirty="0"/>
          </a:p>
        </p:txBody>
      </p:sp>
      <p:sp>
        <p:nvSpPr>
          <p:cNvPr id="3" name="Text 1"/>
          <p:cNvSpPr/>
          <p:nvPr/>
        </p:nvSpPr>
        <p:spPr>
          <a:xfrm>
            <a:off x="460772" y="832247"/>
            <a:ext cx="8222456" cy="658564"/>
          </a:xfrm>
          <a:prstGeom prst="roundRect">
            <a:avLst>
              <a:gd name="adj" fmla="val 20249"/>
            </a:avLst>
          </a:prstGeom>
          <a:solidFill>
            <a:srgbClr val="111111"/>
          </a:solidFill>
          <a:ln w="7144">
            <a:solidFill>
              <a:srgbClr val="00FF41"/>
            </a:solidFill>
            <a:prstDash val="solid"/>
          </a:ln>
          <a:effectLst>
            <a:outerShdw sx="100000" sy="100000" kx="0" ky="0" algn="bl" rotWithShape="0" blurRad="381000" dist="50800" dir="16200000">
              <a:srgbClr val="00FF41">
                <a:alpha val="8000"/>
              </a:srgbClr>
            </a:outerShdw>
          </a:effectLst>
        </p:spPr>
        <p:txBody>
          <a:bodyPr wrap="square" rtlCol="0" anchor="ctr"/>
          <a:lstStyle/>
          <a:p>
            <a:pPr indent="0" marL="0">
              <a:buNone/>
            </a:pPr>
            <a:endParaRPr lang="en-US" dirty="0"/>
          </a:p>
        </p:txBody>
      </p:sp>
      <p:sp>
        <p:nvSpPr>
          <p:cNvPr id="4" name="Text 2"/>
          <p:cNvSpPr/>
          <p:nvPr/>
        </p:nvSpPr>
        <p:spPr>
          <a:xfrm>
            <a:off x="3000933" y="978694"/>
            <a:ext cx="3784792" cy="365671"/>
          </a:xfrm>
          <a:prstGeom prst="rect">
            <a:avLst/>
          </a:prstGeom>
          <a:noFill/>
          <a:ln/>
        </p:spPr>
        <p:txBody>
          <a:bodyPr wrap="none" lIns="0" tIns="0" rIns="0" bIns="0" rtlCol="0" anchor="t"/>
          <a:lstStyle/>
          <a:p>
            <a:pPr algn="l" indent="0" marL="0">
              <a:lnSpc>
                <a:spcPts val="2880"/>
              </a:lnSpc>
              <a:buNone/>
            </a:pPr>
            <a:r>
              <a:rPr lang="en-US" sz="1800" b="1" dirty="0">
                <a:solidFill>
                  <a:srgbClr val="00FF41"/>
                </a:solidFill>
                <a:latin typeface="Courier New" pitchFamily="34" charset="0"/>
                <a:ea typeface="Courier New" pitchFamily="34" charset="-122"/>
                <a:cs typeface="Courier New" pitchFamily="34" charset="-120"/>
              </a:rPr>
              <a:t>$ pip install reconpro</a:t>
            </a:r>
            <a:endParaRPr lang="en-US" sz="1800" dirty="0"/>
          </a:p>
        </p:txBody>
      </p:sp>
      <p:sp>
        <p:nvSpPr>
          <p:cNvPr id="5" name="Text 3"/>
          <p:cNvSpPr/>
          <p:nvPr/>
        </p:nvSpPr>
        <p:spPr>
          <a:xfrm>
            <a:off x="6057342" y="1061517"/>
            <a:ext cx="85725" cy="200025"/>
          </a:xfrm>
          <a:prstGeom prst="rect">
            <a:avLst/>
          </a:prstGeom>
          <a:solidFill>
            <a:srgbClr val="00FF41"/>
          </a:solidFill>
          <a:ln/>
        </p:spPr>
        <p:txBody>
          <a:bodyPr wrap="square" rtlCol="0" anchor="ctr"/>
          <a:lstStyle/>
          <a:p>
            <a:pPr indent="0" marL="0">
              <a:buNone/>
            </a:pPr>
            <a:endParaRPr lang="en-US" dirty="0"/>
          </a:p>
        </p:txBody>
      </p:sp>
      <p:sp>
        <p:nvSpPr>
          <p:cNvPr id="6" name="Text 4"/>
          <p:cNvSpPr/>
          <p:nvPr/>
        </p:nvSpPr>
        <p:spPr>
          <a:xfrm>
            <a:off x="457200" y="1805806"/>
            <a:ext cx="171450" cy="171450"/>
          </a:xfrm>
          <a:prstGeom prst="rect">
            <a:avLst/>
          </a:prstGeom>
          <a:noFill/>
          <a:ln/>
        </p:spPr>
        <p:txBody>
          <a:bodyPr wrap="none" lIns="0" tIns="0" rIns="0" bIns="0" rtlCol="0" anchor="ctr"/>
          <a:lstStyle/>
          <a:p>
            <a:pPr algn="ctr" indent="0" marL="0">
              <a:buNone/>
            </a:pPr>
            <a:r>
              <a:rPr lang="en-US" sz="1688" dirty="0">
                <a:solidFill>
                  <a:srgbClr val="00FF41"/>
                </a:solidFill>
                <a:latin typeface="Segoe UI Symbol" pitchFamily="34" charset="0"/>
                <a:ea typeface="Segoe UI Symbol" pitchFamily="34" charset="-122"/>
                <a:cs typeface="Segoe UI Symbol" pitchFamily="34" charset="-120"/>
              </a:rPr>
              <a:t>⌕</a:t>
            </a:r>
            <a:endParaRPr lang="en-US" sz="1688" dirty="0"/>
          </a:p>
        </p:txBody>
      </p:sp>
      <p:sp>
        <p:nvSpPr>
          <p:cNvPr id="7" name="Text 5"/>
          <p:cNvSpPr/>
          <p:nvPr/>
        </p:nvSpPr>
        <p:spPr>
          <a:xfrm>
            <a:off x="728663" y="1694408"/>
            <a:ext cx="2959385" cy="175491"/>
          </a:xfrm>
          <a:prstGeom prst="rect">
            <a:avLst/>
          </a:prstGeom>
          <a:noFill/>
          <a:ln/>
        </p:spPr>
        <p:txBody>
          <a:bodyPr wrap="none" lIns="0" tIns="0" rIns="0" bIns="0" rtlCol="0" anchor="t"/>
          <a:lstStyle/>
          <a:p>
            <a:pPr algn="l" indent="0" marL="0">
              <a:lnSpc>
                <a:spcPts val="1260"/>
              </a:lnSpc>
              <a:buNone/>
            </a:pPr>
            <a:r>
              <a:rPr lang="en-US" sz="800" spc="28" kern="0" dirty="0">
                <a:solidFill>
                  <a:srgbClr val="888888"/>
                </a:solidFill>
                <a:latin typeface="Carlito" pitchFamily="34" charset="0"/>
                <a:ea typeface="Carlito" pitchFamily="34" charset="-122"/>
                <a:cs typeface="Carlito" pitchFamily="34" charset="-120"/>
              </a:rPr>
              <a:t>SCAN A TARGET</a:t>
            </a:r>
            <a:endParaRPr lang="en-US" sz="800" dirty="0"/>
          </a:p>
        </p:txBody>
      </p:sp>
      <p:sp>
        <p:nvSpPr>
          <p:cNvPr id="8" name="Text 6"/>
          <p:cNvSpPr/>
          <p:nvPr/>
        </p:nvSpPr>
        <p:spPr>
          <a:xfrm>
            <a:off x="728663" y="1925799"/>
            <a:ext cx="2647657" cy="138875"/>
          </a:xfrm>
          <a:prstGeom prst="rect">
            <a:avLst/>
          </a:prstGeom>
          <a:noFill/>
          <a:ln/>
        </p:spPr>
        <p:txBody>
          <a:bodyPr wrap="square" lIns="0" tIns="0" rIns="0" bIns="0" rtlCol="0" anchor="t"/>
          <a:lstStyle/>
          <a:p>
            <a:pPr algn="l" indent="0" marL="0">
              <a:lnSpc>
                <a:spcPts val="1350"/>
              </a:lnSpc>
              <a:buNone/>
            </a:pPr>
            <a:r>
              <a:rPr lang="en-US" sz="844" dirty="0">
                <a:solidFill>
                  <a:srgbClr val="E0E0E0"/>
                </a:solidFill>
                <a:latin typeface="Courier New" pitchFamily="34" charset="0"/>
                <a:ea typeface="Courier New" pitchFamily="34" charset="-122"/>
                <a:cs typeface="Courier New" pitchFamily="34" charset="-120"/>
              </a:rPr>
              <a:t>reconpro scan --target your-domain.com</a:t>
            </a:r>
            <a:endParaRPr lang="en-US" sz="844" dirty="0"/>
          </a:p>
        </p:txBody>
      </p:sp>
      <p:sp>
        <p:nvSpPr>
          <p:cNvPr id="9" name="Text 7"/>
          <p:cNvSpPr/>
          <p:nvPr/>
        </p:nvSpPr>
        <p:spPr>
          <a:xfrm>
            <a:off x="4657725" y="1805806"/>
            <a:ext cx="171450" cy="171450"/>
          </a:xfrm>
          <a:prstGeom prst="rect">
            <a:avLst/>
          </a:prstGeom>
          <a:noFill/>
          <a:ln/>
        </p:spPr>
        <p:txBody>
          <a:bodyPr wrap="none" lIns="0" tIns="0" rIns="0" bIns="0" rtlCol="0" anchor="ctr"/>
          <a:lstStyle/>
          <a:p>
            <a:pPr algn="ctr" indent="0" marL="0">
              <a:buNone/>
            </a:pPr>
            <a:r>
              <a:rPr lang="en-US" sz="1688" dirty="0">
                <a:solidFill>
                  <a:srgbClr val="00FF41"/>
                </a:solidFill>
                <a:latin typeface="Segoe UI Symbol" pitchFamily="34" charset="0"/>
                <a:ea typeface="Segoe UI Symbol" pitchFamily="34" charset="-122"/>
                <a:cs typeface="Segoe UI Symbol" pitchFamily="34" charset="-120"/>
              </a:rPr>
              <a:t>✦</a:t>
            </a:r>
            <a:endParaRPr lang="en-US" sz="1688" dirty="0"/>
          </a:p>
        </p:txBody>
      </p:sp>
      <p:sp>
        <p:nvSpPr>
          <p:cNvPr id="10" name="Text 8"/>
          <p:cNvSpPr/>
          <p:nvPr/>
        </p:nvSpPr>
        <p:spPr>
          <a:xfrm>
            <a:off x="4929188" y="1694408"/>
            <a:ext cx="3115149" cy="175491"/>
          </a:xfrm>
          <a:prstGeom prst="rect">
            <a:avLst/>
          </a:prstGeom>
          <a:noFill/>
          <a:ln/>
        </p:spPr>
        <p:txBody>
          <a:bodyPr wrap="none" lIns="0" tIns="0" rIns="0" bIns="0" rtlCol="0" anchor="t"/>
          <a:lstStyle/>
          <a:p>
            <a:pPr algn="l" indent="0" marL="0">
              <a:lnSpc>
                <a:spcPts val="1260"/>
              </a:lnSpc>
              <a:buNone/>
            </a:pPr>
            <a:r>
              <a:rPr lang="en-US" sz="800" spc="28" kern="0" dirty="0">
                <a:solidFill>
                  <a:srgbClr val="888888"/>
                </a:solidFill>
                <a:latin typeface="Carlito" pitchFamily="34" charset="0"/>
                <a:ea typeface="Carlito" pitchFamily="34" charset="-122"/>
                <a:cs typeface="Carlito" pitchFamily="34" charset="-120"/>
              </a:rPr>
              <a:t>RUN GORGON ULTRA</a:t>
            </a:r>
            <a:endParaRPr lang="en-US" sz="800" dirty="0"/>
          </a:p>
        </p:txBody>
      </p:sp>
      <p:sp>
        <p:nvSpPr>
          <p:cNvPr id="11" name="Text 9"/>
          <p:cNvSpPr/>
          <p:nvPr/>
        </p:nvSpPr>
        <p:spPr>
          <a:xfrm>
            <a:off x="4929188" y="1925799"/>
            <a:ext cx="2787014" cy="138875"/>
          </a:xfrm>
          <a:prstGeom prst="rect">
            <a:avLst/>
          </a:prstGeom>
          <a:noFill/>
          <a:ln/>
        </p:spPr>
        <p:txBody>
          <a:bodyPr wrap="square" lIns="0" tIns="0" rIns="0" bIns="0" rtlCol="0" anchor="t"/>
          <a:lstStyle/>
          <a:p>
            <a:pPr algn="l" indent="0" marL="0">
              <a:lnSpc>
                <a:spcPts val="1350"/>
              </a:lnSpc>
              <a:buNone/>
            </a:pPr>
            <a:r>
              <a:rPr lang="en-US" sz="844" dirty="0">
                <a:solidFill>
                  <a:srgbClr val="E0E0E0"/>
                </a:solidFill>
                <a:latin typeface="Courier New" pitchFamily="34" charset="0"/>
                <a:ea typeface="Courier New" pitchFamily="34" charset="-122"/>
                <a:cs typeface="Courier New" pitchFamily="34" charset="-120"/>
              </a:rPr>
              <a:t>reconpro gorgon --target your-domain.com</a:t>
            </a:r>
            <a:endParaRPr lang="en-US" sz="844" dirty="0"/>
          </a:p>
        </p:txBody>
      </p:sp>
      <p:sp>
        <p:nvSpPr>
          <p:cNvPr id="12" name="Text 10"/>
          <p:cNvSpPr/>
          <p:nvPr/>
        </p:nvSpPr>
        <p:spPr>
          <a:xfrm>
            <a:off x="460772" y="3902720"/>
            <a:ext cx="2640732" cy="951458"/>
          </a:xfrm>
          <a:prstGeom prst="roundRect">
            <a:avLst>
              <a:gd name="adj" fmla="val 12013"/>
            </a:avLst>
          </a:prstGeom>
          <a:solidFill>
            <a:srgbClr val="111111"/>
          </a:solidFill>
          <a:ln w="7144">
            <a:solidFill>
              <a:srgbClr val="00FF41"/>
            </a:solidFill>
            <a:prstDash val="solid"/>
          </a:ln>
        </p:spPr>
        <p:txBody>
          <a:bodyPr wrap="square" rtlCol="0" anchor="ctr"/>
          <a:lstStyle/>
          <a:p>
            <a:pPr indent="0" marL="0">
              <a:buNone/>
            </a:pPr>
            <a:endParaRPr lang="en-US" dirty="0"/>
          </a:p>
        </p:txBody>
      </p:sp>
      <p:sp>
        <p:nvSpPr>
          <p:cNvPr id="13" name="Text 11"/>
          <p:cNvSpPr/>
          <p:nvPr/>
        </p:nvSpPr>
        <p:spPr>
          <a:xfrm>
            <a:off x="621506" y="4049167"/>
            <a:ext cx="200025" cy="200025"/>
          </a:xfrm>
          <a:prstGeom prst="rect">
            <a:avLst/>
          </a:prstGeom>
          <a:noFill/>
          <a:ln/>
        </p:spPr>
        <p:txBody>
          <a:bodyPr wrap="none" lIns="0" tIns="0" rIns="0" bIns="0" rtlCol="0" anchor="ctr"/>
          <a:lstStyle/>
          <a:p>
            <a:pPr algn="ctr" indent="0" marL="0">
              <a:buNone/>
            </a:pPr>
            <a:r>
              <a:rPr lang="en-US" sz="1969" dirty="0">
                <a:solidFill>
                  <a:srgbClr val="00FF41"/>
                </a:solidFill>
                <a:latin typeface="Segoe UI Symbol" pitchFamily="34" charset="0"/>
                <a:ea typeface="Segoe UI Symbol" pitchFamily="34" charset="-122"/>
                <a:cs typeface="Segoe UI Symbol" pitchFamily="34" charset="-120"/>
              </a:rPr>
              <a:t>$</a:t>
            </a:r>
            <a:endParaRPr lang="en-US" sz="1969" dirty="0"/>
          </a:p>
        </p:txBody>
      </p:sp>
      <p:sp>
        <p:nvSpPr>
          <p:cNvPr id="14" name="Text 12"/>
          <p:cNvSpPr/>
          <p:nvPr/>
        </p:nvSpPr>
        <p:spPr>
          <a:xfrm>
            <a:off x="621506" y="4320629"/>
            <a:ext cx="2319263" cy="209651"/>
          </a:xfrm>
          <a:prstGeom prst="rect">
            <a:avLst/>
          </a:prstGeom>
          <a:noFill/>
          <a:ln/>
        </p:spPr>
        <p:txBody>
          <a:bodyPr wrap="none" lIns="0" tIns="0" rIns="0" bIns="0" rtlCol="0" anchor="t"/>
          <a:lstStyle/>
          <a:p>
            <a:pPr algn="l" indent="0" marL="0">
              <a:lnSpc>
                <a:spcPts val="1530"/>
              </a:lnSpc>
              <a:buNone/>
            </a:pPr>
            <a:r>
              <a:rPr lang="en-US" sz="956" b="1" dirty="0">
                <a:solidFill>
                  <a:srgbClr val="FFFFFF"/>
                </a:solidFill>
                <a:latin typeface="Courier New" pitchFamily="34" charset="0"/>
                <a:ea typeface="Courier New" pitchFamily="34" charset="-122"/>
                <a:cs typeface="Courier New" pitchFamily="34" charset="-120"/>
              </a:rPr>
              <a:t>Free Forever</a:t>
            </a:r>
            <a:endParaRPr lang="en-US" sz="956" dirty="0"/>
          </a:p>
        </p:txBody>
      </p:sp>
      <p:sp>
        <p:nvSpPr>
          <p:cNvPr id="15" name="Text 13"/>
          <p:cNvSpPr/>
          <p:nvPr/>
        </p:nvSpPr>
        <p:spPr>
          <a:xfrm>
            <a:off x="621506" y="4557713"/>
            <a:ext cx="2428991" cy="150019"/>
          </a:xfrm>
          <a:prstGeom prst="rect">
            <a:avLst/>
          </a:prstGeom>
          <a:noFill/>
          <a:ln/>
        </p:spPr>
        <p:txBody>
          <a:bodyPr wrap="square" lIns="0" tIns="0" rIns="0" bIns="0" rtlCol="0" anchor="t"/>
          <a:lstStyle/>
          <a:p>
            <a:pPr algn="l" indent="0" marL="0">
              <a:lnSpc>
                <a:spcPts val="1181"/>
              </a:lnSpc>
              <a:buNone/>
            </a:pPr>
            <a:r>
              <a:rPr lang="en-US" sz="800" dirty="0">
                <a:solidFill>
                  <a:srgbClr val="888888"/>
                </a:solidFill>
                <a:latin typeface="Carlito" pitchFamily="34" charset="0"/>
                <a:ea typeface="Carlito" pitchFamily="34" charset="-122"/>
                <a:cs typeface="Carlito" pitchFamily="34" charset="-120"/>
              </a:rPr>
              <a:t>No SaaS, no subscription, MIT license</a:t>
            </a:r>
            <a:endParaRPr lang="en-US" sz="800" dirty="0"/>
          </a:p>
        </p:txBody>
      </p:sp>
      <p:sp>
        <p:nvSpPr>
          <p:cNvPr id="16" name="Text 14"/>
          <p:cNvSpPr/>
          <p:nvPr/>
        </p:nvSpPr>
        <p:spPr>
          <a:xfrm>
            <a:off x="3251522" y="3902720"/>
            <a:ext cx="2640843" cy="951458"/>
          </a:xfrm>
          <a:prstGeom prst="roundRect">
            <a:avLst>
              <a:gd name="adj" fmla="val 12013"/>
            </a:avLst>
          </a:prstGeom>
          <a:solidFill>
            <a:srgbClr val="111111"/>
          </a:solidFill>
          <a:ln w="7144">
            <a:solidFill>
              <a:srgbClr val="00FF41"/>
            </a:solidFill>
            <a:prstDash val="solid"/>
          </a:ln>
        </p:spPr>
        <p:txBody>
          <a:bodyPr wrap="square" rtlCol="0" anchor="ctr"/>
          <a:lstStyle/>
          <a:p>
            <a:pPr indent="0" marL="0">
              <a:buNone/>
            </a:pPr>
            <a:endParaRPr lang="en-US" dirty="0"/>
          </a:p>
        </p:txBody>
      </p:sp>
      <p:sp>
        <p:nvSpPr>
          <p:cNvPr id="17" name="Text 15"/>
          <p:cNvSpPr/>
          <p:nvPr/>
        </p:nvSpPr>
        <p:spPr>
          <a:xfrm>
            <a:off x="3412257" y="4049167"/>
            <a:ext cx="200025" cy="200025"/>
          </a:xfrm>
          <a:prstGeom prst="rect">
            <a:avLst/>
          </a:prstGeom>
          <a:noFill/>
          <a:ln/>
        </p:spPr>
        <p:txBody>
          <a:bodyPr wrap="none" lIns="0" tIns="0" rIns="0" bIns="0" rtlCol="0" anchor="ctr"/>
          <a:lstStyle/>
          <a:p>
            <a:pPr algn="ctr" indent="0" marL="0">
              <a:buNone/>
            </a:pPr>
            <a:r>
              <a:rPr lang="en-US" sz="1969" dirty="0">
                <a:solidFill>
                  <a:srgbClr val="00FF41"/>
                </a:solidFill>
                <a:latin typeface="Segoe UI Symbol" pitchFamily="34" charset="0"/>
                <a:ea typeface="Segoe UI Symbol" pitchFamily="34" charset="-122"/>
                <a:cs typeface="Segoe UI Symbol" pitchFamily="34" charset="-120"/>
              </a:rPr>
              <a:t>✦</a:t>
            </a:r>
            <a:endParaRPr lang="en-US" sz="1969" dirty="0"/>
          </a:p>
        </p:txBody>
      </p:sp>
      <p:sp>
        <p:nvSpPr>
          <p:cNvPr id="18" name="Text 16"/>
          <p:cNvSpPr/>
          <p:nvPr/>
        </p:nvSpPr>
        <p:spPr>
          <a:xfrm>
            <a:off x="3412257" y="4320629"/>
            <a:ext cx="2319375" cy="209651"/>
          </a:xfrm>
          <a:prstGeom prst="rect">
            <a:avLst/>
          </a:prstGeom>
          <a:noFill/>
          <a:ln/>
        </p:spPr>
        <p:txBody>
          <a:bodyPr wrap="none" lIns="0" tIns="0" rIns="0" bIns="0" rtlCol="0" anchor="t"/>
          <a:lstStyle/>
          <a:p>
            <a:pPr algn="l" indent="0" marL="0">
              <a:lnSpc>
                <a:spcPts val="1530"/>
              </a:lnSpc>
              <a:buNone/>
            </a:pPr>
            <a:r>
              <a:rPr lang="en-US" sz="956" b="1" dirty="0">
                <a:solidFill>
                  <a:srgbClr val="FFFFFF"/>
                </a:solidFill>
                <a:latin typeface="Courier New" pitchFamily="34" charset="0"/>
                <a:ea typeface="Courier New" pitchFamily="34" charset="-122"/>
                <a:cs typeface="Courier New" pitchFamily="34" charset="-120"/>
              </a:rPr>
              <a:t>Open Source</a:t>
            </a:r>
            <a:endParaRPr lang="en-US" sz="956" dirty="0"/>
          </a:p>
        </p:txBody>
      </p:sp>
      <p:sp>
        <p:nvSpPr>
          <p:cNvPr id="19" name="Text 17"/>
          <p:cNvSpPr/>
          <p:nvPr/>
        </p:nvSpPr>
        <p:spPr>
          <a:xfrm>
            <a:off x="3412257" y="4557713"/>
            <a:ext cx="2429103" cy="150019"/>
          </a:xfrm>
          <a:prstGeom prst="rect">
            <a:avLst/>
          </a:prstGeom>
          <a:noFill/>
          <a:ln/>
        </p:spPr>
        <p:txBody>
          <a:bodyPr wrap="square" lIns="0" tIns="0" rIns="0" bIns="0" rtlCol="0" anchor="t"/>
          <a:lstStyle/>
          <a:p>
            <a:pPr algn="l" indent="0" marL="0">
              <a:lnSpc>
                <a:spcPts val="1181"/>
              </a:lnSpc>
              <a:buNone/>
            </a:pPr>
            <a:r>
              <a:rPr lang="en-US" sz="800" dirty="0">
                <a:solidFill>
                  <a:srgbClr val="888888"/>
                </a:solidFill>
                <a:latin typeface="Carlito" pitchFamily="34" charset="0"/>
                <a:ea typeface="Carlito" pitchFamily="34" charset="-122"/>
                <a:cs typeface="Carlito" pitchFamily="34" charset="-120"/>
              </a:rPr>
              <a:t>Community driven, transparent code</a:t>
            </a:r>
            <a:endParaRPr lang="en-US" sz="800" dirty="0"/>
          </a:p>
        </p:txBody>
      </p:sp>
      <p:sp>
        <p:nvSpPr>
          <p:cNvPr id="20" name="Text 18"/>
          <p:cNvSpPr/>
          <p:nvPr/>
        </p:nvSpPr>
        <p:spPr>
          <a:xfrm>
            <a:off x="6042385" y="3902720"/>
            <a:ext cx="2640732" cy="951458"/>
          </a:xfrm>
          <a:prstGeom prst="roundRect">
            <a:avLst>
              <a:gd name="adj" fmla="val 12013"/>
            </a:avLst>
          </a:prstGeom>
          <a:solidFill>
            <a:srgbClr val="111111"/>
          </a:solidFill>
          <a:ln w="7144">
            <a:solidFill>
              <a:srgbClr val="00FF41"/>
            </a:solidFill>
            <a:prstDash val="solid"/>
          </a:ln>
        </p:spPr>
        <p:txBody>
          <a:bodyPr wrap="square" rtlCol="0" anchor="ctr"/>
          <a:lstStyle/>
          <a:p>
            <a:pPr indent="0" marL="0">
              <a:buNone/>
            </a:pPr>
            <a:endParaRPr lang="en-US" dirty="0"/>
          </a:p>
        </p:txBody>
      </p:sp>
      <p:sp>
        <p:nvSpPr>
          <p:cNvPr id="21" name="Text 19"/>
          <p:cNvSpPr/>
          <p:nvPr/>
        </p:nvSpPr>
        <p:spPr>
          <a:xfrm>
            <a:off x="6203119" y="4049167"/>
            <a:ext cx="200025" cy="200025"/>
          </a:xfrm>
          <a:prstGeom prst="rect">
            <a:avLst/>
          </a:prstGeom>
          <a:noFill/>
          <a:ln/>
        </p:spPr>
        <p:txBody>
          <a:bodyPr wrap="none" lIns="0" tIns="0" rIns="0" bIns="0" rtlCol="0" anchor="ctr"/>
          <a:lstStyle/>
          <a:p>
            <a:pPr algn="ctr" indent="0" marL="0">
              <a:buNone/>
            </a:pPr>
            <a:r>
              <a:rPr lang="en-US" sz="1969" dirty="0">
                <a:solidFill>
                  <a:srgbClr val="00FF41"/>
                </a:solidFill>
                <a:latin typeface="Segoe UI Symbol" pitchFamily="34" charset="0"/>
                <a:ea typeface="Segoe UI Symbol" pitchFamily="34" charset="-122"/>
                <a:cs typeface="Segoe UI Symbol" pitchFamily="34" charset="-120"/>
              </a:rPr>
              <a:t>⊘</a:t>
            </a:r>
            <a:endParaRPr lang="en-US" sz="1969" dirty="0"/>
          </a:p>
        </p:txBody>
      </p:sp>
      <p:sp>
        <p:nvSpPr>
          <p:cNvPr id="22" name="Text 20"/>
          <p:cNvSpPr/>
          <p:nvPr/>
        </p:nvSpPr>
        <p:spPr>
          <a:xfrm>
            <a:off x="6203119" y="4320629"/>
            <a:ext cx="2319263" cy="209651"/>
          </a:xfrm>
          <a:prstGeom prst="rect">
            <a:avLst/>
          </a:prstGeom>
          <a:noFill/>
          <a:ln/>
        </p:spPr>
        <p:txBody>
          <a:bodyPr wrap="none" lIns="0" tIns="0" rIns="0" bIns="0" rtlCol="0" anchor="t"/>
          <a:lstStyle/>
          <a:p>
            <a:pPr algn="l" indent="0" marL="0">
              <a:lnSpc>
                <a:spcPts val="1530"/>
              </a:lnSpc>
              <a:buNone/>
            </a:pPr>
            <a:r>
              <a:rPr lang="en-US" sz="956" b="1" dirty="0">
                <a:solidFill>
                  <a:srgbClr val="FFFFFF"/>
                </a:solidFill>
                <a:latin typeface="Courier New" pitchFamily="34" charset="0"/>
                <a:ea typeface="Courier New" pitchFamily="34" charset="-122"/>
                <a:cs typeface="Courier New" pitchFamily="34" charset="-120"/>
              </a:rPr>
              <a:t>Zero Dependencies</a:t>
            </a:r>
            <a:endParaRPr lang="en-US" sz="956" dirty="0"/>
          </a:p>
        </p:txBody>
      </p:sp>
      <p:sp>
        <p:nvSpPr>
          <p:cNvPr id="23" name="Text 21"/>
          <p:cNvSpPr/>
          <p:nvPr/>
        </p:nvSpPr>
        <p:spPr>
          <a:xfrm>
            <a:off x="6203119" y="4557713"/>
            <a:ext cx="2428991" cy="150019"/>
          </a:xfrm>
          <a:prstGeom prst="rect">
            <a:avLst/>
          </a:prstGeom>
          <a:noFill/>
          <a:ln/>
        </p:spPr>
        <p:txBody>
          <a:bodyPr wrap="square" lIns="0" tIns="0" rIns="0" bIns="0" rtlCol="0" anchor="t"/>
          <a:lstStyle/>
          <a:p>
            <a:pPr algn="l" indent="0" marL="0">
              <a:lnSpc>
                <a:spcPts val="1181"/>
              </a:lnSpc>
              <a:buNone/>
            </a:pPr>
            <a:r>
              <a:rPr lang="en-US" sz="800" dirty="0">
                <a:solidFill>
                  <a:srgbClr val="888888"/>
                </a:solidFill>
                <a:latin typeface="Carlito" pitchFamily="34" charset="0"/>
                <a:ea typeface="Carlito" pitchFamily="34" charset="-122"/>
                <a:cs typeface="Carlito" pitchFamily="34" charset="-120"/>
              </a:rPr>
              <a:t>Pure Python, no compiled libs</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0A0A"/>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21431"/>
          </a:xfrm>
          <a:prstGeom prst="rect">
            <a:avLst/>
          </a:prstGeom>
        </p:spPr>
      </p:pic>
      <p:pic>
        <p:nvPicPr>
          <p:cNvPr id="3" name="Image 1" descr="preencoded.png">    </p:cNvPr>
          <p:cNvPicPr>
            <a:picLocks noChangeAspect="1"/>
          </p:cNvPicPr>
          <p:nvPr/>
        </p:nvPicPr>
        <p:blipFill>
          <a:blip r:embed="rId2"/>
          <a:stretch>
            <a:fillRect/>
          </a:stretch>
        </p:blipFill>
        <p:spPr>
          <a:xfrm>
            <a:off x="0" y="2571750"/>
            <a:ext cx="9144000" cy="7144"/>
          </a:xfrm>
          <a:prstGeom prst="rect">
            <a:avLst/>
          </a:prstGeom>
        </p:spPr>
      </p:pic>
      <p:sp>
        <p:nvSpPr>
          <p:cNvPr id="4" name="Text 0"/>
          <p:cNvSpPr/>
          <p:nvPr/>
        </p:nvSpPr>
        <p:spPr>
          <a:xfrm>
            <a:off x="274320" y="1095226"/>
            <a:ext cx="8595360" cy="888700"/>
          </a:xfrm>
          <a:prstGeom prst="rect">
            <a:avLst/>
          </a:prstGeom>
          <a:noFill/>
          <a:ln/>
          <a:effectLst>
            <a:outerShdw sx="100000" sy="100000" kx="0" ky="0" algn="bl" rotWithShape="0" blurRad="212597" dist="50800" dir="16200000">
              <a:srgbClr val="00FF41">
                <a:alpha val="45000"/>
              </a:srgbClr>
            </a:outerShdw>
          </a:effectLst>
        </p:spPr>
        <p:txBody>
          <a:bodyPr wrap="none" lIns="0" tIns="0" rIns="0" bIns="0" rtlCol="0" anchor="t"/>
          <a:lstStyle/>
          <a:p>
            <a:pPr algn="ctr" indent="0" marL="0">
              <a:lnSpc>
                <a:spcPts val="6480"/>
              </a:lnSpc>
              <a:buNone/>
            </a:pPr>
            <a:r>
              <a:rPr lang="en-US" sz="4050" b="1" spc="225" kern="0" dirty="0">
                <a:solidFill>
                  <a:srgbClr val="00FF41"/>
                </a:solidFill>
                <a:latin typeface="Courier New" pitchFamily="34" charset="0"/>
                <a:ea typeface="Courier New" pitchFamily="34" charset="-122"/>
                <a:cs typeface="Courier New" pitchFamily="34" charset="-120"/>
              </a:rPr>
              <a:t>RECONPRO</a:t>
            </a:r>
            <a:endParaRPr lang="en-US" sz="4050" dirty="0"/>
          </a:p>
        </p:txBody>
      </p:sp>
      <p:sp>
        <p:nvSpPr>
          <p:cNvPr id="5" name="Text 1"/>
          <p:cNvSpPr/>
          <p:nvPr/>
        </p:nvSpPr>
        <p:spPr>
          <a:xfrm>
            <a:off x="2842101" y="2060972"/>
            <a:ext cx="3459687" cy="254603"/>
          </a:xfrm>
          <a:prstGeom prst="rect">
            <a:avLst/>
          </a:prstGeom>
          <a:noFill/>
          <a:ln/>
        </p:spPr>
        <p:txBody>
          <a:bodyPr wrap="square" lIns="0" tIns="0" rIns="0" bIns="0" rtlCol="0" anchor="t"/>
          <a:lstStyle/>
          <a:p>
            <a:pPr algn="ctr" indent="0" marL="0">
              <a:lnSpc>
                <a:spcPts val="1856"/>
              </a:lnSpc>
              <a:buNone/>
            </a:pPr>
            <a:r>
              <a:rPr lang="en-US" sz="1238" dirty="0">
                <a:solidFill>
                  <a:srgbClr val="E0E0E0"/>
                </a:solidFill>
                <a:latin typeface="Carlito" pitchFamily="34" charset="0"/>
                <a:ea typeface="Carlito" pitchFamily="34" charset="-122"/>
                <a:cs typeface="Carlito" pitchFamily="34" charset="-120"/>
              </a:rPr>
              <a:t>The future of recon is open. The future is now.</a:t>
            </a:r>
            <a:endParaRPr lang="en-US" sz="1238" dirty="0"/>
          </a:p>
        </p:txBody>
      </p:sp>
      <p:sp>
        <p:nvSpPr>
          <p:cNvPr id="6" name="Text 2"/>
          <p:cNvSpPr/>
          <p:nvPr/>
        </p:nvSpPr>
        <p:spPr>
          <a:xfrm>
            <a:off x="3198837" y="2586038"/>
            <a:ext cx="2746325" cy="567147"/>
          </a:xfrm>
          <a:prstGeom prst="roundRect">
            <a:avLst>
              <a:gd name="adj" fmla="val 20154"/>
            </a:avLst>
          </a:prstGeom>
          <a:solidFill>
            <a:srgbClr val="111111"/>
          </a:solidFill>
          <a:ln w="7144">
            <a:solidFill>
              <a:srgbClr val="00FF41"/>
            </a:solidFill>
            <a:prstDash val="solid"/>
          </a:ln>
        </p:spPr>
        <p:txBody>
          <a:bodyPr wrap="square" rtlCol="0" anchor="ctr"/>
          <a:lstStyle/>
          <a:p>
            <a:pPr indent="0" marL="0">
              <a:buNone/>
            </a:pPr>
            <a:endParaRPr lang="en-US" dirty="0"/>
          </a:p>
        </p:txBody>
      </p:sp>
      <p:sp>
        <p:nvSpPr>
          <p:cNvPr id="7" name="Text 3"/>
          <p:cNvSpPr/>
          <p:nvPr/>
        </p:nvSpPr>
        <p:spPr>
          <a:xfrm>
            <a:off x="3488159" y="2732484"/>
            <a:ext cx="2167682" cy="274253"/>
          </a:xfrm>
          <a:prstGeom prst="rect">
            <a:avLst/>
          </a:prstGeom>
          <a:noFill/>
          <a:ln/>
        </p:spPr>
        <p:txBody>
          <a:bodyPr wrap="none" lIns="0" tIns="0" rIns="0" bIns="0" rtlCol="0" anchor="t"/>
          <a:lstStyle/>
          <a:p>
            <a:pPr algn="ctr" indent="0" marL="0">
              <a:lnSpc>
                <a:spcPts val="2160"/>
              </a:lnSpc>
              <a:buNone/>
            </a:pPr>
            <a:r>
              <a:rPr lang="en-US" sz="1350" dirty="0">
                <a:solidFill>
                  <a:srgbClr val="00FF41"/>
                </a:solidFill>
                <a:latin typeface="Courier New" pitchFamily="34" charset="0"/>
                <a:ea typeface="Courier New" pitchFamily="34" charset="-122"/>
                <a:cs typeface="Courier New" pitchFamily="34" charset="-120"/>
              </a:rPr>
              <a:t>pip install reconpro</a:t>
            </a:r>
            <a:endParaRPr lang="en-US" sz="1350" dirty="0"/>
          </a:p>
        </p:txBody>
      </p:sp>
      <p:sp>
        <p:nvSpPr>
          <p:cNvPr id="8" name="Text 4"/>
          <p:cNvSpPr/>
          <p:nvPr/>
        </p:nvSpPr>
        <p:spPr>
          <a:xfrm>
            <a:off x="2071464" y="3449650"/>
            <a:ext cx="157163" cy="157163"/>
          </a:xfrm>
          <a:prstGeom prst="rect">
            <a:avLst/>
          </a:prstGeom>
          <a:noFill/>
          <a:ln/>
        </p:spPr>
        <p:txBody>
          <a:bodyPr wrap="none" lIns="0" tIns="0" rIns="0" bIns="0" rtlCol="0" anchor="ctr"/>
          <a:lstStyle/>
          <a:p>
            <a:pPr algn="ctr" indent="0" marL="0">
              <a:buNone/>
            </a:pPr>
            <a:r>
              <a:rPr lang="en-US" sz="1547" dirty="0">
                <a:solidFill>
                  <a:srgbClr val="00FF41"/>
                </a:solidFill>
                <a:latin typeface="Segoe UI Symbol" pitchFamily="34" charset="0"/>
                <a:ea typeface="Segoe UI Symbol" pitchFamily="34" charset="-122"/>
                <a:cs typeface="Segoe UI Symbol" pitchFamily="34" charset="-120"/>
              </a:rPr>
              <a:t>✦</a:t>
            </a:r>
            <a:endParaRPr lang="en-US" sz="1547" dirty="0"/>
          </a:p>
        </p:txBody>
      </p:sp>
      <p:sp>
        <p:nvSpPr>
          <p:cNvPr id="9" name="Text 5"/>
          <p:cNvSpPr/>
          <p:nvPr/>
        </p:nvSpPr>
        <p:spPr>
          <a:xfrm>
            <a:off x="2209745" y="3442506"/>
            <a:ext cx="2438622" cy="185166"/>
          </a:xfrm>
          <a:prstGeom prst="rect">
            <a:avLst/>
          </a:prstGeom>
          <a:noFill/>
          <a:ln/>
        </p:spPr>
        <p:txBody>
          <a:bodyPr wrap="square" lIns="0" tIns="0" rIns="0" bIns="0" rtlCol="0" anchor="t"/>
          <a:lstStyle/>
          <a:p>
            <a:pPr algn="ctr" indent="0" marL="0">
              <a:lnSpc>
                <a:spcPts val="1350"/>
              </a:lnSpc>
              <a:buNone/>
            </a:pPr>
            <a:r>
              <a:rPr lang="en-US" sz="844" dirty="0">
                <a:solidFill>
                  <a:srgbClr val="888888"/>
                </a:solidFill>
                <a:latin typeface="Courier New" pitchFamily="34" charset="0"/>
                <a:ea typeface="Courier New" pitchFamily="34" charset="-122"/>
                <a:cs typeface="Courier New" pitchFamily="34" charset="-120"/>
              </a:rPr>
              <a:t>GitHub: github.com/vibesec/reconpro</a:t>
            </a:r>
            <a:endParaRPr lang="en-US" sz="844" dirty="0"/>
          </a:p>
        </p:txBody>
      </p:sp>
      <p:sp>
        <p:nvSpPr>
          <p:cNvPr id="10" name="Text 6"/>
          <p:cNvSpPr/>
          <p:nvPr/>
        </p:nvSpPr>
        <p:spPr>
          <a:xfrm>
            <a:off x="4843797" y="3449650"/>
            <a:ext cx="157163" cy="157163"/>
          </a:xfrm>
          <a:prstGeom prst="rect">
            <a:avLst/>
          </a:prstGeom>
          <a:noFill/>
          <a:ln/>
        </p:spPr>
        <p:txBody>
          <a:bodyPr wrap="none" lIns="0" tIns="0" rIns="0" bIns="0" rtlCol="0" anchor="ctr"/>
          <a:lstStyle/>
          <a:p>
            <a:pPr algn="ctr" indent="0" marL="0">
              <a:buNone/>
            </a:pPr>
            <a:r>
              <a:rPr lang="en-US" sz="1547" dirty="0">
                <a:solidFill>
                  <a:srgbClr val="00FF41"/>
                </a:solidFill>
                <a:latin typeface="Segoe UI Symbol" pitchFamily="34" charset="0"/>
                <a:ea typeface="Segoe UI Symbol" pitchFamily="34" charset="-122"/>
                <a:cs typeface="Segoe UI Symbol" pitchFamily="34" charset="-120"/>
              </a:rPr>
              <a:t>↓</a:t>
            </a:r>
            <a:endParaRPr lang="en-US" sz="1547" dirty="0"/>
          </a:p>
        </p:txBody>
      </p:sp>
      <p:sp>
        <p:nvSpPr>
          <p:cNvPr id="11" name="Text 7"/>
          <p:cNvSpPr/>
          <p:nvPr/>
        </p:nvSpPr>
        <p:spPr>
          <a:xfrm>
            <a:off x="4992396" y="3442506"/>
            <a:ext cx="2160029" cy="185166"/>
          </a:xfrm>
          <a:prstGeom prst="rect">
            <a:avLst/>
          </a:prstGeom>
          <a:noFill/>
          <a:ln/>
        </p:spPr>
        <p:txBody>
          <a:bodyPr wrap="square" lIns="0" tIns="0" rIns="0" bIns="0" rtlCol="0" anchor="t"/>
          <a:lstStyle/>
          <a:p>
            <a:pPr algn="ctr" indent="0" marL="0">
              <a:lnSpc>
                <a:spcPts val="1350"/>
              </a:lnSpc>
              <a:buNone/>
            </a:pPr>
            <a:r>
              <a:rPr lang="en-US" sz="844" dirty="0">
                <a:solidFill>
                  <a:srgbClr val="888888"/>
                </a:solidFill>
                <a:latin typeface="Courier New" pitchFamily="34" charset="0"/>
                <a:ea typeface="Courier New" pitchFamily="34" charset="-122"/>
                <a:cs typeface="Courier New" pitchFamily="34" charset="-120"/>
              </a:rPr>
              <a:t>PyPI: pypi.org/project/reconpro</a:t>
            </a:r>
            <a:endParaRPr lang="en-US" sz="844" dirty="0"/>
          </a:p>
        </p:txBody>
      </p:sp>
      <p:sp>
        <p:nvSpPr>
          <p:cNvPr id="12" name="Text 8"/>
          <p:cNvSpPr/>
          <p:nvPr/>
        </p:nvSpPr>
        <p:spPr>
          <a:xfrm>
            <a:off x="2588175" y="3899706"/>
            <a:ext cx="3967538" cy="175538"/>
          </a:xfrm>
          <a:prstGeom prst="rect">
            <a:avLst/>
          </a:prstGeom>
          <a:noFill/>
          <a:ln/>
        </p:spPr>
        <p:txBody>
          <a:bodyPr wrap="square" lIns="0" tIns="0" rIns="0" bIns="0" rtlCol="0" anchor="t"/>
          <a:lstStyle/>
          <a:p>
            <a:pPr algn="ctr" indent="0" marL="0">
              <a:lnSpc>
                <a:spcPts val="1170"/>
              </a:lnSpc>
              <a:buNone/>
            </a:pPr>
            <a:r>
              <a:rPr lang="en-US" sz="800" spc="113" kern="0" dirty="0">
                <a:solidFill>
                  <a:srgbClr val="555555"/>
                </a:solidFill>
                <a:latin typeface="Courier New" pitchFamily="34" charset="0"/>
                <a:ea typeface="Courier New" pitchFamily="34" charset="-122"/>
                <a:cs typeface="Courier New" pitchFamily="34" charset="-120"/>
              </a:rPr>
              <a:t>BUILT BY DEFENDERS. FOR DEFENDERS. ALWAYS FREE.</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2026-08-05T04:10:40Z</dcterms:created>
  <dcterms:modified xsi:type="dcterms:W3CDTF">2026-08-05T04:10:40Z</dcterms:modified>
</cp:coreProperties>
</file>